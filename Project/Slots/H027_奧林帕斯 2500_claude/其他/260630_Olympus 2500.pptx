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821527B-F926-47A9-AAD3-A119EB56821A}">
  <a:tblStyle styleId="{9821527B-F926-47A9-AAD3-A119EB56821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f2cb5060d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3f2cb5060d2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2cb5060d2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3f2cb5060d2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f2cb5060d2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f2cb5060d2_0_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f2cb5060d2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g3f2cb5060d2_0_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f2cb5060d2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g3f2cb5060d2_0_1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f057b517e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g3f057b517e9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f0f770534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g3f0f7705345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f0f7705345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g3f0f7705345_1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f0f7705345_1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g3f0f7705345_1_2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f0f7705345_1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g3f0f7705345_1_2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f0f7705345_1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g3f0f7705345_1_2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f2bb0f2de7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g3f2bb0f2de7_0_10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3f0f7705345_1_3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7" name="Google Shape;607;g3f0f7705345_1_3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3f0f0a8a3fc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g3f0f0a8a3fc_2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D1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548640" y="1280160"/>
            <a:ext cx="80463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200">
                <a:solidFill>
                  <a:srgbClr val="00E5FF"/>
                </a:solidFill>
                <a:latin typeface="Calibri"/>
                <a:ea typeface="Calibri"/>
                <a:cs typeface="Calibri"/>
                <a:sym typeface="Calibri"/>
              </a:rPr>
              <a:t>⚡ Olympus 2500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548640" y="2377080"/>
            <a:ext cx="80463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遊戲提案規格說明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1508580" y="3200400"/>
            <a:ext cx="1920240" cy="457200"/>
          </a:xfrm>
          <a:prstGeom prst="roundRect">
            <a:avLst>
              <a:gd fmla="val 4000" name="adj"/>
            </a:avLst>
          </a:prstGeom>
          <a:solidFill>
            <a:srgbClr val="0B1F35"/>
          </a:solidFill>
          <a:ln cap="flat" cmpd="sng" w="1905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1508580" y="3200400"/>
            <a:ext cx="1920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6x5</a:t>
            </a:r>
            <a:r>
              <a:rPr b="1" i="0" lang="en-US" sz="14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 盤面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3611700" y="3200400"/>
            <a:ext cx="1920240" cy="457200"/>
          </a:xfrm>
          <a:prstGeom prst="roundRect">
            <a:avLst>
              <a:gd fmla="val 4000" name="adj"/>
            </a:avLst>
          </a:prstGeom>
          <a:solidFill>
            <a:srgbClr val="0B1F35"/>
          </a:solidFill>
          <a:ln cap="flat" cmpd="sng" w="1905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3611700" y="3200400"/>
            <a:ext cx="1920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Any 8</a:t>
            </a:r>
            <a:endParaRPr/>
          </a:p>
        </p:txBody>
      </p:sp>
      <p:sp>
        <p:nvSpPr>
          <p:cNvPr id="90" name="Google Shape;90;p13"/>
          <p:cNvSpPr/>
          <p:nvPr/>
        </p:nvSpPr>
        <p:spPr>
          <a:xfrm>
            <a:off x="5714820" y="3200400"/>
            <a:ext cx="1920240" cy="457200"/>
          </a:xfrm>
          <a:prstGeom prst="roundRect">
            <a:avLst>
              <a:gd fmla="val 4000" name="adj"/>
            </a:avLst>
          </a:prstGeom>
          <a:solidFill>
            <a:srgbClr val="0B1F35"/>
          </a:solidFill>
          <a:ln cap="flat" cmpd="sng" w="1905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5714820" y="3200400"/>
            <a:ext cx="192024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Multiplier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457200" y="4773240"/>
            <a:ext cx="8229240" cy="27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Jumbo Games  ｜  2026</a:t>
            </a:r>
            <a:endParaRPr/>
          </a:p>
        </p:txBody>
      </p:sp>
      <p:sp>
        <p:nvSpPr>
          <p:cNvPr id="93" name="Google Shape;93;p1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4EEF7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/>
          <p:nvPr/>
        </p:nvSpPr>
        <p:spPr>
          <a:xfrm>
            <a:off x="457200" y="304800"/>
            <a:ext cx="8229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設計方向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457200" y="883920"/>
            <a:ext cx="548640" cy="60960"/>
          </a:xfrm>
          <a:prstGeom prst="rect">
            <a:avLst/>
          </a:prstGeom>
          <a:solidFill>
            <a:srgbClr val="F4A93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1507772" y="1188720"/>
            <a:ext cx="1920300" cy="27432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CBD8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1507772" y="1388720"/>
            <a:ext cx="1920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🎮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507772" y="1968720"/>
            <a:ext cx="1920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6B7A8B"/>
                </a:solidFill>
                <a:latin typeface="Calibri"/>
                <a:ea typeface="Calibri"/>
                <a:cs typeface="Calibri"/>
                <a:sym typeface="Calibri"/>
              </a:rPr>
              <a:t>需求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1507772" y="2288720"/>
            <a:ext cx="1920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Gate of Olympus 1000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1507772" y="3034820"/>
            <a:ext cx="1920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6B7A8B"/>
                </a:solidFill>
                <a:latin typeface="Calibri"/>
                <a:ea typeface="Calibri"/>
                <a:cs typeface="Calibri"/>
                <a:sym typeface="Calibri"/>
              </a:rPr>
              <a:t>盡可能跟原做相同</a:t>
            </a:r>
            <a:endParaRPr/>
          </a:p>
        </p:txBody>
      </p:sp>
      <p:sp>
        <p:nvSpPr>
          <p:cNvPr id="105" name="Google Shape;105;p1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4EEF7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 txBox="1"/>
          <p:nvPr/>
        </p:nvSpPr>
        <p:spPr>
          <a:xfrm>
            <a:off x="457200" y="304800"/>
            <a:ext cx="8229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設計方向</a:t>
            </a:r>
            <a:endParaRPr/>
          </a:p>
        </p:txBody>
      </p:sp>
      <p:sp>
        <p:nvSpPr>
          <p:cNvPr id="111" name="Google Shape;111;p15"/>
          <p:cNvSpPr/>
          <p:nvPr/>
        </p:nvSpPr>
        <p:spPr>
          <a:xfrm>
            <a:off x="457200" y="883920"/>
            <a:ext cx="548700" cy="60900"/>
          </a:xfrm>
          <a:prstGeom prst="rect">
            <a:avLst/>
          </a:prstGeom>
          <a:solidFill>
            <a:srgbClr val="F4A933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1507772" y="1188720"/>
            <a:ext cx="1920300" cy="27432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CBD8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1507772" y="1388720"/>
            <a:ext cx="1920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🎮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1507772" y="1968720"/>
            <a:ext cx="1920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6B7A8B"/>
                </a:solidFill>
                <a:latin typeface="Calibri"/>
                <a:ea typeface="Calibri"/>
                <a:cs typeface="Calibri"/>
                <a:sym typeface="Calibri"/>
              </a:rPr>
              <a:t>需求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1507772" y="2288720"/>
            <a:ext cx="1920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Gate of Olympus 1000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1507772" y="3034820"/>
            <a:ext cx="1920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6B7A8B"/>
                </a:solidFill>
                <a:latin typeface="Calibri"/>
                <a:ea typeface="Calibri"/>
                <a:cs typeface="Calibri"/>
                <a:sym typeface="Calibri"/>
              </a:rPr>
              <a:t>盡可能跟原做相同</a:t>
            </a:r>
            <a:endParaRPr/>
          </a:p>
        </p:txBody>
      </p:sp>
      <p:sp>
        <p:nvSpPr>
          <p:cNvPr id="117" name="Google Shape;117;p15"/>
          <p:cNvSpPr/>
          <p:nvPr/>
        </p:nvSpPr>
        <p:spPr>
          <a:xfrm>
            <a:off x="3611853" y="1188720"/>
            <a:ext cx="1920300" cy="27432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CBD8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3611853" y="1388720"/>
            <a:ext cx="1920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3611853" y="1968720"/>
            <a:ext cx="1920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6B7A8B"/>
                </a:solidFill>
                <a:latin typeface="Calibri"/>
                <a:ea typeface="Calibri"/>
                <a:cs typeface="Calibri"/>
                <a:sym typeface="Calibri"/>
              </a:rPr>
              <a:t>方向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3611853" y="2288720"/>
            <a:ext cx="1920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埃及祕寶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3611853" y="3034820"/>
            <a:ext cx="1920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6B7A8B"/>
                </a:solidFill>
                <a:latin typeface="Calibri"/>
                <a:ea typeface="Calibri"/>
                <a:cs typeface="Calibri"/>
                <a:sym typeface="Calibri"/>
              </a:rPr>
              <a:t>新增 WW 難以復刻原版調性</a:t>
            </a:r>
            <a:endParaRPr/>
          </a:p>
        </p:txBody>
      </p:sp>
      <p:sp>
        <p:nvSpPr>
          <p:cNvPr id="122" name="Google Shape;122;p1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4EEF7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/>
          <p:nvPr/>
        </p:nvSpPr>
        <p:spPr>
          <a:xfrm>
            <a:off x="457200" y="304800"/>
            <a:ext cx="8229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設計方向</a:t>
            </a:r>
            <a:endParaRPr/>
          </a:p>
        </p:txBody>
      </p:sp>
      <p:sp>
        <p:nvSpPr>
          <p:cNvPr id="128" name="Google Shape;128;p16"/>
          <p:cNvSpPr/>
          <p:nvPr/>
        </p:nvSpPr>
        <p:spPr>
          <a:xfrm>
            <a:off x="457200" y="883920"/>
            <a:ext cx="548700" cy="60900"/>
          </a:xfrm>
          <a:prstGeom prst="rect">
            <a:avLst/>
          </a:prstGeom>
          <a:solidFill>
            <a:srgbClr val="F4A933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1507772" y="1188720"/>
            <a:ext cx="1920300" cy="27432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CBD8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 txBox="1"/>
          <p:nvPr/>
        </p:nvSpPr>
        <p:spPr>
          <a:xfrm>
            <a:off x="1507772" y="1388720"/>
            <a:ext cx="1920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🎮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1507772" y="1968720"/>
            <a:ext cx="1920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6B7A8B"/>
                </a:solidFill>
                <a:latin typeface="Calibri"/>
                <a:ea typeface="Calibri"/>
                <a:cs typeface="Calibri"/>
                <a:sym typeface="Calibri"/>
              </a:rPr>
              <a:t>需求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1507772" y="2288720"/>
            <a:ext cx="1920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Gate of Olympus 1000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1507772" y="3034820"/>
            <a:ext cx="1920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6B7A8B"/>
                </a:solidFill>
                <a:latin typeface="Calibri"/>
                <a:ea typeface="Calibri"/>
                <a:cs typeface="Calibri"/>
                <a:sym typeface="Calibri"/>
              </a:rPr>
              <a:t>盡可能跟原做相同</a:t>
            </a:r>
            <a:endParaRPr/>
          </a:p>
        </p:txBody>
      </p:sp>
      <p:sp>
        <p:nvSpPr>
          <p:cNvPr id="134" name="Google Shape;134;p16"/>
          <p:cNvSpPr/>
          <p:nvPr/>
        </p:nvSpPr>
        <p:spPr>
          <a:xfrm>
            <a:off x="3611853" y="1188720"/>
            <a:ext cx="1920300" cy="27432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CBD8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 txBox="1"/>
          <p:nvPr/>
        </p:nvSpPr>
        <p:spPr>
          <a:xfrm>
            <a:off x="3611853" y="1388720"/>
            <a:ext cx="1920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3611853" y="1968720"/>
            <a:ext cx="1920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6B7A8B"/>
                </a:solidFill>
                <a:latin typeface="Calibri"/>
                <a:ea typeface="Calibri"/>
                <a:cs typeface="Calibri"/>
                <a:sym typeface="Calibri"/>
              </a:rPr>
              <a:t>方向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3611853" y="2288720"/>
            <a:ext cx="1920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埃及祕寶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3611853" y="3034820"/>
            <a:ext cx="1920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6B7A8B"/>
                </a:solidFill>
                <a:latin typeface="Calibri"/>
                <a:ea typeface="Calibri"/>
                <a:cs typeface="Calibri"/>
                <a:sym typeface="Calibri"/>
              </a:rPr>
              <a:t>新增 WW 難以復刻原版調性</a:t>
            </a:r>
            <a:endParaRPr/>
          </a:p>
        </p:txBody>
      </p:sp>
      <p:sp>
        <p:nvSpPr>
          <p:cNvPr id="139" name="Google Shape;139;p16"/>
          <p:cNvSpPr/>
          <p:nvPr/>
        </p:nvSpPr>
        <p:spPr>
          <a:xfrm>
            <a:off x="5715938" y="1188720"/>
            <a:ext cx="1920300" cy="27432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 txBox="1"/>
          <p:nvPr/>
        </p:nvSpPr>
        <p:spPr>
          <a:xfrm>
            <a:off x="5715938" y="1388720"/>
            <a:ext cx="1920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💎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5715938" y="1968720"/>
            <a:ext cx="1920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6B7A8B"/>
                </a:solidFill>
                <a:latin typeface="Calibri"/>
                <a:ea typeface="Calibri"/>
                <a:cs typeface="Calibri"/>
                <a:sym typeface="Calibri"/>
              </a:rPr>
              <a:t>核心特色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5715938" y="2288720"/>
            <a:ext cx="1920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倍數</a:t>
            </a:r>
            <a:endParaRPr b="1" sz="1800">
              <a:solidFill>
                <a:srgbClr val="0D21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5715940" y="3034820"/>
            <a:ext cx="1920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6B7A8B"/>
                </a:solidFill>
                <a:latin typeface="Calibri"/>
                <a:ea typeface="Calibri"/>
                <a:cs typeface="Calibri"/>
                <a:sym typeface="Calibri"/>
              </a:rPr>
              <a:t>主流玩法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050D1A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7"/>
          <p:cNvSpPr txBox="1"/>
          <p:nvPr/>
        </p:nvSpPr>
        <p:spPr>
          <a:xfrm>
            <a:off x="457200" y="304800"/>
            <a:ext cx="8229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提案方向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457200" y="853440"/>
            <a:ext cx="8229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8BBCD4"/>
                </a:solidFill>
                <a:latin typeface="Calibri"/>
                <a:ea typeface="Calibri"/>
                <a:cs typeface="Calibri"/>
                <a:sym typeface="Calibri"/>
              </a:rPr>
              <a:t>New Game Rule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633149" y="1473875"/>
            <a:ext cx="2005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玩法改動</a:t>
            </a:r>
            <a:endParaRPr/>
          </a:p>
        </p:txBody>
      </p:sp>
      <p:sp>
        <p:nvSpPr>
          <p:cNvPr id="152" name="Google Shape;152;p17"/>
          <p:cNvSpPr/>
          <p:nvPr/>
        </p:nvSpPr>
        <p:spPr>
          <a:xfrm>
            <a:off x="633160" y="1923866"/>
            <a:ext cx="365700" cy="365700"/>
          </a:xfrm>
          <a:prstGeom prst="ellipse">
            <a:avLst/>
          </a:prstGeom>
          <a:solidFill>
            <a:srgbClr val="FFD1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 txBox="1"/>
          <p:nvPr/>
        </p:nvSpPr>
        <p:spPr>
          <a:xfrm>
            <a:off x="633160" y="1923866"/>
            <a:ext cx="365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50D1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1067400" y="1923875"/>
            <a:ext cx="1874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100">
                <a:solidFill>
                  <a:srgbClr val="BBCFE0"/>
                </a:solidFill>
                <a:latin typeface="Calibri"/>
                <a:ea typeface="Calibri"/>
                <a:cs typeface="Calibri"/>
                <a:sym typeface="Calibri"/>
              </a:rPr>
              <a:t>Base Game </a:t>
            </a:r>
            <a:r>
              <a:rPr lang="en-US" sz="1100">
                <a:solidFill>
                  <a:srgbClr val="BBCFE0"/>
                </a:solidFill>
                <a:latin typeface="Calibri"/>
                <a:ea typeface="Calibri"/>
                <a:cs typeface="Calibri"/>
                <a:sym typeface="Calibri"/>
              </a:rPr>
              <a:t>新增</a:t>
            </a:r>
            <a:r>
              <a:rPr lang="en-US" sz="1100">
                <a:solidFill>
                  <a:srgbClr val="BBCFE0"/>
                </a:solidFill>
                <a:latin typeface="Calibri"/>
                <a:ea typeface="Calibri"/>
                <a:cs typeface="Calibri"/>
                <a:sym typeface="Calibri"/>
              </a:rPr>
              <a:t>倍數 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3047250" y="464886"/>
            <a:ext cx="4400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輪帶倍率分布</a:t>
            </a:r>
            <a:endParaRPr/>
          </a:p>
        </p:txBody>
      </p:sp>
      <p:sp>
        <p:nvSpPr>
          <p:cNvPr id="156" name="Google Shape;156;p17"/>
          <p:cNvSpPr/>
          <p:nvPr/>
        </p:nvSpPr>
        <p:spPr>
          <a:xfrm>
            <a:off x="3151434" y="861384"/>
            <a:ext cx="537300" cy="523800"/>
          </a:xfrm>
          <a:prstGeom prst="rect">
            <a:avLst/>
          </a:prstGeom>
          <a:solidFill>
            <a:srgbClr val="204060"/>
          </a:solidFill>
          <a:ln>
            <a:noFill/>
          </a:ln>
          <a:effectLst>
            <a:outerShdw blurRad="47829" rotWithShape="0" dir="5400000" dist="27502">
              <a:srgbClr val="000000">
                <a:alpha val="34901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 txBox="1"/>
          <p:nvPr/>
        </p:nvSpPr>
        <p:spPr>
          <a:xfrm>
            <a:off x="3151434" y="959261"/>
            <a:ext cx="537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b="1" lang="en-US" sz="1554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674"/>
          </a:p>
        </p:txBody>
      </p:sp>
      <p:sp>
        <p:nvSpPr>
          <p:cNvPr id="158" name="Google Shape;158;p17"/>
          <p:cNvSpPr/>
          <p:nvPr/>
        </p:nvSpPr>
        <p:spPr>
          <a:xfrm>
            <a:off x="3731254" y="861384"/>
            <a:ext cx="537300" cy="523800"/>
          </a:xfrm>
          <a:prstGeom prst="rect">
            <a:avLst/>
          </a:prstGeom>
          <a:solidFill>
            <a:srgbClr val="204060"/>
          </a:solidFill>
          <a:ln>
            <a:noFill/>
          </a:ln>
          <a:effectLst>
            <a:outerShdw blurRad="47829" rotWithShape="0" dir="5400000" dist="27502">
              <a:srgbClr val="000000">
                <a:alpha val="34901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 txBox="1"/>
          <p:nvPr/>
        </p:nvSpPr>
        <p:spPr>
          <a:xfrm>
            <a:off x="3731254" y="959261"/>
            <a:ext cx="537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b="1" lang="en-US" sz="1554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674"/>
          </a:p>
        </p:txBody>
      </p:sp>
      <p:sp>
        <p:nvSpPr>
          <p:cNvPr id="160" name="Google Shape;160;p17"/>
          <p:cNvSpPr/>
          <p:nvPr/>
        </p:nvSpPr>
        <p:spPr>
          <a:xfrm>
            <a:off x="4311073" y="861384"/>
            <a:ext cx="537300" cy="523800"/>
          </a:xfrm>
          <a:prstGeom prst="rect">
            <a:avLst/>
          </a:prstGeom>
          <a:solidFill>
            <a:srgbClr val="204060"/>
          </a:solidFill>
          <a:ln>
            <a:noFill/>
          </a:ln>
          <a:effectLst>
            <a:outerShdw blurRad="47829" rotWithShape="0" dir="5400000" dist="27502">
              <a:srgbClr val="000000">
                <a:alpha val="34901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 txBox="1"/>
          <p:nvPr/>
        </p:nvSpPr>
        <p:spPr>
          <a:xfrm>
            <a:off x="4311073" y="959261"/>
            <a:ext cx="537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b="1" lang="en-US" sz="1554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674"/>
          </a:p>
        </p:txBody>
      </p:sp>
      <p:sp>
        <p:nvSpPr>
          <p:cNvPr id="162" name="Google Shape;162;p17"/>
          <p:cNvSpPr/>
          <p:nvPr/>
        </p:nvSpPr>
        <p:spPr>
          <a:xfrm>
            <a:off x="4890892" y="861384"/>
            <a:ext cx="537300" cy="523800"/>
          </a:xfrm>
          <a:prstGeom prst="rect">
            <a:avLst/>
          </a:prstGeom>
          <a:solidFill>
            <a:srgbClr val="204060"/>
          </a:solidFill>
          <a:ln>
            <a:noFill/>
          </a:ln>
          <a:effectLst>
            <a:outerShdw blurRad="47829" rotWithShape="0" dir="5400000" dist="27502">
              <a:srgbClr val="000000">
                <a:alpha val="34901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 txBox="1"/>
          <p:nvPr/>
        </p:nvSpPr>
        <p:spPr>
          <a:xfrm>
            <a:off x="4890892" y="959261"/>
            <a:ext cx="537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b="1" lang="en-US" sz="1554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674"/>
          </a:p>
        </p:txBody>
      </p:sp>
      <p:sp>
        <p:nvSpPr>
          <p:cNvPr id="164" name="Google Shape;164;p17"/>
          <p:cNvSpPr/>
          <p:nvPr/>
        </p:nvSpPr>
        <p:spPr>
          <a:xfrm>
            <a:off x="5470711" y="861394"/>
            <a:ext cx="537300" cy="523800"/>
          </a:xfrm>
          <a:prstGeom prst="rect">
            <a:avLst/>
          </a:prstGeom>
          <a:solidFill>
            <a:srgbClr val="204060"/>
          </a:solidFill>
          <a:ln>
            <a:noFill/>
          </a:ln>
          <a:effectLst>
            <a:outerShdw blurRad="47829" rotWithShape="0" dir="5400000" dist="27502">
              <a:srgbClr val="000000">
                <a:alpha val="34901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7"/>
          <p:cNvSpPr txBox="1"/>
          <p:nvPr/>
        </p:nvSpPr>
        <p:spPr>
          <a:xfrm>
            <a:off x="5470711" y="959270"/>
            <a:ext cx="537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b="1" lang="en-US" sz="1554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674"/>
          </a:p>
        </p:txBody>
      </p:sp>
      <p:sp>
        <p:nvSpPr>
          <p:cNvPr id="166" name="Google Shape;166;p17"/>
          <p:cNvSpPr/>
          <p:nvPr/>
        </p:nvSpPr>
        <p:spPr>
          <a:xfrm>
            <a:off x="6050530" y="861394"/>
            <a:ext cx="537300" cy="523800"/>
          </a:xfrm>
          <a:prstGeom prst="rect">
            <a:avLst/>
          </a:prstGeom>
          <a:solidFill>
            <a:srgbClr val="204060"/>
          </a:solidFill>
          <a:ln>
            <a:noFill/>
          </a:ln>
          <a:effectLst>
            <a:outerShdw blurRad="47829" rotWithShape="0" dir="5400000" dist="27502">
              <a:srgbClr val="000000">
                <a:alpha val="34901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7"/>
          <p:cNvSpPr txBox="1"/>
          <p:nvPr/>
        </p:nvSpPr>
        <p:spPr>
          <a:xfrm>
            <a:off x="6050530" y="959270"/>
            <a:ext cx="537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×1</a:t>
            </a:r>
            <a:r>
              <a:rPr b="1" lang="en-US" sz="1554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674"/>
          </a:p>
        </p:txBody>
      </p:sp>
      <p:sp>
        <p:nvSpPr>
          <p:cNvPr id="168" name="Google Shape;168;p17"/>
          <p:cNvSpPr/>
          <p:nvPr/>
        </p:nvSpPr>
        <p:spPr>
          <a:xfrm>
            <a:off x="6630350" y="861394"/>
            <a:ext cx="537300" cy="523800"/>
          </a:xfrm>
          <a:prstGeom prst="rect">
            <a:avLst/>
          </a:prstGeom>
          <a:solidFill>
            <a:srgbClr val="204060"/>
          </a:solidFill>
          <a:ln>
            <a:noFill/>
          </a:ln>
          <a:effectLst>
            <a:outerShdw blurRad="47829" rotWithShape="0" dir="5400000" dist="27502">
              <a:srgbClr val="000000">
                <a:alpha val="34901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7"/>
          <p:cNvSpPr txBox="1"/>
          <p:nvPr/>
        </p:nvSpPr>
        <p:spPr>
          <a:xfrm>
            <a:off x="6630350" y="959270"/>
            <a:ext cx="537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b="1" lang="en-US" sz="1554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1674"/>
          </a:p>
        </p:txBody>
      </p:sp>
      <p:sp>
        <p:nvSpPr>
          <p:cNvPr id="170" name="Google Shape;170;p17"/>
          <p:cNvSpPr/>
          <p:nvPr/>
        </p:nvSpPr>
        <p:spPr>
          <a:xfrm>
            <a:off x="3151453" y="1467980"/>
            <a:ext cx="537300" cy="523800"/>
          </a:xfrm>
          <a:prstGeom prst="rect">
            <a:avLst/>
          </a:prstGeom>
          <a:solidFill>
            <a:srgbClr val="204060"/>
          </a:solidFill>
          <a:ln>
            <a:noFill/>
          </a:ln>
          <a:effectLst>
            <a:outerShdw blurRad="47829" rotWithShape="0" dir="5400000" dist="27502">
              <a:srgbClr val="000000">
                <a:alpha val="34901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 txBox="1"/>
          <p:nvPr/>
        </p:nvSpPr>
        <p:spPr>
          <a:xfrm>
            <a:off x="3151453" y="1565856"/>
            <a:ext cx="537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b="1" lang="en-US" sz="1554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1674"/>
          </a:p>
        </p:txBody>
      </p:sp>
      <p:sp>
        <p:nvSpPr>
          <p:cNvPr id="172" name="Google Shape;172;p17"/>
          <p:cNvSpPr/>
          <p:nvPr/>
        </p:nvSpPr>
        <p:spPr>
          <a:xfrm>
            <a:off x="3731272" y="1467980"/>
            <a:ext cx="537300" cy="523800"/>
          </a:xfrm>
          <a:prstGeom prst="rect">
            <a:avLst/>
          </a:prstGeom>
          <a:solidFill>
            <a:srgbClr val="204060"/>
          </a:solidFill>
          <a:ln>
            <a:noFill/>
          </a:ln>
          <a:effectLst>
            <a:outerShdw blurRad="47829" rotWithShape="0" dir="5400000" dist="27502">
              <a:srgbClr val="000000">
                <a:alpha val="34901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 txBox="1"/>
          <p:nvPr/>
        </p:nvSpPr>
        <p:spPr>
          <a:xfrm>
            <a:off x="3731272" y="1565856"/>
            <a:ext cx="537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b="1" lang="en-US" sz="1554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74"/>
          </a:p>
        </p:txBody>
      </p:sp>
      <p:sp>
        <p:nvSpPr>
          <p:cNvPr id="174" name="Google Shape;174;p17"/>
          <p:cNvSpPr/>
          <p:nvPr/>
        </p:nvSpPr>
        <p:spPr>
          <a:xfrm>
            <a:off x="5470730" y="1473877"/>
            <a:ext cx="537300" cy="523800"/>
          </a:xfrm>
          <a:prstGeom prst="rect">
            <a:avLst/>
          </a:prstGeom>
          <a:solidFill>
            <a:srgbClr val="6B2121"/>
          </a:solidFill>
          <a:ln>
            <a:noFill/>
          </a:ln>
          <a:effectLst>
            <a:outerShdw blurRad="47829" rotWithShape="0" dir="5400000" dist="27502">
              <a:srgbClr val="000000">
                <a:alpha val="34901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"/>
          <p:cNvSpPr txBox="1"/>
          <p:nvPr/>
        </p:nvSpPr>
        <p:spPr>
          <a:xfrm>
            <a:off x="5428210" y="1571753"/>
            <a:ext cx="6225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×100</a:t>
            </a:r>
            <a:endParaRPr sz="1674"/>
          </a:p>
        </p:txBody>
      </p:sp>
      <p:sp>
        <p:nvSpPr>
          <p:cNvPr id="176" name="Google Shape;176;p17"/>
          <p:cNvSpPr/>
          <p:nvPr/>
        </p:nvSpPr>
        <p:spPr>
          <a:xfrm>
            <a:off x="6050550" y="1473877"/>
            <a:ext cx="537300" cy="523800"/>
          </a:xfrm>
          <a:prstGeom prst="rect">
            <a:avLst/>
          </a:prstGeom>
          <a:solidFill>
            <a:srgbClr val="6B2121"/>
          </a:solidFill>
          <a:ln>
            <a:noFill/>
          </a:ln>
          <a:effectLst>
            <a:outerShdw blurRad="47829" rotWithShape="0" dir="5400000" dist="27502">
              <a:srgbClr val="000000">
                <a:alpha val="34901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7"/>
          <p:cNvSpPr txBox="1"/>
          <p:nvPr/>
        </p:nvSpPr>
        <p:spPr>
          <a:xfrm>
            <a:off x="5940758" y="1571753"/>
            <a:ext cx="7569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×500</a:t>
            </a:r>
            <a:endParaRPr sz="1674"/>
          </a:p>
        </p:txBody>
      </p:sp>
      <p:sp>
        <p:nvSpPr>
          <p:cNvPr id="178" name="Google Shape;178;p1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9" name="Google Shape;179;p17"/>
          <p:cNvSpPr/>
          <p:nvPr/>
        </p:nvSpPr>
        <p:spPr>
          <a:xfrm>
            <a:off x="4311073" y="1473884"/>
            <a:ext cx="537300" cy="523800"/>
          </a:xfrm>
          <a:prstGeom prst="rect">
            <a:avLst/>
          </a:prstGeom>
          <a:solidFill>
            <a:srgbClr val="204060"/>
          </a:solidFill>
          <a:ln>
            <a:noFill/>
          </a:ln>
          <a:effectLst>
            <a:outerShdw blurRad="47829" rotWithShape="0" dir="5400000" dist="27502">
              <a:srgbClr val="000000">
                <a:alpha val="34900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7"/>
          <p:cNvSpPr txBox="1"/>
          <p:nvPr/>
        </p:nvSpPr>
        <p:spPr>
          <a:xfrm>
            <a:off x="4311073" y="1571761"/>
            <a:ext cx="537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b="1" lang="en-US" sz="1554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sz="1674"/>
          </a:p>
        </p:txBody>
      </p:sp>
      <p:sp>
        <p:nvSpPr>
          <p:cNvPr id="181" name="Google Shape;181;p17"/>
          <p:cNvSpPr/>
          <p:nvPr/>
        </p:nvSpPr>
        <p:spPr>
          <a:xfrm>
            <a:off x="4890892" y="1473884"/>
            <a:ext cx="537300" cy="523800"/>
          </a:xfrm>
          <a:prstGeom prst="rect">
            <a:avLst/>
          </a:prstGeom>
          <a:solidFill>
            <a:srgbClr val="204060"/>
          </a:solidFill>
          <a:ln>
            <a:noFill/>
          </a:ln>
          <a:effectLst>
            <a:outerShdw blurRad="47829" rotWithShape="0" dir="5400000" dist="27502">
              <a:srgbClr val="000000">
                <a:alpha val="34900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7"/>
          <p:cNvSpPr txBox="1"/>
          <p:nvPr/>
        </p:nvSpPr>
        <p:spPr>
          <a:xfrm>
            <a:off x="4890892" y="1571761"/>
            <a:ext cx="537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b="1" lang="en-US" sz="1554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1" lang="en-US" sz="1554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674"/>
          </a:p>
        </p:txBody>
      </p:sp>
      <p:sp>
        <p:nvSpPr>
          <p:cNvPr id="183" name="Google Shape;183;p17"/>
          <p:cNvSpPr/>
          <p:nvPr/>
        </p:nvSpPr>
        <p:spPr>
          <a:xfrm>
            <a:off x="6630350" y="1473877"/>
            <a:ext cx="537300" cy="523800"/>
          </a:xfrm>
          <a:prstGeom prst="rect">
            <a:avLst/>
          </a:prstGeom>
          <a:solidFill>
            <a:srgbClr val="6B2121"/>
          </a:solidFill>
          <a:ln>
            <a:noFill/>
          </a:ln>
          <a:effectLst>
            <a:outerShdw blurRad="47829" rotWithShape="0" dir="5400000" dist="27502">
              <a:srgbClr val="000000">
                <a:alpha val="34900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7"/>
          <p:cNvSpPr txBox="1"/>
          <p:nvPr/>
        </p:nvSpPr>
        <p:spPr>
          <a:xfrm>
            <a:off x="6520558" y="1571753"/>
            <a:ext cx="7569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b="1" lang="en-US" sz="1554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 sz="1674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050D1A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8"/>
          <p:cNvSpPr txBox="1"/>
          <p:nvPr/>
        </p:nvSpPr>
        <p:spPr>
          <a:xfrm>
            <a:off x="457200" y="304800"/>
            <a:ext cx="8229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提案方向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457200" y="853440"/>
            <a:ext cx="8229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8BBCD4"/>
                </a:solidFill>
                <a:latin typeface="Calibri"/>
                <a:ea typeface="Calibri"/>
                <a:cs typeface="Calibri"/>
                <a:sym typeface="Calibri"/>
              </a:rPr>
              <a:t>New Game Rule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633149" y="1473875"/>
            <a:ext cx="2005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玩法改動</a:t>
            </a:r>
            <a:endParaRPr/>
          </a:p>
        </p:txBody>
      </p:sp>
      <p:sp>
        <p:nvSpPr>
          <p:cNvPr id="192" name="Google Shape;192;p18"/>
          <p:cNvSpPr/>
          <p:nvPr/>
        </p:nvSpPr>
        <p:spPr>
          <a:xfrm>
            <a:off x="633160" y="1923866"/>
            <a:ext cx="365700" cy="365700"/>
          </a:xfrm>
          <a:prstGeom prst="ellipse">
            <a:avLst/>
          </a:prstGeom>
          <a:solidFill>
            <a:srgbClr val="FFD1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8"/>
          <p:cNvSpPr txBox="1"/>
          <p:nvPr/>
        </p:nvSpPr>
        <p:spPr>
          <a:xfrm>
            <a:off x="633160" y="1923866"/>
            <a:ext cx="365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50D1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1067400" y="1923875"/>
            <a:ext cx="1874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100">
                <a:solidFill>
                  <a:srgbClr val="BBCFE0"/>
                </a:solidFill>
                <a:latin typeface="Calibri"/>
                <a:ea typeface="Calibri"/>
                <a:cs typeface="Calibri"/>
                <a:sym typeface="Calibri"/>
              </a:rPr>
              <a:t>Base Game 新增倍數 </a:t>
            </a:r>
            <a:endParaRPr/>
          </a:p>
        </p:txBody>
      </p:sp>
      <p:sp>
        <p:nvSpPr>
          <p:cNvPr id="195" name="Google Shape;195;p18"/>
          <p:cNvSpPr/>
          <p:nvPr/>
        </p:nvSpPr>
        <p:spPr>
          <a:xfrm>
            <a:off x="633160" y="2623866"/>
            <a:ext cx="365700" cy="365700"/>
          </a:xfrm>
          <a:prstGeom prst="ellipse">
            <a:avLst/>
          </a:prstGeom>
          <a:solidFill>
            <a:srgbClr val="FFD1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8"/>
          <p:cNvSpPr txBox="1"/>
          <p:nvPr/>
        </p:nvSpPr>
        <p:spPr>
          <a:xfrm>
            <a:off x="633160" y="2623866"/>
            <a:ext cx="365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50D1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97" name="Google Shape;197;p18"/>
          <p:cNvSpPr txBox="1"/>
          <p:nvPr/>
        </p:nvSpPr>
        <p:spPr>
          <a:xfrm>
            <a:off x="1067400" y="2623875"/>
            <a:ext cx="1874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BBCFE0"/>
                </a:solidFill>
                <a:latin typeface="Calibri"/>
                <a:ea typeface="Calibri"/>
                <a:cs typeface="Calibri"/>
                <a:sym typeface="Calibri"/>
              </a:rPr>
              <a:t>Scatter 打擊 OP Jackpot</a:t>
            </a:r>
            <a:endParaRPr/>
          </a:p>
        </p:txBody>
      </p:sp>
      <p:sp>
        <p:nvSpPr>
          <p:cNvPr id="198" name="Google Shape;198;p18"/>
          <p:cNvSpPr txBox="1"/>
          <p:nvPr/>
        </p:nvSpPr>
        <p:spPr>
          <a:xfrm>
            <a:off x="3047250" y="464886"/>
            <a:ext cx="4400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輪帶倍率分布</a:t>
            </a:r>
            <a:endParaRPr/>
          </a:p>
        </p:txBody>
      </p:sp>
      <p:sp>
        <p:nvSpPr>
          <p:cNvPr id="199" name="Google Shape;199;p18"/>
          <p:cNvSpPr/>
          <p:nvPr/>
        </p:nvSpPr>
        <p:spPr>
          <a:xfrm>
            <a:off x="3151434" y="861384"/>
            <a:ext cx="537300" cy="523800"/>
          </a:xfrm>
          <a:prstGeom prst="rect">
            <a:avLst/>
          </a:prstGeom>
          <a:solidFill>
            <a:srgbClr val="204060"/>
          </a:solidFill>
          <a:ln>
            <a:noFill/>
          </a:ln>
          <a:effectLst>
            <a:outerShdw blurRad="47829" rotWithShape="0" dir="5400000" dist="27502">
              <a:srgbClr val="000000">
                <a:alpha val="34900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8"/>
          <p:cNvSpPr txBox="1"/>
          <p:nvPr/>
        </p:nvSpPr>
        <p:spPr>
          <a:xfrm>
            <a:off x="3151434" y="959261"/>
            <a:ext cx="537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b="1" lang="en-US" sz="1554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674"/>
          </a:p>
        </p:txBody>
      </p:sp>
      <p:sp>
        <p:nvSpPr>
          <p:cNvPr id="201" name="Google Shape;201;p18"/>
          <p:cNvSpPr/>
          <p:nvPr/>
        </p:nvSpPr>
        <p:spPr>
          <a:xfrm>
            <a:off x="3731254" y="861384"/>
            <a:ext cx="537300" cy="523800"/>
          </a:xfrm>
          <a:prstGeom prst="rect">
            <a:avLst/>
          </a:prstGeom>
          <a:solidFill>
            <a:srgbClr val="204060"/>
          </a:solidFill>
          <a:ln>
            <a:noFill/>
          </a:ln>
          <a:effectLst>
            <a:outerShdw blurRad="47829" rotWithShape="0" dir="5400000" dist="27502">
              <a:srgbClr val="000000">
                <a:alpha val="34900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8"/>
          <p:cNvSpPr txBox="1"/>
          <p:nvPr/>
        </p:nvSpPr>
        <p:spPr>
          <a:xfrm>
            <a:off x="3731254" y="959261"/>
            <a:ext cx="537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b="1" lang="en-US" sz="1554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674"/>
          </a:p>
        </p:txBody>
      </p:sp>
      <p:sp>
        <p:nvSpPr>
          <p:cNvPr id="203" name="Google Shape;203;p18"/>
          <p:cNvSpPr/>
          <p:nvPr/>
        </p:nvSpPr>
        <p:spPr>
          <a:xfrm>
            <a:off x="4311073" y="861384"/>
            <a:ext cx="537300" cy="523800"/>
          </a:xfrm>
          <a:prstGeom prst="rect">
            <a:avLst/>
          </a:prstGeom>
          <a:solidFill>
            <a:srgbClr val="204060"/>
          </a:solidFill>
          <a:ln>
            <a:noFill/>
          </a:ln>
          <a:effectLst>
            <a:outerShdw blurRad="47829" rotWithShape="0" dir="5400000" dist="27502">
              <a:srgbClr val="000000">
                <a:alpha val="34900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8"/>
          <p:cNvSpPr txBox="1"/>
          <p:nvPr/>
        </p:nvSpPr>
        <p:spPr>
          <a:xfrm>
            <a:off x="4311073" y="959261"/>
            <a:ext cx="537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b="1" lang="en-US" sz="1554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674"/>
          </a:p>
        </p:txBody>
      </p:sp>
      <p:sp>
        <p:nvSpPr>
          <p:cNvPr id="205" name="Google Shape;205;p18"/>
          <p:cNvSpPr/>
          <p:nvPr/>
        </p:nvSpPr>
        <p:spPr>
          <a:xfrm>
            <a:off x="4890892" y="861384"/>
            <a:ext cx="537300" cy="523800"/>
          </a:xfrm>
          <a:prstGeom prst="rect">
            <a:avLst/>
          </a:prstGeom>
          <a:solidFill>
            <a:srgbClr val="204060"/>
          </a:solidFill>
          <a:ln>
            <a:noFill/>
          </a:ln>
          <a:effectLst>
            <a:outerShdw blurRad="47829" rotWithShape="0" dir="5400000" dist="27502">
              <a:srgbClr val="000000">
                <a:alpha val="34900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8"/>
          <p:cNvSpPr txBox="1"/>
          <p:nvPr/>
        </p:nvSpPr>
        <p:spPr>
          <a:xfrm>
            <a:off x="4890892" y="959261"/>
            <a:ext cx="537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b="1" lang="en-US" sz="1554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674"/>
          </a:p>
        </p:txBody>
      </p:sp>
      <p:sp>
        <p:nvSpPr>
          <p:cNvPr id="207" name="Google Shape;207;p18"/>
          <p:cNvSpPr/>
          <p:nvPr/>
        </p:nvSpPr>
        <p:spPr>
          <a:xfrm>
            <a:off x="5470711" y="861394"/>
            <a:ext cx="537300" cy="523800"/>
          </a:xfrm>
          <a:prstGeom prst="rect">
            <a:avLst/>
          </a:prstGeom>
          <a:solidFill>
            <a:srgbClr val="204060"/>
          </a:solidFill>
          <a:ln>
            <a:noFill/>
          </a:ln>
          <a:effectLst>
            <a:outerShdw blurRad="47829" rotWithShape="0" dir="5400000" dist="27502">
              <a:srgbClr val="000000">
                <a:alpha val="34900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8"/>
          <p:cNvSpPr txBox="1"/>
          <p:nvPr/>
        </p:nvSpPr>
        <p:spPr>
          <a:xfrm>
            <a:off x="5470711" y="959270"/>
            <a:ext cx="537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b="1" lang="en-US" sz="1554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674"/>
          </a:p>
        </p:txBody>
      </p:sp>
      <p:sp>
        <p:nvSpPr>
          <p:cNvPr id="209" name="Google Shape;209;p18"/>
          <p:cNvSpPr/>
          <p:nvPr/>
        </p:nvSpPr>
        <p:spPr>
          <a:xfrm>
            <a:off x="6050530" y="861394"/>
            <a:ext cx="537300" cy="523800"/>
          </a:xfrm>
          <a:prstGeom prst="rect">
            <a:avLst/>
          </a:prstGeom>
          <a:solidFill>
            <a:srgbClr val="204060"/>
          </a:solidFill>
          <a:ln>
            <a:noFill/>
          </a:ln>
          <a:effectLst>
            <a:outerShdw blurRad="47829" rotWithShape="0" dir="5400000" dist="27502">
              <a:srgbClr val="000000">
                <a:alpha val="34900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8"/>
          <p:cNvSpPr txBox="1"/>
          <p:nvPr/>
        </p:nvSpPr>
        <p:spPr>
          <a:xfrm>
            <a:off x="6050530" y="959270"/>
            <a:ext cx="537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×1</a:t>
            </a:r>
            <a:r>
              <a:rPr b="1" lang="en-US" sz="1554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674"/>
          </a:p>
        </p:txBody>
      </p:sp>
      <p:sp>
        <p:nvSpPr>
          <p:cNvPr id="211" name="Google Shape;211;p18"/>
          <p:cNvSpPr/>
          <p:nvPr/>
        </p:nvSpPr>
        <p:spPr>
          <a:xfrm>
            <a:off x="6630350" y="861394"/>
            <a:ext cx="537300" cy="523800"/>
          </a:xfrm>
          <a:prstGeom prst="rect">
            <a:avLst/>
          </a:prstGeom>
          <a:solidFill>
            <a:srgbClr val="204060"/>
          </a:solidFill>
          <a:ln>
            <a:noFill/>
          </a:ln>
          <a:effectLst>
            <a:outerShdw blurRad="47829" rotWithShape="0" dir="5400000" dist="27502">
              <a:srgbClr val="000000">
                <a:alpha val="34900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8"/>
          <p:cNvSpPr txBox="1"/>
          <p:nvPr/>
        </p:nvSpPr>
        <p:spPr>
          <a:xfrm>
            <a:off x="6630350" y="959270"/>
            <a:ext cx="537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b="1" lang="en-US" sz="1554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1674"/>
          </a:p>
        </p:txBody>
      </p:sp>
      <p:sp>
        <p:nvSpPr>
          <p:cNvPr id="213" name="Google Shape;213;p18"/>
          <p:cNvSpPr/>
          <p:nvPr/>
        </p:nvSpPr>
        <p:spPr>
          <a:xfrm>
            <a:off x="3151453" y="1467980"/>
            <a:ext cx="537300" cy="523800"/>
          </a:xfrm>
          <a:prstGeom prst="rect">
            <a:avLst/>
          </a:prstGeom>
          <a:solidFill>
            <a:srgbClr val="204060"/>
          </a:solidFill>
          <a:ln>
            <a:noFill/>
          </a:ln>
          <a:effectLst>
            <a:outerShdw blurRad="47829" rotWithShape="0" dir="5400000" dist="27502">
              <a:srgbClr val="000000">
                <a:alpha val="34900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8"/>
          <p:cNvSpPr txBox="1"/>
          <p:nvPr/>
        </p:nvSpPr>
        <p:spPr>
          <a:xfrm>
            <a:off x="3151453" y="1565856"/>
            <a:ext cx="537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b="1" lang="en-US" sz="1554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1674"/>
          </a:p>
        </p:txBody>
      </p:sp>
      <p:sp>
        <p:nvSpPr>
          <p:cNvPr id="215" name="Google Shape;215;p18"/>
          <p:cNvSpPr/>
          <p:nvPr/>
        </p:nvSpPr>
        <p:spPr>
          <a:xfrm>
            <a:off x="3731272" y="1467980"/>
            <a:ext cx="537300" cy="523800"/>
          </a:xfrm>
          <a:prstGeom prst="rect">
            <a:avLst/>
          </a:prstGeom>
          <a:solidFill>
            <a:srgbClr val="204060"/>
          </a:solidFill>
          <a:ln>
            <a:noFill/>
          </a:ln>
          <a:effectLst>
            <a:outerShdw blurRad="47829" rotWithShape="0" dir="5400000" dist="27502">
              <a:srgbClr val="000000">
                <a:alpha val="34900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8"/>
          <p:cNvSpPr txBox="1"/>
          <p:nvPr/>
        </p:nvSpPr>
        <p:spPr>
          <a:xfrm>
            <a:off x="3731272" y="1565856"/>
            <a:ext cx="537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b="1" lang="en-US" sz="1554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74"/>
          </a:p>
        </p:txBody>
      </p:sp>
      <p:sp>
        <p:nvSpPr>
          <p:cNvPr id="217" name="Google Shape;217;p18"/>
          <p:cNvSpPr/>
          <p:nvPr/>
        </p:nvSpPr>
        <p:spPr>
          <a:xfrm>
            <a:off x="5470730" y="1473877"/>
            <a:ext cx="537300" cy="523800"/>
          </a:xfrm>
          <a:prstGeom prst="rect">
            <a:avLst/>
          </a:prstGeom>
          <a:solidFill>
            <a:srgbClr val="6B2121"/>
          </a:solidFill>
          <a:ln>
            <a:noFill/>
          </a:ln>
          <a:effectLst>
            <a:outerShdw blurRad="47829" rotWithShape="0" dir="5400000" dist="27502">
              <a:srgbClr val="000000">
                <a:alpha val="34900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8"/>
          <p:cNvSpPr txBox="1"/>
          <p:nvPr/>
        </p:nvSpPr>
        <p:spPr>
          <a:xfrm>
            <a:off x="5428210" y="1571753"/>
            <a:ext cx="6225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×100</a:t>
            </a:r>
            <a:endParaRPr sz="1674"/>
          </a:p>
        </p:txBody>
      </p:sp>
      <p:sp>
        <p:nvSpPr>
          <p:cNvPr id="219" name="Google Shape;219;p18"/>
          <p:cNvSpPr/>
          <p:nvPr/>
        </p:nvSpPr>
        <p:spPr>
          <a:xfrm>
            <a:off x="6050550" y="1473877"/>
            <a:ext cx="537300" cy="523800"/>
          </a:xfrm>
          <a:prstGeom prst="rect">
            <a:avLst/>
          </a:prstGeom>
          <a:solidFill>
            <a:srgbClr val="6B2121"/>
          </a:solidFill>
          <a:ln>
            <a:noFill/>
          </a:ln>
          <a:effectLst>
            <a:outerShdw blurRad="47829" rotWithShape="0" dir="5400000" dist="27502">
              <a:srgbClr val="000000">
                <a:alpha val="34900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8"/>
          <p:cNvSpPr txBox="1"/>
          <p:nvPr/>
        </p:nvSpPr>
        <p:spPr>
          <a:xfrm>
            <a:off x="5940758" y="1571753"/>
            <a:ext cx="7569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×500</a:t>
            </a:r>
            <a:endParaRPr sz="1674"/>
          </a:p>
        </p:txBody>
      </p:sp>
      <p:sp>
        <p:nvSpPr>
          <p:cNvPr id="221" name="Google Shape;221;p1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2" name="Google Shape;222;p18"/>
          <p:cNvSpPr/>
          <p:nvPr/>
        </p:nvSpPr>
        <p:spPr>
          <a:xfrm>
            <a:off x="4311073" y="1473884"/>
            <a:ext cx="537300" cy="523800"/>
          </a:xfrm>
          <a:prstGeom prst="rect">
            <a:avLst/>
          </a:prstGeom>
          <a:solidFill>
            <a:srgbClr val="204060"/>
          </a:solidFill>
          <a:ln>
            <a:noFill/>
          </a:ln>
          <a:effectLst>
            <a:outerShdw blurRad="47829" rotWithShape="0" dir="5400000" dist="27502">
              <a:srgbClr val="000000">
                <a:alpha val="34900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8"/>
          <p:cNvSpPr txBox="1"/>
          <p:nvPr/>
        </p:nvSpPr>
        <p:spPr>
          <a:xfrm>
            <a:off x="4311073" y="1571761"/>
            <a:ext cx="537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b="1" lang="en-US" sz="1554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sz="1674"/>
          </a:p>
        </p:txBody>
      </p:sp>
      <p:sp>
        <p:nvSpPr>
          <p:cNvPr id="224" name="Google Shape;224;p18"/>
          <p:cNvSpPr/>
          <p:nvPr/>
        </p:nvSpPr>
        <p:spPr>
          <a:xfrm>
            <a:off x="4890892" y="1473884"/>
            <a:ext cx="537300" cy="523800"/>
          </a:xfrm>
          <a:prstGeom prst="rect">
            <a:avLst/>
          </a:prstGeom>
          <a:solidFill>
            <a:srgbClr val="204060"/>
          </a:solidFill>
          <a:ln>
            <a:noFill/>
          </a:ln>
          <a:effectLst>
            <a:outerShdw blurRad="47829" rotWithShape="0" dir="5400000" dist="27502">
              <a:srgbClr val="000000">
                <a:alpha val="34900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8"/>
          <p:cNvSpPr txBox="1"/>
          <p:nvPr/>
        </p:nvSpPr>
        <p:spPr>
          <a:xfrm>
            <a:off x="4890892" y="1571761"/>
            <a:ext cx="537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b="1" lang="en-US" sz="1554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 sz="1674"/>
          </a:p>
        </p:txBody>
      </p:sp>
      <p:sp>
        <p:nvSpPr>
          <p:cNvPr id="226" name="Google Shape;226;p18"/>
          <p:cNvSpPr/>
          <p:nvPr/>
        </p:nvSpPr>
        <p:spPr>
          <a:xfrm>
            <a:off x="6630350" y="1473877"/>
            <a:ext cx="537300" cy="523800"/>
          </a:xfrm>
          <a:prstGeom prst="rect">
            <a:avLst/>
          </a:prstGeom>
          <a:solidFill>
            <a:srgbClr val="6B2121"/>
          </a:solidFill>
          <a:ln>
            <a:noFill/>
          </a:ln>
          <a:effectLst>
            <a:outerShdw blurRad="47829" rotWithShape="0" dir="5400000" dist="27502">
              <a:srgbClr val="000000">
                <a:alpha val="34900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8"/>
          <p:cNvSpPr txBox="1"/>
          <p:nvPr/>
        </p:nvSpPr>
        <p:spPr>
          <a:xfrm>
            <a:off x="6520558" y="1571753"/>
            <a:ext cx="7569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b="1" lang="en-US" sz="1554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 sz="1674"/>
          </a:p>
        </p:txBody>
      </p:sp>
      <p:pic>
        <p:nvPicPr>
          <p:cNvPr id="228" name="Google Shape;22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69025" y="2953400"/>
            <a:ext cx="1030757" cy="64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050D1A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9"/>
          <p:cNvSpPr txBox="1"/>
          <p:nvPr/>
        </p:nvSpPr>
        <p:spPr>
          <a:xfrm>
            <a:off x="457200" y="304800"/>
            <a:ext cx="8229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提案方向</a:t>
            </a:r>
            <a:endParaRPr/>
          </a:p>
        </p:txBody>
      </p:sp>
      <p:sp>
        <p:nvSpPr>
          <p:cNvPr id="234" name="Google Shape;234;p19"/>
          <p:cNvSpPr txBox="1"/>
          <p:nvPr/>
        </p:nvSpPr>
        <p:spPr>
          <a:xfrm>
            <a:off x="457200" y="853440"/>
            <a:ext cx="8229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8BBCD4"/>
                </a:solidFill>
                <a:latin typeface="Calibri"/>
                <a:ea typeface="Calibri"/>
                <a:cs typeface="Calibri"/>
                <a:sym typeface="Calibri"/>
              </a:rPr>
              <a:t>New Game Rule</a:t>
            </a:r>
            <a:endParaRPr/>
          </a:p>
        </p:txBody>
      </p:sp>
      <p:sp>
        <p:nvSpPr>
          <p:cNvPr id="235" name="Google Shape;235;p19"/>
          <p:cNvSpPr txBox="1"/>
          <p:nvPr/>
        </p:nvSpPr>
        <p:spPr>
          <a:xfrm>
            <a:off x="633149" y="1473875"/>
            <a:ext cx="2005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玩法改動</a:t>
            </a:r>
            <a:endParaRPr/>
          </a:p>
        </p:txBody>
      </p:sp>
      <p:sp>
        <p:nvSpPr>
          <p:cNvPr id="236" name="Google Shape;236;p19"/>
          <p:cNvSpPr/>
          <p:nvPr/>
        </p:nvSpPr>
        <p:spPr>
          <a:xfrm>
            <a:off x="633160" y="1923866"/>
            <a:ext cx="365700" cy="365700"/>
          </a:xfrm>
          <a:prstGeom prst="ellipse">
            <a:avLst/>
          </a:prstGeom>
          <a:solidFill>
            <a:srgbClr val="FFD1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9"/>
          <p:cNvSpPr txBox="1"/>
          <p:nvPr/>
        </p:nvSpPr>
        <p:spPr>
          <a:xfrm>
            <a:off x="633160" y="1923866"/>
            <a:ext cx="365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50D1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38" name="Google Shape;238;p19"/>
          <p:cNvSpPr txBox="1"/>
          <p:nvPr/>
        </p:nvSpPr>
        <p:spPr>
          <a:xfrm>
            <a:off x="1067400" y="1923875"/>
            <a:ext cx="1874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100">
                <a:solidFill>
                  <a:srgbClr val="BBCFE0"/>
                </a:solidFill>
                <a:latin typeface="Calibri"/>
                <a:ea typeface="Calibri"/>
                <a:cs typeface="Calibri"/>
                <a:sym typeface="Calibri"/>
              </a:rPr>
              <a:t>Base Game 新增倍數 </a:t>
            </a:r>
            <a:endParaRPr/>
          </a:p>
        </p:txBody>
      </p:sp>
      <p:sp>
        <p:nvSpPr>
          <p:cNvPr id="239" name="Google Shape;239;p19"/>
          <p:cNvSpPr/>
          <p:nvPr/>
        </p:nvSpPr>
        <p:spPr>
          <a:xfrm>
            <a:off x="633160" y="2623866"/>
            <a:ext cx="365700" cy="365700"/>
          </a:xfrm>
          <a:prstGeom prst="ellipse">
            <a:avLst/>
          </a:prstGeom>
          <a:solidFill>
            <a:srgbClr val="FFD1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9"/>
          <p:cNvSpPr txBox="1"/>
          <p:nvPr/>
        </p:nvSpPr>
        <p:spPr>
          <a:xfrm>
            <a:off x="633160" y="2623866"/>
            <a:ext cx="365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50D1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41" name="Google Shape;241;p19"/>
          <p:cNvSpPr txBox="1"/>
          <p:nvPr/>
        </p:nvSpPr>
        <p:spPr>
          <a:xfrm>
            <a:off x="1067400" y="2623875"/>
            <a:ext cx="1874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BBCFE0"/>
                </a:solidFill>
                <a:latin typeface="Calibri"/>
                <a:ea typeface="Calibri"/>
                <a:cs typeface="Calibri"/>
                <a:sym typeface="Calibri"/>
              </a:rPr>
              <a:t>Scatter 打擊 OP Jackpot</a:t>
            </a:r>
            <a:endParaRPr/>
          </a:p>
        </p:txBody>
      </p:sp>
      <p:sp>
        <p:nvSpPr>
          <p:cNvPr id="242" name="Google Shape;242;p19"/>
          <p:cNvSpPr/>
          <p:nvPr/>
        </p:nvSpPr>
        <p:spPr>
          <a:xfrm>
            <a:off x="633160" y="3323866"/>
            <a:ext cx="365700" cy="365700"/>
          </a:xfrm>
          <a:prstGeom prst="ellipse">
            <a:avLst/>
          </a:prstGeom>
          <a:solidFill>
            <a:srgbClr val="FFD1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9"/>
          <p:cNvSpPr txBox="1"/>
          <p:nvPr/>
        </p:nvSpPr>
        <p:spPr>
          <a:xfrm>
            <a:off x="633160" y="3323866"/>
            <a:ext cx="365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50D1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44" name="Google Shape;244;p19"/>
          <p:cNvSpPr txBox="1"/>
          <p:nvPr/>
        </p:nvSpPr>
        <p:spPr>
          <a:xfrm>
            <a:off x="1067400" y="3323875"/>
            <a:ext cx="1874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BBCFE0"/>
                </a:solidFill>
                <a:latin typeface="Calibri"/>
                <a:ea typeface="Calibri"/>
                <a:cs typeface="Calibri"/>
                <a:sym typeface="Calibri"/>
              </a:rPr>
              <a:t>倍數每次消除都會變大</a:t>
            </a:r>
            <a:endParaRPr/>
          </a:p>
        </p:txBody>
      </p:sp>
      <p:sp>
        <p:nvSpPr>
          <p:cNvPr id="245" name="Google Shape;245;p19"/>
          <p:cNvSpPr txBox="1"/>
          <p:nvPr/>
        </p:nvSpPr>
        <p:spPr>
          <a:xfrm>
            <a:off x="3047250" y="464886"/>
            <a:ext cx="4400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輪帶倍率分布</a:t>
            </a:r>
            <a:endParaRPr/>
          </a:p>
        </p:txBody>
      </p:sp>
      <p:sp>
        <p:nvSpPr>
          <p:cNvPr id="246" name="Google Shape;246;p19"/>
          <p:cNvSpPr/>
          <p:nvPr/>
        </p:nvSpPr>
        <p:spPr>
          <a:xfrm>
            <a:off x="3151434" y="861384"/>
            <a:ext cx="537300" cy="523800"/>
          </a:xfrm>
          <a:prstGeom prst="rect">
            <a:avLst/>
          </a:prstGeom>
          <a:solidFill>
            <a:srgbClr val="204060"/>
          </a:solidFill>
          <a:ln>
            <a:noFill/>
          </a:ln>
          <a:effectLst>
            <a:outerShdw blurRad="47829" rotWithShape="0" dir="5400000" dist="27502">
              <a:srgbClr val="000000">
                <a:alpha val="34900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9"/>
          <p:cNvSpPr txBox="1"/>
          <p:nvPr/>
        </p:nvSpPr>
        <p:spPr>
          <a:xfrm>
            <a:off x="3151434" y="959261"/>
            <a:ext cx="537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b="1" lang="en-US" sz="1554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674"/>
          </a:p>
        </p:txBody>
      </p:sp>
      <p:sp>
        <p:nvSpPr>
          <p:cNvPr id="248" name="Google Shape;248;p19"/>
          <p:cNvSpPr/>
          <p:nvPr/>
        </p:nvSpPr>
        <p:spPr>
          <a:xfrm>
            <a:off x="3731254" y="861384"/>
            <a:ext cx="537300" cy="523800"/>
          </a:xfrm>
          <a:prstGeom prst="rect">
            <a:avLst/>
          </a:prstGeom>
          <a:solidFill>
            <a:srgbClr val="204060"/>
          </a:solidFill>
          <a:ln>
            <a:noFill/>
          </a:ln>
          <a:effectLst>
            <a:outerShdw blurRad="47829" rotWithShape="0" dir="5400000" dist="27502">
              <a:srgbClr val="000000">
                <a:alpha val="34900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9"/>
          <p:cNvSpPr txBox="1"/>
          <p:nvPr/>
        </p:nvSpPr>
        <p:spPr>
          <a:xfrm>
            <a:off x="3731254" y="959261"/>
            <a:ext cx="537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b="1" lang="en-US" sz="1554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674"/>
          </a:p>
        </p:txBody>
      </p:sp>
      <p:sp>
        <p:nvSpPr>
          <p:cNvPr id="250" name="Google Shape;250;p19"/>
          <p:cNvSpPr/>
          <p:nvPr/>
        </p:nvSpPr>
        <p:spPr>
          <a:xfrm>
            <a:off x="4311073" y="861384"/>
            <a:ext cx="537300" cy="523800"/>
          </a:xfrm>
          <a:prstGeom prst="rect">
            <a:avLst/>
          </a:prstGeom>
          <a:solidFill>
            <a:srgbClr val="204060"/>
          </a:solidFill>
          <a:ln>
            <a:noFill/>
          </a:ln>
          <a:effectLst>
            <a:outerShdw blurRad="47829" rotWithShape="0" dir="5400000" dist="27502">
              <a:srgbClr val="000000">
                <a:alpha val="34900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9"/>
          <p:cNvSpPr txBox="1"/>
          <p:nvPr/>
        </p:nvSpPr>
        <p:spPr>
          <a:xfrm>
            <a:off x="4311073" y="959261"/>
            <a:ext cx="537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b="1" lang="en-US" sz="1554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674"/>
          </a:p>
        </p:txBody>
      </p:sp>
      <p:sp>
        <p:nvSpPr>
          <p:cNvPr id="252" name="Google Shape;252;p19"/>
          <p:cNvSpPr/>
          <p:nvPr/>
        </p:nvSpPr>
        <p:spPr>
          <a:xfrm>
            <a:off x="4890892" y="861384"/>
            <a:ext cx="537300" cy="523800"/>
          </a:xfrm>
          <a:prstGeom prst="rect">
            <a:avLst/>
          </a:prstGeom>
          <a:solidFill>
            <a:srgbClr val="204060"/>
          </a:solidFill>
          <a:ln>
            <a:noFill/>
          </a:ln>
          <a:effectLst>
            <a:outerShdw blurRad="47829" rotWithShape="0" dir="5400000" dist="27502">
              <a:srgbClr val="000000">
                <a:alpha val="34900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9"/>
          <p:cNvSpPr txBox="1"/>
          <p:nvPr/>
        </p:nvSpPr>
        <p:spPr>
          <a:xfrm>
            <a:off x="4890892" y="959261"/>
            <a:ext cx="537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b="1" lang="en-US" sz="1554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674"/>
          </a:p>
        </p:txBody>
      </p:sp>
      <p:sp>
        <p:nvSpPr>
          <p:cNvPr id="254" name="Google Shape;254;p19"/>
          <p:cNvSpPr/>
          <p:nvPr/>
        </p:nvSpPr>
        <p:spPr>
          <a:xfrm>
            <a:off x="5470711" y="861394"/>
            <a:ext cx="537300" cy="523800"/>
          </a:xfrm>
          <a:prstGeom prst="rect">
            <a:avLst/>
          </a:prstGeom>
          <a:solidFill>
            <a:srgbClr val="204060"/>
          </a:solidFill>
          <a:ln>
            <a:noFill/>
          </a:ln>
          <a:effectLst>
            <a:outerShdw blurRad="47829" rotWithShape="0" dir="5400000" dist="27502">
              <a:srgbClr val="000000">
                <a:alpha val="34900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9"/>
          <p:cNvSpPr txBox="1"/>
          <p:nvPr/>
        </p:nvSpPr>
        <p:spPr>
          <a:xfrm>
            <a:off x="5470711" y="959270"/>
            <a:ext cx="537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b="1" lang="en-US" sz="1554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674"/>
          </a:p>
        </p:txBody>
      </p:sp>
      <p:sp>
        <p:nvSpPr>
          <p:cNvPr id="256" name="Google Shape;256;p19"/>
          <p:cNvSpPr/>
          <p:nvPr/>
        </p:nvSpPr>
        <p:spPr>
          <a:xfrm>
            <a:off x="6050530" y="861394"/>
            <a:ext cx="537300" cy="523800"/>
          </a:xfrm>
          <a:prstGeom prst="rect">
            <a:avLst/>
          </a:prstGeom>
          <a:solidFill>
            <a:srgbClr val="204060"/>
          </a:solidFill>
          <a:ln>
            <a:noFill/>
          </a:ln>
          <a:effectLst>
            <a:outerShdw blurRad="47829" rotWithShape="0" dir="5400000" dist="27502">
              <a:srgbClr val="000000">
                <a:alpha val="34900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9"/>
          <p:cNvSpPr txBox="1"/>
          <p:nvPr/>
        </p:nvSpPr>
        <p:spPr>
          <a:xfrm>
            <a:off x="6050530" y="959270"/>
            <a:ext cx="537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×1</a:t>
            </a:r>
            <a:r>
              <a:rPr b="1" lang="en-US" sz="1554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674"/>
          </a:p>
        </p:txBody>
      </p:sp>
      <p:sp>
        <p:nvSpPr>
          <p:cNvPr id="258" name="Google Shape;258;p19"/>
          <p:cNvSpPr/>
          <p:nvPr/>
        </p:nvSpPr>
        <p:spPr>
          <a:xfrm>
            <a:off x="6630350" y="861394"/>
            <a:ext cx="537300" cy="523800"/>
          </a:xfrm>
          <a:prstGeom prst="rect">
            <a:avLst/>
          </a:prstGeom>
          <a:solidFill>
            <a:srgbClr val="204060"/>
          </a:solidFill>
          <a:ln>
            <a:noFill/>
          </a:ln>
          <a:effectLst>
            <a:outerShdw blurRad="47829" rotWithShape="0" dir="5400000" dist="27502">
              <a:srgbClr val="000000">
                <a:alpha val="34900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9"/>
          <p:cNvSpPr txBox="1"/>
          <p:nvPr/>
        </p:nvSpPr>
        <p:spPr>
          <a:xfrm>
            <a:off x="6630350" y="959270"/>
            <a:ext cx="537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b="1" lang="en-US" sz="1554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1674"/>
          </a:p>
        </p:txBody>
      </p:sp>
      <p:sp>
        <p:nvSpPr>
          <p:cNvPr id="260" name="Google Shape;260;p19"/>
          <p:cNvSpPr/>
          <p:nvPr/>
        </p:nvSpPr>
        <p:spPr>
          <a:xfrm>
            <a:off x="3151453" y="1467980"/>
            <a:ext cx="537300" cy="523800"/>
          </a:xfrm>
          <a:prstGeom prst="rect">
            <a:avLst/>
          </a:prstGeom>
          <a:solidFill>
            <a:srgbClr val="204060"/>
          </a:solidFill>
          <a:ln>
            <a:noFill/>
          </a:ln>
          <a:effectLst>
            <a:outerShdw blurRad="47829" rotWithShape="0" dir="5400000" dist="27502">
              <a:srgbClr val="000000">
                <a:alpha val="34900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9"/>
          <p:cNvSpPr txBox="1"/>
          <p:nvPr/>
        </p:nvSpPr>
        <p:spPr>
          <a:xfrm>
            <a:off x="3151453" y="1565856"/>
            <a:ext cx="537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b="1" lang="en-US" sz="1554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1674"/>
          </a:p>
        </p:txBody>
      </p:sp>
      <p:sp>
        <p:nvSpPr>
          <p:cNvPr id="262" name="Google Shape;262;p19"/>
          <p:cNvSpPr/>
          <p:nvPr/>
        </p:nvSpPr>
        <p:spPr>
          <a:xfrm>
            <a:off x="3731272" y="1467980"/>
            <a:ext cx="537300" cy="523800"/>
          </a:xfrm>
          <a:prstGeom prst="rect">
            <a:avLst/>
          </a:prstGeom>
          <a:solidFill>
            <a:srgbClr val="204060"/>
          </a:solidFill>
          <a:ln>
            <a:noFill/>
          </a:ln>
          <a:effectLst>
            <a:outerShdw blurRad="47829" rotWithShape="0" dir="5400000" dist="27502">
              <a:srgbClr val="000000">
                <a:alpha val="34900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9"/>
          <p:cNvSpPr txBox="1"/>
          <p:nvPr/>
        </p:nvSpPr>
        <p:spPr>
          <a:xfrm>
            <a:off x="3731272" y="1565856"/>
            <a:ext cx="537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b="1" lang="en-US" sz="1554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74"/>
          </a:p>
        </p:txBody>
      </p:sp>
      <p:sp>
        <p:nvSpPr>
          <p:cNvPr id="264" name="Google Shape;264;p19"/>
          <p:cNvSpPr/>
          <p:nvPr/>
        </p:nvSpPr>
        <p:spPr>
          <a:xfrm>
            <a:off x="5470730" y="1473877"/>
            <a:ext cx="537300" cy="523800"/>
          </a:xfrm>
          <a:prstGeom prst="rect">
            <a:avLst/>
          </a:prstGeom>
          <a:solidFill>
            <a:srgbClr val="6B2121"/>
          </a:solidFill>
          <a:ln>
            <a:noFill/>
          </a:ln>
          <a:effectLst>
            <a:outerShdw blurRad="47829" rotWithShape="0" dir="5400000" dist="27502">
              <a:srgbClr val="000000">
                <a:alpha val="34900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9"/>
          <p:cNvSpPr txBox="1"/>
          <p:nvPr/>
        </p:nvSpPr>
        <p:spPr>
          <a:xfrm>
            <a:off x="5428210" y="1571753"/>
            <a:ext cx="6225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×100</a:t>
            </a:r>
            <a:endParaRPr sz="1674"/>
          </a:p>
        </p:txBody>
      </p:sp>
      <p:sp>
        <p:nvSpPr>
          <p:cNvPr id="266" name="Google Shape;266;p19"/>
          <p:cNvSpPr/>
          <p:nvPr/>
        </p:nvSpPr>
        <p:spPr>
          <a:xfrm>
            <a:off x="6050550" y="1473877"/>
            <a:ext cx="537300" cy="523800"/>
          </a:xfrm>
          <a:prstGeom prst="rect">
            <a:avLst/>
          </a:prstGeom>
          <a:solidFill>
            <a:srgbClr val="6B2121"/>
          </a:solidFill>
          <a:ln>
            <a:noFill/>
          </a:ln>
          <a:effectLst>
            <a:outerShdw blurRad="47829" rotWithShape="0" dir="5400000" dist="27502">
              <a:srgbClr val="000000">
                <a:alpha val="34900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9"/>
          <p:cNvSpPr txBox="1"/>
          <p:nvPr/>
        </p:nvSpPr>
        <p:spPr>
          <a:xfrm>
            <a:off x="5940758" y="1571753"/>
            <a:ext cx="7569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×500</a:t>
            </a:r>
            <a:endParaRPr sz="1674"/>
          </a:p>
        </p:txBody>
      </p:sp>
      <p:sp>
        <p:nvSpPr>
          <p:cNvPr id="268" name="Google Shape;268;p1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9" name="Google Shape;269;p19"/>
          <p:cNvSpPr/>
          <p:nvPr/>
        </p:nvSpPr>
        <p:spPr>
          <a:xfrm>
            <a:off x="4311073" y="1473884"/>
            <a:ext cx="537300" cy="523800"/>
          </a:xfrm>
          <a:prstGeom prst="rect">
            <a:avLst/>
          </a:prstGeom>
          <a:solidFill>
            <a:srgbClr val="204060"/>
          </a:solidFill>
          <a:ln>
            <a:noFill/>
          </a:ln>
          <a:effectLst>
            <a:outerShdw blurRad="47829" rotWithShape="0" dir="5400000" dist="27502">
              <a:srgbClr val="000000">
                <a:alpha val="34900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9"/>
          <p:cNvSpPr txBox="1"/>
          <p:nvPr/>
        </p:nvSpPr>
        <p:spPr>
          <a:xfrm>
            <a:off x="4311073" y="1571761"/>
            <a:ext cx="537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b="1" lang="en-US" sz="1554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sz="1674"/>
          </a:p>
        </p:txBody>
      </p:sp>
      <p:sp>
        <p:nvSpPr>
          <p:cNvPr id="271" name="Google Shape;271;p19"/>
          <p:cNvSpPr/>
          <p:nvPr/>
        </p:nvSpPr>
        <p:spPr>
          <a:xfrm>
            <a:off x="4890892" y="1473884"/>
            <a:ext cx="537300" cy="523800"/>
          </a:xfrm>
          <a:prstGeom prst="rect">
            <a:avLst/>
          </a:prstGeom>
          <a:solidFill>
            <a:srgbClr val="204060"/>
          </a:solidFill>
          <a:ln>
            <a:noFill/>
          </a:ln>
          <a:effectLst>
            <a:outerShdw blurRad="47829" rotWithShape="0" dir="5400000" dist="27502">
              <a:srgbClr val="000000">
                <a:alpha val="34900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9"/>
          <p:cNvSpPr txBox="1"/>
          <p:nvPr/>
        </p:nvSpPr>
        <p:spPr>
          <a:xfrm>
            <a:off x="4890892" y="1571761"/>
            <a:ext cx="537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b="1" lang="en-US" sz="1554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 sz="1674"/>
          </a:p>
        </p:txBody>
      </p:sp>
      <p:sp>
        <p:nvSpPr>
          <p:cNvPr id="273" name="Google Shape;273;p19"/>
          <p:cNvSpPr/>
          <p:nvPr/>
        </p:nvSpPr>
        <p:spPr>
          <a:xfrm>
            <a:off x="6630350" y="1473877"/>
            <a:ext cx="537300" cy="523800"/>
          </a:xfrm>
          <a:prstGeom prst="rect">
            <a:avLst/>
          </a:prstGeom>
          <a:solidFill>
            <a:srgbClr val="6B2121"/>
          </a:solidFill>
          <a:ln>
            <a:noFill/>
          </a:ln>
          <a:effectLst>
            <a:outerShdw blurRad="47829" rotWithShape="0" dir="5400000" dist="27502">
              <a:srgbClr val="000000">
                <a:alpha val="34900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9"/>
          <p:cNvSpPr txBox="1"/>
          <p:nvPr/>
        </p:nvSpPr>
        <p:spPr>
          <a:xfrm>
            <a:off x="6520558" y="1571753"/>
            <a:ext cx="7569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b="1" lang="en-US" sz="1554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 sz="1674"/>
          </a:p>
        </p:txBody>
      </p:sp>
      <p:pic>
        <p:nvPicPr>
          <p:cNvPr id="275" name="Google Shape;27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1450" y="2150225"/>
            <a:ext cx="3531320" cy="25292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69025" y="2953400"/>
            <a:ext cx="1030757" cy="64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050D1A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0"/>
          <p:cNvSpPr txBox="1"/>
          <p:nvPr/>
        </p:nvSpPr>
        <p:spPr>
          <a:xfrm>
            <a:off x="457200" y="304800"/>
            <a:ext cx="8229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提案方向</a:t>
            </a:r>
            <a:endParaRPr/>
          </a:p>
        </p:txBody>
      </p:sp>
      <p:sp>
        <p:nvSpPr>
          <p:cNvPr id="282" name="Google Shape;282;p20"/>
          <p:cNvSpPr txBox="1"/>
          <p:nvPr/>
        </p:nvSpPr>
        <p:spPr>
          <a:xfrm>
            <a:off x="457200" y="853440"/>
            <a:ext cx="8229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8BBCD4"/>
                </a:solidFill>
                <a:latin typeface="Calibri"/>
                <a:ea typeface="Calibri"/>
                <a:cs typeface="Calibri"/>
                <a:sym typeface="Calibri"/>
              </a:rPr>
              <a:t>New Game Rule</a:t>
            </a:r>
            <a:endParaRPr/>
          </a:p>
        </p:txBody>
      </p:sp>
      <p:sp>
        <p:nvSpPr>
          <p:cNvPr id="283" name="Google Shape;283;p20"/>
          <p:cNvSpPr txBox="1"/>
          <p:nvPr/>
        </p:nvSpPr>
        <p:spPr>
          <a:xfrm>
            <a:off x="633149" y="1473875"/>
            <a:ext cx="2005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玩法改動</a:t>
            </a:r>
            <a:endParaRPr/>
          </a:p>
        </p:txBody>
      </p:sp>
      <p:sp>
        <p:nvSpPr>
          <p:cNvPr id="284" name="Google Shape;284;p20"/>
          <p:cNvSpPr/>
          <p:nvPr/>
        </p:nvSpPr>
        <p:spPr>
          <a:xfrm>
            <a:off x="633160" y="1923866"/>
            <a:ext cx="365700" cy="365700"/>
          </a:xfrm>
          <a:prstGeom prst="ellipse">
            <a:avLst/>
          </a:prstGeom>
          <a:solidFill>
            <a:srgbClr val="FFD1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0"/>
          <p:cNvSpPr txBox="1"/>
          <p:nvPr/>
        </p:nvSpPr>
        <p:spPr>
          <a:xfrm>
            <a:off x="633160" y="1923866"/>
            <a:ext cx="365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50D1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86" name="Google Shape;286;p20"/>
          <p:cNvSpPr txBox="1"/>
          <p:nvPr/>
        </p:nvSpPr>
        <p:spPr>
          <a:xfrm>
            <a:off x="1067400" y="1923875"/>
            <a:ext cx="1874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100">
                <a:solidFill>
                  <a:srgbClr val="BBCFE0"/>
                </a:solidFill>
                <a:latin typeface="Calibri"/>
                <a:ea typeface="Calibri"/>
                <a:cs typeface="Calibri"/>
                <a:sym typeface="Calibri"/>
              </a:rPr>
              <a:t>Base Game 新增倍數 </a:t>
            </a:r>
            <a:endParaRPr/>
          </a:p>
        </p:txBody>
      </p:sp>
      <p:sp>
        <p:nvSpPr>
          <p:cNvPr id="287" name="Google Shape;287;p20"/>
          <p:cNvSpPr/>
          <p:nvPr/>
        </p:nvSpPr>
        <p:spPr>
          <a:xfrm>
            <a:off x="633160" y="2623866"/>
            <a:ext cx="365700" cy="365700"/>
          </a:xfrm>
          <a:prstGeom prst="ellipse">
            <a:avLst/>
          </a:prstGeom>
          <a:solidFill>
            <a:srgbClr val="FFD1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0"/>
          <p:cNvSpPr txBox="1"/>
          <p:nvPr/>
        </p:nvSpPr>
        <p:spPr>
          <a:xfrm>
            <a:off x="633160" y="2623866"/>
            <a:ext cx="365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50D1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89" name="Google Shape;289;p20"/>
          <p:cNvSpPr txBox="1"/>
          <p:nvPr/>
        </p:nvSpPr>
        <p:spPr>
          <a:xfrm>
            <a:off x="1067400" y="2623875"/>
            <a:ext cx="1874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BBCFE0"/>
                </a:solidFill>
                <a:latin typeface="Calibri"/>
                <a:ea typeface="Calibri"/>
                <a:cs typeface="Calibri"/>
                <a:sym typeface="Calibri"/>
              </a:rPr>
              <a:t>Scatter 打擊 OP Jackpot</a:t>
            </a:r>
            <a:endParaRPr/>
          </a:p>
        </p:txBody>
      </p:sp>
      <p:sp>
        <p:nvSpPr>
          <p:cNvPr id="290" name="Google Shape;290;p20"/>
          <p:cNvSpPr/>
          <p:nvPr/>
        </p:nvSpPr>
        <p:spPr>
          <a:xfrm>
            <a:off x="633160" y="3323866"/>
            <a:ext cx="365700" cy="365700"/>
          </a:xfrm>
          <a:prstGeom prst="ellipse">
            <a:avLst/>
          </a:prstGeom>
          <a:solidFill>
            <a:srgbClr val="FFD1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0"/>
          <p:cNvSpPr txBox="1"/>
          <p:nvPr/>
        </p:nvSpPr>
        <p:spPr>
          <a:xfrm>
            <a:off x="633160" y="3323866"/>
            <a:ext cx="365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50D1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92" name="Google Shape;292;p20"/>
          <p:cNvSpPr txBox="1"/>
          <p:nvPr/>
        </p:nvSpPr>
        <p:spPr>
          <a:xfrm>
            <a:off x="1067400" y="3323875"/>
            <a:ext cx="1874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BBCFE0"/>
                </a:solidFill>
                <a:latin typeface="Calibri"/>
                <a:ea typeface="Calibri"/>
                <a:cs typeface="Calibri"/>
                <a:sym typeface="Calibri"/>
              </a:rPr>
              <a:t>倍數每次消除都會變大</a:t>
            </a:r>
            <a:endParaRPr/>
          </a:p>
        </p:txBody>
      </p:sp>
      <p:sp>
        <p:nvSpPr>
          <p:cNvPr id="293" name="Google Shape;293;p20"/>
          <p:cNvSpPr/>
          <p:nvPr/>
        </p:nvSpPr>
        <p:spPr>
          <a:xfrm>
            <a:off x="633160" y="4023866"/>
            <a:ext cx="365700" cy="365700"/>
          </a:xfrm>
          <a:prstGeom prst="ellipse">
            <a:avLst/>
          </a:prstGeom>
          <a:solidFill>
            <a:srgbClr val="FFD1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0"/>
          <p:cNvSpPr txBox="1"/>
          <p:nvPr/>
        </p:nvSpPr>
        <p:spPr>
          <a:xfrm>
            <a:off x="633160" y="4023866"/>
            <a:ext cx="365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50D1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295" name="Google Shape;295;p20"/>
          <p:cNvSpPr txBox="1"/>
          <p:nvPr/>
        </p:nvSpPr>
        <p:spPr>
          <a:xfrm>
            <a:off x="1067400" y="4023875"/>
            <a:ext cx="1874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BBCFE0"/>
                </a:solidFill>
                <a:latin typeface="Calibri"/>
                <a:ea typeface="Calibri"/>
                <a:cs typeface="Calibri"/>
                <a:sym typeface="Calibri"/>
              </a:rPr>
              <a:t>Extra Bet : 5G 作法</a:t>
            </a:r>
            <a:endParaRPr/>
          </a:p>
        </p:txBody>
      </p:sp>
      <p:sp>
        <p:nvSpPr>
          <p:cNvPr id="296" name="Google Shape;296;p20"/>
          <p:cNvSpPr txBox="1"/>
          <p:nvPr/>
        </p:nvSpPr>
        <p:spPr>
          <a:xfrm>
            <a:off x="3047250" y="464886"/>
            <a:ext cx="4400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輪帶倍率分布</a:t>
            </a:r>
            <a:endParaRPr/>
          </a:p>
        </p:txBody>
      </p:sp>
      <p:sp>
        <p:nvSpPr>
          <p:cNvPr id="297" name="Google Shape;297;p20"/>
          <p:cNvSpPr/>
          <p:nvPr/>
        </p:nvSpPr>
        <p:spPr>
          <a:xfrm>
            <a:off x="3151434" y="861384"/>
            <a:ext cx="537300" cy="523800"/>
          </a:xfrm>
          <a:prstGeom prst="rect">
            <a:avLst/>
          </a:prstGeom>
          <a:solidFill>
            <a:srgbClr val="204060"/>
          </a:solidFill>
          <a:ln>
            <a:noFill/>
          </a:ln>
          <a:effectLst>
            <a:outerShdw blurRad="47829" rotWithShape="0" dir="5400000" dist="27502">
              <a:srgbClr val="000000">
                <a:alpha val="34900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0"/>
          <p:cNvSpPr txBox="1"/>
          <p:nvPr/>
        </p:nvSpPr>
        <p:spPr>
          <a:xfrm>
            <a:off x="3151434" y="959261"/>
            <a:ext cx="537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b="1" lang="en-US" sz="1554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674"/>
          </a:p>
        </p:txBody>
      </p:sp>
      <p:sp>
        <p:nvSpPr>
          <p:cNvPr id="299" name="Google Shape;299;p20"/>
          <p:cNvSpPr/>
          <p:nvPr/>
        </p:nvSpPr>
        <p:spPr>
          <a:xfrm>
            <a:off x="3731254" y="861384"/>
            <a:ext cx="537300" cy="523800"/>
          </a:xfrm>
          <a:prstGeom prst="rect">
            <a:avLst/>
          </a:prstGeom>
          <a:solidFill>
            <a:srgbClr val="204060"/>
          </a:solidFill>
          <a:ln>
            <a:noFill/>
          </a:ln>
          <a:effectLst>
            <a:outerShdw blurRad="47829" rotWithShape="0" dir="5400000" dist="27502">
              <a:srgbClr val="000000">
                <a:alpha val="34900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0"/>
          <p:cNvSpPr txBox="1"/>
          <p:nvPr/>
        </p:nvSpPr>
        <p:spPr>
          <a:xfrm>
            <a:off x="3731254" y="959261"/>
            <a:ext cx="537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b="1" lang="en-US" sz="1554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674"/>
          </a:p>
        </p:txBody>
      </p:sp>
      <p:sp>
        <p:nvSpPr>
          <p:cNvPr id="301" name="Google Shape;301;p20"/>
          <p:cNvSpPr/>
          <p:nvPr/>
        </p:nvSpPr>
        <p:spPr>
          <a:xfrm>
            <a:off x="4311073" y="861384"/>
            <a:ext cx="537300" cy="523800"/>
          </a:xfrm>
          <a:prstGeom prst="rect">
            <a:avLst/>
          </a:prstGeom>
          <a:solidFill>
            <a:srgbClr val="204060"/>
          </a:solidFill>
          <a:ln>
            <a:noFill/>
          </a:ln>
          <a:effectLst>
            <a:outerShdw blurRad="47829" rotWithShape="0" dir="5400000" dist="27502">
              <a:srgbClr val="000000">
                <a:alpha val="34900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0"/>
          <p:cNvSpPr txBox="1"/>
          <p:nvPr/>
        </p:nvSpPr>
        <p:spPr>
          <a:xfrm>
            <a:off x="4311073" y="959261"/>
            <a:ext cx="537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b="1" lang="en-US" sz="1554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674"/>
          </a:p>
        </p:txBody>
      </p:sp>
      <p:sp>
        <p:nvSpPr>
          <p:cNvPr id="303" name="Google Shape;303;p20"/>
          <p:cNvSpPr/>
          <p:nvPr/>
        </p:nvSpPr>
        <p:spPr>
          <a:xfrm>
            <a:off x="4890892" y="861384"/>
            <a:ext cx="537300" cy="523800"/>
          </a:xfrm>
          <a:prstGeom prst="rect">
            <a:avLst/>
          </a:prstGeom>
          <a:solidFill>
            <a:srgbClr val="204060"/>
          </a:solidFill>
          <a:ln>
            <a:noFill/>
          </a:ln>
          <a:effectLst>
            <a:outerShdw blurRad="47829" rotWithShape="0" dir="5400000" dist="27502">
              <a:srgbClr val="000000">
                <a:alpha val="34900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0"/>
          <p:cNvSpPr txBox="1"/>
          <p:nvPr/>
        </p:nvSpPr>
        <p:spPr>
          <a:xfrm>
            <a:off x="4890892" y="959261"/>
            <a:ext cx="537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b="1" lang="en-US" sz="1554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674"/>
          </a:p>
        </p:txBody>
      </p:sp>
      <p:sp>
        <p:nvSpPr>
          <p:cNvPr id="305" name="Google Shape;305;p20"/>
          <p:cNvSpPr/>
          <p:nvPr/>
        </p:nvSpPr>
        <p:spPr>
          <a:xfrm>
            <a:off x="5470711" y="861394"/>
            <a:ext cx="537300" cy="523800"/>
          </a:xfrm>
          <a:prstGeom prst="rect">
            <a:avLst/>
          </a:prstGeom>
          <a:solidFill>
            <a:srgbClr val="204060"/>
          </a:solidFill>
          <a:ln>
            <a:noFill/>
          </a:ln>
          <a:effectLst>
            <a:outerShdw blurRad="47829" rotWithShape="0" dir="5400000" dist="27502">
              <a:srgbClr val="000000">
                <a:alpha val="34900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0"/>
          <p:cNvSpPr txBox="1"/>
          <p:nvPr/>
        </p:nvSpPr>
        <p:spPr>
          <a:xfrm>
            <a:off x="5470711" y="959270"/>
            <a:ext cx="537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b="1" lang="en-US" sz="1554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674"/>
          </a:p>
        </p:txBody>
      </p:sp>
      <p:sp>
        <p:nvSpPr>
          <p:cNvPr id="307" name="Google Shape;307;p20"/>
          <p:cNvSpPr/>
          <p:nvPr/>
        </p:nvSpPr>
        <p:spPr>
          <a:xfrm>
            <a:off x="6050530" y="861394"/>
            <a:ext cx="537300" cy="523800"/>
          </a:xfrm>
          <a:prstGeom prst="rect">
            <a:avLst/>
          </a:prstGeom>
          <a:solidFill>
            <a:srgbClr val="204060"/>
          </a:solidFill>
          <a:ln>
            <a:noFill/>
          </a:ln>
          <a:effectLst>
            <a:outerShdw blurRad="47829" rotWithShape="0" dir="5400000" dist="27502">
              <a:srgbClr val="000000">
                <a:alpha val="34900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0"/>
          <p:cNvSpPr txBox="1"/>
          <p:nvPr/>
        </p:nvSpPr>
        <p:spPr>
          <a:xfrm>
            <a:off x="6050530" y="959270"/>
            <a:ext cx="537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×1</a:t>
            </a:r>
            <a:r>
              <a:rPr b="1" lang="en-US" sz="1554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674"/>
          </a:p>
        </p:txBody>
      </p:sp>
      <p:sp>
        <p:nvSpPr>
          <p:cNvPr id="309" name="Google Shape;309;p20"/>
          <p:cNvSpPr/>
          <p:nvPr/>
        </p:nvSpPr>
        <p:spPr>
          <a:xfrm>
            <a:off x="6630350" y="861394"/>
            <a:ext cx="537300" cy="523800"/>
          </a:xfrm>
          <a:prstGeom prst="rect">
            <a:avLst/>
          </a:prstGeom>
          <a:solidFill>
            <a:srgbClr val="204060"/>
          </a:solidFill>
          <a:ln>
            <a:noFill/>
          </a:ln>
          <a:effectLst>
            <a:outerShdw blurRad="47829" rotWithShape="0" dir="5400000" dist="27502">
              <a:srgbClr val="000000">
                <a:alpha val="34900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0"/>
          <p:cNvSpPr txBox="1"/>
          <p:nvPr/>
        </p:nvSpPr>
        <p:spPr>
          <a:xfrm>
            <a:off x="6630350" y="959270"/>
            <a:ext cx="537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b="1" lang="en-US" sz="1554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1674"/>
          </a:p>
        </p:txBody>
      </p:sp>
      <p:sp>
        <p:nvSpPr>
          <p:cNvPr id="311" name="Google Shape;311;p20"/>
          <p:cNvSpPr/>
          <p:nvPr/>
        </p:nvSpPr>
        <p:spPr>
          <a:xfrm>
            <a:off x="3151453" y="1467980"/>
            <a:ext cx="537300" cy="523800"/>
          </a:xfrm>
          <a:prstGeom prst="rect">
            <a:avLst/>
          </a:prstGeom>
          <a:solidFill>
            <a:srgbClr val="204060"/>
          </a:solidFill>
          <a:ln>
            <a:noFill/>
          </a:ln>
          <a:effectLst>
            <a:outerShdw blurRad="47829" rotWithShape="0" dir="5400000" dist="27502">
              <a:srgbClr val="000000">
                <a:alpha val="34900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0"/>
          <p:cNvSpPr txBox="1"/>
          <p:nvPr/>
        </p:nvSpPr>
        <p:spPr>
          <a:xfrm>
            <a:off x="3151453" y="1565856"/>
            <a:ext cx="537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b="1" lang="en-US" sz="1554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1674"/>
          </a:p>
        </p:txBody>
      </p:sp>
      <p:sp>
        <p:nvSpPr>
          <p:cNvPr id="313" name="Google Shape;313;p20"/>
          <p:cNvSpPr/>
          <p:nvPr/>
        </p:nvSpPr>
        <p:spPr>
          <a:xfrm>
            <a:off x="3731272" y="1467980"/>
            <a:ext cx="537300" cy="523800"/>
          </a:xfrm>
          <a:prstGeom prst="rect">
            <a:avLst/>
          </a:prstGeom>
          <a:solidFill>
            <a:srgbClr val="204060"/>
          </a:solidFill>
          <a:ln>
            <a:noFill/>
          </a:ln>
          <a:effectLst>
            <a:outerShdw blurRad="47829" rotWithShape="0" dir="5400000" dist="27502">
              <a:srgbClr val="000000">
                <a:alpha val="34900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0"/>
          <p:cNvSpPr txBox="1"/>
          <p:nvPr/>
        </p:nvSpPr>
        <p:spPr>
          <a:xfrm>
            <a:off x="3731272" y="1565856"/>
            <a:ext cx="537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b="1" lang="en-US" sz="1554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74"/>
          </a:p>
        </p:txBody>
      </p:sp>
      <p:sp>
        <p:nvSpPr>
          <p:cNvPr id="315" name="Google Shape;315;p20"/>
          <p:cNvSpPr/>
          <p:nvPr/>
        </p:nvSpPr>
        <p:spPr>
          <a:xfrm>
            <a:off x="5470730" y="1473877"/>
            <a:ext cx="537300" cy="523800"/>
          </a:xfrm>
          <a:prstGeom prst="rect">
            <a:avLst/>
          </a:prstGeom>
          <a:solidFill>
            <a:srgbClr val="6B2121"/>
          </a:solidFill>
          <a:ln>
            <a:noFill/>
          </a:ln>
          <a:effectLst>
            <a:outerShdw blurRad="47829" rotWithShape="0" dir="5400000" dist="27502">
              <a:srgbClr val="000000">
                <a:alpha val="34900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0"/>
          <p:cNvSpPr txBox="1"/>
          <p:nvPr/>
        </p:nvSpPr>
        <p:spPr>
          <a:xfrm>
            <a:off x="5428210" y="1571753"/>
            <a:ext cx="6225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×100</a:t>
            </a:r>
            <a:endParaRPr sz="1674"/>
          </a:p>
        </p:txBody>
      </p:sp>
      <p:sp>
        <p:nvSpPr>
          <p:cNvPr id="317" name="Google Shape;317;p20"/>
          <p:cNvSpPr/>
          <p:nvPr/>
        </p:nvSpPr>
        <p:spPr>
          <a:xfrm>
            <a:off x="6050550" y="1473877"/>
            <a:ext cx="537300" cy="523800"/>
          </a:xfrm>
          <a:prstGeom prst="rect">
            <a:avLst/>
          </a:prstGeom>
          <a:solidFill>
            <a:srgbClr val="6B2121"/>
          </a:solidFill>
          <a:ln>
            <a:noFill/>
          </a:ln>
          <a:effectLst>
            <a:outerShdw blurRad="47829" rotWithShape="0" dir="5400000" dist="27502">
              <a:srgbClr val="000000">
                <a:alpha val="34900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0"/>
          <p:cNvSpPr txBox="1"/>
          <p:nvPr/>
        </p:nvSpPr>
        <p:spPr>
          <a:xfrm>
            <a:off x="5940758" y="1571753"/>
            <a:ext cx="7569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×500</a:t>
            </a:r>
            <a:endParaRPr sz="1674"/>
          </a:p>
        </p:txBody>
      </p:sp>
      <p:sp>
        <p:nvSpPr>
          <p:cNvPr id="319" name="Google Shape;319;p2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0" name="Google Shape;320;p20"/>
          <p:cNvSpPr/>
          <p:nvPr/>
        </p:nvSpPr>
        <p:spPr>
          <a:xfrm>
            <a:off x="4311073" y="1473884"/>
            <a:ext cx="537300" cy="523800"/>
          </a:xfrm>
          <a:prstGeom prst="rect">
            <a:avLst/>
          </a:prstGeom>
          <a:solidFill>
            <a:srgbClr val="204060"/>
          </a:solidFill>
          <a:ln>
            <a:noFill/>
          </a:ln>
          <a:effectLst>
            <a:outerShdw blurRad="47829" rotWithShape="0" dir="5400000" dist="27502">
              <a:srgbClr val="000000">
                <a:alpha val="34900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0"/>
          <p:cNvSpPr txBox="1"/>
          <p:nvPr/>
        </p:nvSpPr>
        <p:spPr>
          <a:xfrm>
            <a:off x="4311073" y="1571761"/>
            <a:ext cx="537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b="1" lang="en-US" sz="1554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sz="1674"/>
          </a:p>
        </p:txBody>
      </p:sp>
      <p:sp>
        <p:nvSpPr>
          <p:cNvPr id="322" name="Google Shape;322;p20"/>
          <p:cNvSpPr/>
          <p:nvPr/>
        </p:nvSpPr>
        <p:spPr>
          <a:xfrm>
            <a:off x="4890892" y="1473884"/>
            <a:ext cx="537300" cy="523800"/>
          </a:xfrm>
          <a:prstGeom prst="rect">
            <a:avLst/>
          </a:prstGeom>
          <a:solidFill>
            <a:srgbClr val="204060"/>
          </a:solidFill>
          <a:ln>
            <a:noFill/>
          </a:ln>
          <a:effectLst>
            <a:outerShdw blurRad="47829" rotWithShape="0" dir="5400000" dist="27502">
              <a:srgbClr val="000000">
                <a:alpha val="34900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0"/>
          <p:cNvSpPr txBox="1"/>
          <p:nvPr/>
        </p:nvSpPr>
        <p:spPr>
          <a:xfrm>
            <a:off x="4890892" y="1571761"/>
            <a:ext cx="537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b="1" lang="en-US" sz="1554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 sz="1674"/>
          </a:p>
        </p:txBody>
      </p:sp>
      <p:sp>
        <p:nvSpPr>
          <p:cNvPr id="324" name="Google Shape;324;p20"/>
          <p:cNvSpPr/>
          <p:nvPr/>
        </p:nvSpPr>
        <p:spPr>
          <a:xfrm>
            <a:off x="6630350" y="1473877"/>
            <a:ext cx="537300" cy="523800"/>
          </a:xfrm>
          <a:prstGeom prst="rect">
            <a:avLst/>
          </a:prstGeom>
          <a:solidFill>
            <a:srgbClr val="6B2121"/>
          </a:solidFill>
          <a:ln>
            <a:noFill/>
          </a:ln>
          <a:effectLst>
            <a:outerShdw blurRad="47829" rotWithShape="0" dir="5400000" dist="27502">
              <a:srgbClr val="000000">
                <a:alpha val="34900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0"/>
          <p:cNvSpPr txBox="1"/>
          <p:nvPr/>
        </p:nvSpPr>
        <p:spPr>
          <a:xfrm>
            <a:off x="6520558" y="1571753"/>
            <a:ext cx="7569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b="1" lang="en-US" sz="1554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 sz="1674"/>
          </a:p>
        </p:txBody>
      </p:sp>
      <p:pic>
        <p:nvPicPr>
          <p:cNvPr id="326" name="Google Shape;32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1450" y="2150225"/>
            <a:ext cx="3531320" cy="25292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0" title="螢幕擷取畫面 2026-06-08 163708.png"/>
          <p:cNvPicPr preferRelativeResize="0"/>
          <p:nvPr/>
        </p:nvPicPr>
        <p:blipFill rotWithShape="1">
          <a:blip r:embed="rId4">
            <a:alphaModFix/>
          </a:blip>
          <a:srcRect b="18544" l="72212" r="799" t="73766"/>
          <a:stretch/>
        </p:blipFill>
        <p:spPr>
          <a:xfrm>
            <a:off x="6869025" y="2207319"/>
            <a:ext cx="1019644" cy="516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69025" y="2953400"/>
            <a:ext cx="1030757" cy="64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050D1A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1"/>
          <p:cNvSpPr txBox="1"/>
          <p:nvPr/>
        </p:nvSpPr>
        <p:spPr>
          <a:xfrm>
            <a:off x="457200" y="304800"/>
            <a:ext cx="8229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提案方向</a:t>
            </a:r>
            <a:endParaRPr/>
          </a:p>
        </p:txBody>
      </p:sp>
      <p:sp>
        <p:nvSpPr>
          <p:cNvPr id="334" name="Google Shape;334;p21"/>
          <p:cNvSpPr txBox="1"/>
          <p:nvPr/>
        </p:nvSpPr>
        <p:spPr>
          <a:xfrm>
            <a:off x="457200" y="853440"/>
            <a:ext cx="8229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8BBCD4"/>
                </a:solidFill>
                <a:latin typeface="Calibri"/>
                <a:ea typeface="Calibri"/>
                <a:cs typeface="Calibri"/>
                <a:sym typeface="Calibri"/>
              </a:rPr>
              <a:t>New Game Rule</a:t>
            </a:r>
            <a:endParaRPr/>
          </a:p>
        </p:txBody>
      </p:sp>
      <p:sp>
        <p:nvSpPr>
          <p:cNvPr id="335" name="Google Shape;335;p21"/>
          <p:cNvSpPr txBox="1"/>
          <p:nvPr/>
        </p:nvSpPr>
        <p:spPr>
          <a:xfrm>
            <a:off x="633149" y="1473875"/>
            <a:ext cx="2005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玩法改動</a:t>
            </a:r>
            <a:endParaRPr/>
          </a:p>
        </p:txBody>
      </p:sp>
      <p:sp>
        <p:nvSpPr>
          <p:cNvPr id="336" name="Google Shape;336;p21"/>
          <p:cNvSpPr/>
          <p:nvPr/>
        </p:nvSpPr>
        <p:spPr>
          <a:xfrm>
            <a:off x="633160" y="1923866"/>
            <a:ext cx="365700" cy="365700"/>
          </a:xfrm>
          <a:prstGeom prst="ellipse">
            <a:avLst/>
          </a:prstGeom>
          <a:solidFill>
            <a:srgbClr val="FFD1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1"/>
          <p:cNvSpPr txBox="1"/>
          <p:nvPr/>
        </p:nvSpPr>
        <p:spPr>
          <a:xfrm>
            <a:off x="633160" y="1923866"/>
            <a:ext cx="365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50D1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38" name="Google Shape;338;p21"/>
          <p:cNvSpPr txBox="1"/>
          <p:nvPr/>
        </p:nvSpPr>
        <p:spPr>
          <a:xfrm>
            <a:off x="1067400" y="1923875"/>
            <a:ext cx="1874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100">
                <a:solidFill>
                  <a:srgbClr val="BBCFE0"/>
                </a:solidFill>
                <a:latin typeface="Calibri"/>
                <a:ea typeface="Calibri"/>
                <a:cs typeface="Calibri"/>
                <a:sym typeface="Calibri"/>
              </a:rPr>
              <a:t>Base Game 新增倍數 </a:t>
            </a:r>
            <a:endParaRPr/>
          </a:p>
        </p:txBody>
      </p:sp>
      <p:sp>
        <p:nvSpPr>
          <p:cNvPr id="339" name="Google Shape;339;p21"/>
          <p:cNvSpPr/>
          <p:nvPr/>
        </p:nvSpPr>
        <p:spPr>
          <a:xfrm>
            <a:off x="633160" y="2623866"/>
            <a:ext cx="365700" cy="365700"/>
          </a:xfrm>
          <a:prstGeom prst="ellipse">
            <a:avLst/>
          </a:prstGeom>
          <a:solidFill>
            <a:srgbClr val="FFD1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1"/>
          <p:cNvSpPr txBox="1"/>
          <p:nvPr/>
        </p:nvSpPr>
        <p:spPr>
          <a:xfrm>
            <a:off x="633160" y="2623866"/>
            <a:ext cx="365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50D1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41" name="Google Shape;341;p21"/>
          <p:cNvSpPr txBox="1"/>
          <p:nvPr/>
        </p:nvSpPr>
        <p:spPr>
          <a:xfrm>
            <a:off x="1067400" y="2623875"/>
            <a:ext cx="1874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BBCFE0"/>
                </a:solidFill>
                <a:latin typeface="Calibri"/>
                <a:ea typeface="Calibri"/>
                <a:cs typeface="Calibri"/>
                <a:sym typeface="Calibri"/>
              </a:rPr>
              <a:t>Scatter 打擊 OP Jackpot</a:t>
            </a:r>
            <a:endParaRPr/>
          </a:p>
        </p:txBody>
      </p:sp>
      <p:sp>
        <p:nvSpPr>
          <p:cNvPr id="342" name="Google Shape;342;p21"/>
          <p:cNvSpPr/>
          <p:nvPr/>
        </p:nvSpPr>
        <p:spPr>
          <a:xfrm>
            <a:off x="633160" y="3323866"/>
            <a:ext cx="365700" cy="365700"/>
          </a:xfrm>
          <a:prstGeom prst="ellipse">
            <a:avLst/>
          </a:prstGeom>
          <a:solidFill>
            <a:srgbClr val="FFD1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1"/>
          <p:cNvSpPr txBox="1"/>
          <p:nvPr/>
        </p:nvSpPr>
        <p:spPr>
          <a:xfrm>
            <a:off x="633160" y="3323866"/>
            <a:ext cx="365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50D1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44" name="Google Shape;344;p21"/>
          <p:cNvSpPr txBox="1"/>
          <p:nvPr/>
        </p:nvSpPr>
        <p:spPr>
          <a:xfrm>
            <a:off x="1067400" y="3323875"/>
            <a:ext cx="1874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BBCFE0"/>
                </a:solidFill>
                <a:latin typeface="Calibri"/>
                <a:ea typeface="Calibri"/>
                <a:cs typeface="Calibri"/>
                <a:sym typeface="Calibri"/>
              </a:rPr>
              <a:t>倍數每次消除都會變大</a:t>
            </a:r>
            <a:endParaRPr/>
          </a:p>
        </p:txBody>
      </p:sp>
      <p:sp>
        <p:nvSpPr>
          <p:cNvPr id="345" name="Google Shape;345;p21"/>
          <p:cNvSpPr/>
          <p:nvPr/>
        </p:nvSpPr>
        <p:spPr>
          <a:xfrm>
            <a:off x="633160" y="4023866"/>
            <a:ext cx="365700" cy="365700"/>
          </a:xfrm>
          <a:prstGeom prst="ellipse">
            <a:avLst/>
          </a:prstGeom>
          <a:solidFill>
            <a:srgbClr val="FFD1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1"/>
          <p:cNvSpPr txBox="1"/>
          <p:nvPr/>
        </p:nvSpPr>
        <p:spPr>
          <a:xfrm>
            <a:off x="633160" y="4023866"/>
            <a:ext cx="365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50D1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347" name="Google Shape;347;p21"/>
          <p:cNvSpPr txBox="1"/>
          <p:nvPr/>
        </p:nvSpPr>
        <p:spPr>
          <a:xfrm>
            <a:off x="1067400" y="4023875"/>
            <a:ext cx="1874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BBCFE0"/>
                </a:solidFill>
                <a:latin typeface="Calibri"/>
                <a:ea typeface="Calibri"/>
                <a:cs typeface="Calibri"/>
                <a:sym typeface="Calibri"/>
              </a:rPr>
              <a:t>Extra Bet : 5G 作法</a:t>
            </a:r>
            <a:endParaRPr/>
          </a:p>
        </p:txBody>
      </p:sp>
      <p:sp>
        <p:nvSpPr>
          <p:cNvPr id="348" name="Google Shape;348;p21"/>
          <p:cNvSpPr txBox="1"/>
          <p:nvPr/>
        </p:nvSpPr>
        <p:spPr>
          <a:xfrm>
            <a:off x="3047250" y="464886"/>
            <a:ext cx="4400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輪帶倍率分布</a:t>
            </a:r>
            <a:endParaRPr/>
          </a:p>
        </p:txBody>
      </p:sp>
      <p:sp>
        <p:nvSpPr>
          <p:cNvPr id="349" name="Google Shape;349;p21"/>
          <p:cNvSpPr/>
          <p:nvPr/>
        </p:nvSpPr>
        <p:spPr>
          <a:xfrm>
            <a:off x="3151434" y="861384"/>
            <a:ext cx="537300" cy="523800"/>
          </a:xfrm>
          <a:prstGeom prst="rect">
            <a:avLst/>
          </a:prstGeom>
          <a:solidFill>
            <a:srgbClr val="204060"/>
          </a:solidFill>
          <a:ln>
            <a:noFill/>
          </a:ln>
          <a:effectLst>
            <a:outerShdw blurRad="47829" rotWithShape="0" dir="5400000" dist="27502">
              <a:srgbClr val="000000">
                <a:alpha val="34900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1"/>
          <p:cNvSpPr txBox="1"/>
          <p:nvPr/>
        </p:nvSpPr>
        <p:spPr>
          <a:xfrm>
            <a:off x="3151434" y="959261"/>
            <a:ext cx="537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b="1" lang="en-US" sz="1554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674"/>
          </a:p>
        </p:txBody>
      </p:sp>
      <p:sp>
        <p:nvSpPr>
          <p:cNvPr id="351" name="Google Shape;351;p21"/>
          <p:cNvSpPr/>
          <p:nvPr/>
        </p:nvSpPr>
        <p:spPr>
          <a:xfrm>
            <a:off x="3731254" y="861384"/>
            <a:ext cx="537300" cy="523800"/>
          </a:xfrm>
          <a:prstGeom prst="rect">
            <a:avLst/>
          </a:prstGeom>
          <a:solidFill>
            <a:srgbClr val="204060"/>
          </a:solidFill>
          <a:ln>
            <a:noFill/>
          </a:ln>
          <a:effectLst>
            <a:outerShdw blurRad="47829" rotWithShape="0" dir="5400000" dist="27502">
              <a:srgbClr val="000000">
                <a:alpha val="34900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1"/>
          <p:cNvSpPr txBox="1"/>
          <p:nvPr/>
        </p:nvSpPr>
        <p:spPr>
          <a:xfrm>
            <a:off x="3731254" y="959261"/>
            <a:ext cx="537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b="1" lang="en-US" sz="1554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674"/>
          </a:p>
        </p:txBody>
      </p:sp>
      <p:sp>
        <p:nvSpPr>
          <p:cNvPr id="353" name="Google Shape;353;p21"/>
          <p:cNvSpPr/>
          <p:nvPr/>
        </p:nvSpPr>
        <p:spPr>
          <a:xfrm>
            <a:off x="4311073" y="861384"/>
            <a:ext cx="537300" cy="523800"/>
          </a:xfrm>
          <a:prstGeom prst="rect">
            <a:avLst/>
          </a:prstGeom>
          <a:solidFill>
            <a:srgbClr val="204060"/>
          </a:solidFill>
          <a:ln>
            <a:noFill/>
          </a:ln>
          <a:effectLst>
            <a:outerShdw blurRad="47829" rotWithShape="0" dir="5400000" dist="27502">
              <a:srgbClr val="000000">
                <a:alpha val="34900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1"/>
          <p:cNvSpPr txBox="1"/>
          <p:nvPr/>
        </p:nvSpPr>
        <p:spPr>
          <a:xfrm>
            <a:off x="4311073" y="959261"/>
            <a:ext cx="537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b="1" lang="en-US" sz="1554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674"/>
          </a:p>
        </p:txBody>
      </p:sp>
      <p:sp>
        <p:nvSpPr>
          <p:cNvPr id="355" name="Google Shape;355;p21"/>
          <p:cNvSpPr/>
          <p:nvPr/>
        </p:nvSpPr>
        <p:spPr>
          <a:xfrm>
            <a:off x="4890892" y="861384"/>
            <a:ext cx="537300" cy="523800"/>
          </a:xfrm>
          <a:prstGeom prst="rect">
            <a:avLst/>
          </a:prstGeom>
          <a:solidFill>
            <a:srgbClr val="204060"/>
          </a:solidFill>
          <a:ln>
            <a:noFill/>
          </a:ln>
          <a:effectLst>
            <a:outerShdw blurRad="47829" rotWithShape="0" dir="5400000" dist="27502">
              <a:srgbClr val="000000">
                <a:alpha val="34900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1"/>
          <p:cNvSpPr txBox="1"/>
          <p:nvPr/>
        </p:nvSpPr>
        <p:spPr>
          <a:xfrm>
            <a:off x="4890892" y="959261"/>
            <a:ext cx="537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b="1" lang="en-US" sz="1554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674"/>
          </a:p>
        </p:txBody>
      </p:sp>
      <p:sp>
        <p:nvSpPr>
          <p:cNvPr id="357" name="Google Shape;357;p21"/>
          <p:cNvSpPr/>
          <p:nvPr/>
        </p:nvSpPr>
        <p:spPr>
          <a:xfrm>
            <a:off x="5470711" y="861394"/>
            <a:ext cx="537300" cy="523800"/>
          </a:xfrm>
          <a:prstGeom prst="rect">
            <a:avLst/>
          </a:prstGeom>
          <a:solidFill>
            <a:srgbClr val="204060"/>
          </a:solidFill>
          <a:ln>
            <a:noFill/>
          </a:ln>
          <a:effectLst>
            <a:outerShdw blurRad="47829" rotWithShape="0" dir="5400000" dist="27502">
              <a:srgbClr val="000000">
                <a:alpha val="34900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1"/>
          <p:cNvSpPr txBox="1"/>
          <p:nvPr/>
        </p:nvSpPr>
        <p:spPr>
          <a:xfrm>
            <a:off x="5470711" y="959270"/>
            <a:ext cx="537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b="1" lang="en-US" sz="1554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674"/>
          </a:p>
        </p:txBody>
      </p:sp>
      <p:sp>
        <p:nvSpPr>
          <p:cNvPr id="359" name="Google Shape;359;p21"/>
          <p:cNvSpPr/>
          <p:nvPr/>
        </p:nvSpPr>
        <p:spPr>
          <a:xfrm>
            <a:off x="6050530" y="861394"/>
            <a:ext cx="537300" cy="523800"/>
          </a:xfrm>
          <a:prstGeom prst="rect">
            <a:avLst/>
          </a:prstGeom>
          <a:solidFill>
            <a:srgbClr val="204060"/>
          </a:solidFill>
          <a:ln>
            <a:noFill/>
          </a:ln>
          <a:effectLst>
            <a:outerShdw blurRad="47829" rotWithShape="0" dir="5400000" dist="27502">
              <a:srgbClr val="000000">
                <a:alpha val="34900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1"/>
          <p:cNvSpPr txBox="1"/>
          <p:nvPr/>
        </p:nvSpPr>
        <p:spPr>
          <a:xfrm>
            <a:off x="6050530" y="959270"/>
            <a:ext cx="537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×1</a:t>
            </a:r>
            <a:r>
              <a:rPr b="1" lang="en-US" sz="1554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674"/>
          </a:p>
        </p:txBody>
      </p:sp>
      <p:sp>
        <p:nvSpPr>
          <p:cNvPr id="361" name="Google Shape;361;p21"/>
          <p:cNvSpPr/>
          <p:nvPr/>
        </p:nvSpPr>
        <p:spPr>
          <a:xfrm>
            <a:off x="6630350" y="861394"/>
            <a:ext cx="537300" cy="523800"/>
          </a:xfrm>
          <a:prstGeom prst="rect">
            <a:avLst/>
          </a:prstGeom>
          <a:solidFill>
            <a:srgbClr val="204060"/>
          </a:solidFill>
          <a:ln>
            <a:noFill/>
          </a:ln>
          <a:effectLst>
            <a:outerShdw blurRad="47829" rotWithShape="0" dir="5400000" dist="27502">
              <a:srgbClr val="000000">
                <a:alpha val="34900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1"/>
          <p:cNvSpPr txBox="1"/>
          <p:nvPr/>
        </p:nvSpPr>
        <p:spPr>
          <a:xfrm>
            <a:off x="6630350" y="959270"/>
            <a:ext cx="537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b="1" lang="en-US" sz="1554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1674"/>
          </a:p>
        </p:txBody>
      </p:sp>
      <p:sp>
        <p:nvSpPr>
          <p:cNvPr id="363" name="Google Shape;363;p21"/>
          <p:cNvSpPr/>
          <p:nvPr/>
        </p:nvSpPr>
        <p:spPr>
          <a:xfrm>
            <a:off x="3151453" y="1467980"/>
            <a:ext cx="537300" cy="523800"/>
          </a:xfrm>
          <a:prstGeom prst="rect">
            <a:avLst/>
          </a:prstGeom>
          <a:solidFill>
            <a:srgbClr val="204060"/>
          </a:solidFill>
          <a:ln>
            <a:noFill/>
          </a:ln>
          <a:effectLst>
            <a:outerShdw blurRad="47829" rotWithShape="0" dir="5400000" dist="27502">
              <a:srgbClr val="000000">
                <a:alpha val="34900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1"/>
          <p:cNvSpPr txBox="1"/>
          <p:nvPr/>
        </p:nvSpPr>
        <p:spPr>
          <a:xfrm>
            <a:off x="3151453" y="1565856"/>
            <a:ext cx="537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b="1" lang="en-US" sz="1554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1674"/>
          </a:p>
        </p:txBody>
      </p:sp>
      <p:sp>
        <p:nvSpPr>
          <p:cNvPr id="365" name="Google Shape;365;p21"/>
          <p:cNvSpPr/>
          <p:nvPr/>
        </p:nvSpPr>
        <p:spPr>
          <a:xfrm>
            <a:off x="3731272" y="1467980"/>
            <a:ext cx="537300" cy="523800"/>
          </a:xfrm>
          <a:prstGeom prst="rect">
            <a:avLst/>
          </a:prstGeom>
          <a:solidFill>
            <a:srgbClr val="204060"/>
          </a:solidFill>
          <a:ln>
            <a:noFill/>
          </a:ln>
          <a:effectLst>
            <a:outerShdw blurRad="47829" rotWithShape="0" dir="5400000" dist="27502">
              <a:srgbClr val="000000">
                <a:alpha val="34900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1"/>
          <p:cNvSpPr txBox="1"/>
          <p:nvPr/>
        </p:nvSpPr>
        <p:spPr>
          <a:xfrm>
            <a:off x="3731272" y="1565856"/>
            <a:ext cx="537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b="1" lang="en-US" sz="1554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74"/>
          </a:p>
        </p:txBody>
      </p:sp>
      <p:sp>
        <p:nvSpPr>
          <p:cNvPr id="367" name="Google Shape;367;p21"/>
          <p:cNvSpPr/>
          <p:nvPr/>
        </p:nvSpPr>
        <p:spPr>
          <a:xfrm>
            <a:off x="5470730" y="1473877"/>
            <a:ext cx="537300" cy="523800"/>
          </a:xfrm>
          <a:prstGeom prst="rect">
            <a:avLst/>
          </a:prstGeom>
          <a:solidFill>
            <a:srgbClr val="6B2121"/>
          </a:solidFill>
          <a:ln>
            <a:noFill/>
          </a:ln>
          <a:effectLst>
            <a:outerShdw blurRad="47829" rotWithShape="0" dir="5400000" dist="27502">
              <a:srgbClr val="000000">
                <a:alpha val="34900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1"/>
          <p:cNvSpPr txBox="1"/>
          <p:nvPr/>
        </p:nvSpPr>
        <p:spPr>
          <a:xfrm>
            <a:off x="5428210" y="1571753"/>
            <a:ext cx="6225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×100</a:t>
            </a:r>
            <a:endParaRPr sz="1674"/>
          </a:p>
        </p:txBody>
      </p:sp>
      <p:sp>
        <p:nvSpPr>
          <p:cNvPr id="369" name="Google Shape;369;p21"/>
          <p:cNvSpPr/>
          <p:nvPr/>
        </p:nvSpPr>
        <p:spPr>
          <a:xfrm>
            <a:off x="6050550" y="1473877"/>
            <a:ext cx="537300" cy="523800"/>
          </a:xfrm>
          <a:prstGeom prst="rect">
            <a:avLst/>
          </a:prstGeom>
          <a:solidFill>
            <a:srgbClr val="6B2121"/>
          </a:solidFill>
          <a:ln>
            <a:noFill/>
          </a:ln>
          <a:effectLst>
            <a:outerShdw blurRad="47829" rotWithShape="0" dir="5400000" dist="27502">
              <a:srgbClr val="000000">
                <a:alpha val="34900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1"/>
          <p:cNvSpPr txBox="1"/>
          <p:nvPr/>
        </p:nvSpPr>
        <p:spPr>
          <a:xfrm>
            <a:off x="5940758" y="1571753"/>
            <a:ext cx="7569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×500</a:t>
            </a:r>
            <a:endParaRPr sz="1674"/>
          </a:p>
        </p:txBody>
      </p:sp>
      <p:sp>
        <p:nvSpPr>
          <p:cNvPr id="371" name="Google Shape;371;p2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2" name="Google Shape;372;p21"/>
          <p:cNvSpPr/>
          <p:nvPr/>
        </p:nvSpPr>
        <p:spPr>
          <a:xfrm>
            <a:off x="4311073" y="1473884"/>
            <a:ext cx="537300" cy="523800"/>
          </a:xfrm>
          <a:prstGeom prst="rect">
            <a:avLst/>
          </a:prstGeom>
          <a:solidFill>
            <a:srgbClr val="204060"/>
          </a:solidFill>
          <a:ln>
            <a:noFill/>
          </a:ln>
          <a:effectLst>
            <a:outerShdw blurRad="47829" rotWithShape="0" dir="5400000" dist="27502">
              <a:srgbClr val="000000">
                <a:alpha val="34900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1"/>
          <p:cNvSpPr txBox="1"/>
          <p:nvPr/>
        </p:nvSpPr>
        <p:spPr>
          <a:xfrm>
            <a:off x="4311073" y="1571761"/>
            <a:ext cx="537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b="1" lang="en-US" sz="1554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sz="1674"/>
          </a:p>
        </p:txBody>
      </p:sp>
      <p:sp>
        <p:nvSpPr>
          <p:cNvPr id="374" name="Google Shape;374;p21"/>
          <p:cNvSpPr/>
          <p:nvPr/>
        </p:nvSpPr>
        <p:spPr>
          <a:xfrm>
            <a:off x="4890892" y="1473884"/>
            <a:ext cx="537300" cy="523800"/>
          </a:xfrm>
          <a:prstGeom prst="rect">
            <a:avLst/>
          </a:prstGeom>
          <a:solidFill>
            <a:srgbClr val="204060"/>
          </a:solidFill>
          <a:ln>
            <a:noFill/>
          </a:ln>
          <a:effectLst>
            <a:outerShdw blurRad="47829" rotWithShape="0" dir="5400000" dist="27502">
              <a:srgbClr val="000000">
                <a:alpha val="34900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1"/>
          <p:cNvSpPr txBox="1"/>
          <p:nvPr/>
        </p:nvSpPr>
        <p:spPr>
          <a:xfrm>
            <a:off x="4890892" y="1571761"/>
            <a:ext cx="537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b="1" lang="en-US" sz="1554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 sz="1674"/>
          </a:p>
        </p:txBody>
      </p:sp>
      <p:sp>
        <p:nvSpPr>
          <p:cNvPr id="376" name="Google Shape;376;p21"/>
          <p:cNvSpPr/>
          <p:nvPr/>
        </p:nvSpPr>
        <p:spPr>
          <a:xfrm>
            <a:off x="6630350" y="1473877"/>
            <a:ext cx="537300" cy="523800"/>
          </a:xfrm>
          <a:prstGeom prst="rect">
            <a:avLst/>
          </a:prstGeom>
          <a:solidFill>
            <a:srgbClr val="6B2121"/>
          </a:solidFill>
          <a:ln>
            <a:noFill/>
          </a:ln>
          <a:effectLst>
            <a:outerShdw blurRad="47829" rotWithShape="0" dir="5400000" dist="27502">
              <a:srgbClr val="000000">
                <a:alpha val="34900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1"/>
          <p:cNvSpPr txBox="1"/>
          <p:nvPr/>
        </p:nvSpPr>
        <p:spPr>
          <a:xfrm>
            <a:off x="6520558" y="1571753"/>
            <a:ext cx="7569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b="1" lang="en-US" sz="1554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 sz="1674"/>
          </a:p>
        </p:txBody>
      </p:sp>
      <p:pic>
        <p:nvPicPr>
          <p:cNvPr id="378" name="Google Shape;37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1450" y="2150225"/>
            <a:ext cx="3531320" cy="25292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21" title="螢幕擷取畫面 2026-06-08 163708.png"/>
          <p:cNvPicPr preferRelativeResize="0"/>
          <p:nvPr/>
        </p:nvPicPr>
        <p:blipFill rotWithShape="1">
          <a:blip r:embed="rId4">
            <a:alphaModFix/>
          </a:blip>
          <a:srcRect b="18544" l="72212" r="799" t="73766"/>
          <a:stretch/>
        </p:blipFill>
        <p:spPr>
          <a:xfrm>
            <a:off x="6869025" y="2207319"/>
            <a:ext cx="1019644" cy="516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69025" y="2953400"/>
            <a:ext cx="1030757" cy="647375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21"/>
          <p:cNvSpPr/>
          <p:nvPr/>
        </p:nvSpPr>
        <p:spPr>
          <a:xfrm>
            <a:off x="633160" y="4635066"/>
            <a:ext cx="365700" cy="365700"/>
          </a:xfrm>
          <a:prstGeom prst="ellipse">
            <a:avLst/>
          </a:prstGeom>
          <a:solidFill>
            <a:srgbClr val="FFD1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1"/>
          <p:cNvSpPr txBox="1"/>
          <p:nvPr/>
        </p:nvSpPr>
        <p:spPr>
          <a:xfrm>
            <a:off x="633160" y="4635066"/>
            <a:ext cx="365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50D1A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383" name="Google Shape;383;p21"/>
          <p:cNvSpPr txBox="1"/>
          <p:nvPr/>
        </p:nvSpPr>
        <p:spPr>
          <a:xfrm>
            <a:off x="1067400" y="4635075"/>
            <a:ext cx="1874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BBCFE0"/>
                </a:solidFill>
                <a:latin typeface="Calibri"/>
                <a:ea typeface="Calibri"/>
                <a:cs typeface="Calibri"/>
                <a:sym typeface="Calibri"/>
              </a:rPr>
              <a:t>最大倍數 2500</a:t>
            </a:r>
            <a:endParaRPr sz="1100">
              <a:solidFill>
                <a:srgbClr val="BBCFE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1"/>
          <p:cNvSpPr/>
          <p:nvPr/>
        </p:nvSpPr>
        <p:spPr>
          <a:xfrm>
            <a:off x="7387250" y="853447"/>
            <a:ext cx="1173600" cy="1144200"/>
          </a:xfrm>
          <a:prstGeom prst="rect">
            <a:avLst/>
          </a:prstGeom>
          <a:solidFill>
            <a:srgbClr val="6B2121"/>
          </a:solidFill>
          <a:ln>
            <a:noFill/>
          </a:ln>
          <a:effectLst>
            <a:outerShdw blurRad="47829" rotWithShape="0" dir="5400000" dist="27502">
              <a:srgbClr val="000000">
                <a:alpha val="34900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1"/>
          <p:cNvSpPr txBox="1"/>
          <p:nvPr/>
        </p:nvSpPr>
        <p:spPr>
          <a:xfrm>
            <a:off x="7595608" y="1250653"/>
            <a:ext cx="7569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54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x2500</a:t>
            </a:r>
            <a:endParaRPr sz="1674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D1A"/>
        </a:solidFill>
      </p:bgPr>
    </p:bg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2"/>
          <p:cNvSpPr txBox="1"/>
          <p:nvPr/>
        </p:nvSpPr>
        <p:spPr>
          <a:xfrm>
            <a:off x="457200" y="304800"/>
            <a:ext cx="8229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提案方向</a:t>
            </a:r>
            <a:endParaRPr/>
          </a:p>
        </p:txBody>
      </p:sp>
      <p:sp>
        <p:nvSpPr>
          <p:cNvPr id="391" name="Google Shape;391;p22"/>
          <p:cNvSpPr txBox="1"/>
          <p:nvPr/>
        </p:nvSpPr>
        <p:spPr>
          <a:xfrm>
            <a:off x="457200" y="853440"/>
            <a:ext cx="8229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8BBCD4"/>
                </a:solidFill>
                <a:latin typeface="Calibri"/>
                <a:ea typeface="Calibri"/>
                <a:cs typeface="Calibri"/>
                <a:sym typeface="Calibri"/>
              </a:rPr>
              <a:t>New Game Rule</a:t>
            </a:r>
            <a:endParaRPr/>
          </a:p>
        </p:txBody>
      </p:sp>
      <p:sp>
        <p:nvSpPr>
          <p:cNvPr id="392" name="Google Shape;392;p22"/>
          <p:cNvSpPr txBox="1"/>
          <p:nvPr/>
        </p:nvSpPr>
        <p:spPr>
          <a:xfrm>
            <a:off x="633149" y="1473875"/>
            <a:ext cx="2005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玩法改動</a:t>
            </a:r>
            <a:endParaRPr/>
          </a:p>
        </p:txBody>
      </p:sp>
      <p:sp>
        <p:nvSpPr>
          <p:cNvPr id="393" name="Google Shape;393;p22"/>
          <p:cNvSpPr/>
          <p:nvPr/>
        </p:nvSpPr>
        <p:spPr>
          <a:xfrm>
            <a:off x="633160" y="1923866"/>
            <a:ext cx="365700" cy="365700"/>
          </a:xfrm>
          <a:prstGeom prst="ellipse">
            <a:avLst/>
          </a:prstGeom>
          <a:solidFill>
            <a:srgbClr val="FFD1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2"/>
          <p:cNvSpPr txBox="1"/>
          <p:nvPr/>
        </p:nvSpPr>
        <p:spPr>
          <a:xfrm>
            <a:off x="633160" y="1923866"/>
            <a:ext cx="365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50D1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95" name="Google Shape;395;p22"/>
          <p:cNvSpPr txBox="1"/>
          <p:nvPr/>
        </p:nvSpPr>
        <p:spPr>
          <a:xfrm>
            <a:off x="1067400" y="1923875"/>
            <a:ext cx="1874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100">
                <a:solidFill>
                  <a:srgbClr val="BBCFE0"/>
                </a:solidFill>
                <a:latin typeface="Calibri"/>
                <a:ea typeface="Calibri"/>
                <a:cs typeface="Calibri"/>
                <a:sym typeface="Calibri"/>
              </a:rPr>
              <a:t>Base Game 新增倍數 </a:t>
            </a:r>
            <a:endParaRPr/>
          </a:p>
        </p:txBody>
      </p:sp>
      <p:sp>
        <p:nvSpPr>
          <p:cNvPr id="396" name="Google Shape;396;p22"/>
          <p:cNvSpPr txBox="1"/>
          <p:nvPr/>
        </p:nvSpPr>
        <p:spPr>
          <a:xfrm>
            <a:off x="3047250" y="464886"/>
            <a:ext cx="4400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輪帶倍率分布</a:t>
            </a:r>
            <a:endParaRPr/>
          </a:p>
        </p:txBody>
      </p:sp>
      <p:sp>
        <p:nvSpPr>
          <p:cNvPr id="397" name="Google Shape;397;p22"/>
          <p:cNvSpPr/>
          <p:nvPr/>
        </p:nvSpPr>
        <p:spPr>
          <a:xfrm>
            <a:off x="3151434" y="861384"/>
            <a:ext cx="537300" cy="523800"/>
          </a:xfrm>
          <a:prstGeom prst="rect">
            <a:avLst/>
          </a:prstGeom>
          <a:solidFill>
            <a:srgbClr val="204060"/>
          </a:solidFill>
          <a:ln>
            <a:noFill/>
          </a:ln>
          <a:effectLst>
            <a:outerShdw blurRad="47829" rotWithShape="0" dir="5400000" dist="27502">
              <a:srgbClr val="000000">
                <a:alpha val="34900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2"/>
          <p:cNvSpPr txBox="1"/>
          <p:nvPr/>
        </p:nvSpPr>
        <p:spPr>
          <a:xfrm>
            <a:off x="3151434" y="959261"/>
            <a:ext cx="537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b="1" lang="en-US" sz="1554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674"/>
          </a:p>
        </p:txBody>
      </p:sp>
      <p:sp>
        <p:nvSpPr>
          <p:cNvPr id="399" name="Google Shape;399;p22"/>
          <p:cNvSpPr/>
          <p:nvPr/>
        </p:nvSpPr>
        <p:spPr>
          <a:xfrm>
            <a:off x="3731254" y="861384"/>
            <a:ext cx="537300" cy="523800"/>
          </a:xfrm>
          <a:prstGeom prst="rect">
            <a:avLst/>
          </a:prstGeom>
          <a:solidFill>
            <a:srgbClr val="204060"/>
          </a:solidFill>
          <a:ln>
            <a:noFill/>
          </a:ln>
          <a:effectLst>
            <a:outerShdw blurRad="47829" rotWithShape="0" dir="5400000" dist="27502">
              <a:srgbClr val="000000">
                <a:alpha val="34900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2"/>
          <p:cNvSpPr txBox="1"/>
          <p:nvPr/>
        </p:nvSpPr>
        <p:spPr>
          <a:xfrm>
            <a:off x="3731254" y="959261"/>
            <a:ext cx="537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b="1" lang="en-US" sz="1554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674"/>
          </a:p>
        </p:txBody>
      </p:sp>
      <p:sp>
        <p:nvSpPr>
          <p:cNvPr id="401" name="Google Shape;401;p22"/>
          <p:cNvSpPr/>
          <p:nvPr/>
        </p:nvSpPr>
        <p:spPr>
          <a:xfrm>
            <a:off x="4311073" y="861384"/>
            <a:ext cx="537300" cy="523800"/>
          </a:xfrm>
          <a:prstGeom prst="rect">
            <a:avLst/>
          </a:prstGeom>
          <a:solidFill>
            <a:srgbClr val="204060"/>
          </a:solidFill>
          <a:ln>
            <a:noFill/>
          </a:ln>
          <a:effectLst>
            <a:outerShdw blurRad="47829" rotWithShape="0" dir="5400000" dist="27502">
              <a:srgbClr val="000000">
                <a:alpha val="34900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2"/>
          <p:cNvSpPr txBox="1"/>
          <p:nvPr/>
        </p:nvSpPr>
        <p:spPr>
          <a:xfrm>
            <a:off x="4311073" y="959261"/>
            <a:ext cx="537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b="1" lang="en-US" sz="1554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674"/>
          </a:p>
        </p:txBody>
      </p:sp>
      <p:sp>
        <p:nvSpPr>
          <p:cNvPr id="403" name="Google Shape;403;p22"/>
          <p:cNvSpPr/>
          <p:nvPr/>
        </p:nvSpPr>
        <p:spPr>
          <a:xfrm>
            <a:off x="4890892" y="861384"/>
            <a:ext cx="537300" cy="523800"/>
          </a:xfrm>
          <a:prstGeom prst="rect">
            <a:avLst/>
          </a:prstGeom>
          <a:solidFill>
            <a:srgbClr val="204060"/>
          </a:solidFill>
          <a:ln>
            <a:noFill/>
          </a:ln>
          <a:effectLst>
            <a:outerShdw blurRad="47829" rotWithShape="0" dir="5400000" dist="27502">
              <a:srgbClr val="000000">
                <a:alpha val="34900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2"/>
          <p:cNvSpPr txBox="1"/>
          <p:nvPr/>
        </p:nvSpPr>
        <p:spPr>
          <a:xfrm>
            <a:off x="4890892" y="959261"/>
            <a:ext cx="537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b="1" lang="en-US" sz="1554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674"/>
          </a:p>
        </p:txBody>
      </p:sp>
      <p:sp>
        <p:nvSpPr>
          <p:cNvPr id="405" name="Google Shape;405;p22"/>
          <p:cNvSpPr/>
          <p:nvPr/>
        </p:nvSpPr>
        <p:spPr>
          <a:xfrm>
            <a:off x="5470711" y="861394"/>
            <a:ext cx="537300" cy="523800"/>
          </a:xfrm>
          <a:prstGeom prst="rect">
            <a:avLst/>
          </a:prstGeom>
          <a:solidFill>
            <a:srgbClr val="204060"/>
          </a:solidFill>
          <a:ln>
            <a:noFill/>
          </a:ln>
          <a:effectLst>
            <a:outerShdw blurRad="47829" rotWithShape="0" dir="5400000" dist="27502">
              <a:srgbClr val="000000">
                <a:alpha val="34900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2"/>
          <p:cNvSpPr txBox="1"/>
          <p:nvPr/>
        </p:nvSpPr>
        <p:spPr>
          <a:xfrm>
            <a:off x="5470711" y="959270"/>
            <a:ext cx="537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b="1" lang="en-US" sz="1554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674"/>
          </a:p>
        </p:txBody>
      </p:sp>
      <p:sp>
        <p:nvSpPr>
          <p:cNvPr id="407" name="Google Shape;407;p22"/>
          <p:cNvSpPr/>
          <p:nvPr/>
        </p:nvSpPr>
        <p:spPr>
          <a:xfrm>
            <a:off x="6050530" y="861394"/>
            <a:ext cx="537300" cy="523800"/>
          </a:xfrm>
          <a:prstGeom prst="rect">
            <a:avLst/>
          </a:prstGeom>
          <a:solidFill>
            <a:srgbClr val="204060"/>
          </a:solidFill>
          <a:ln>
            <a:noFill/>
          </a:ln>
          <a:effectLst>
            <a:outerShdw blurRad="47829" rotWithShape="0" dir="5400000" dist="27502">
              <a:srgbClr val="000000">
                <a:alpha val="34900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2"/>
          <p:cNvSpPr txBox="1"/>
          <p:nvPr/>
        </p:nvSpPr>
        <p:spPr>
          <a:xfrm>
            <a:off x="6050530" y="959270"/>
            <a:ext cx="537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×1</a:t>
            </a:r>
            <a:r>
              <a:rPr b="1" lang="en-US" sz="1554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674"/>
          </a:p>
        </p:txBody>
      </p:sp>
      <p:sp>
        <p:nvSpPr>
          <p:cNvPr id="409" name="Google Shape;409;p22"/>
          <p:cNvSpPr/>
          <p:nvPr/>
        </p:nvSpPr>
        <p:spPr>
          <a:xfrm>
            <a:off x="6630350" y="861394"/>
            <a:ext cx="537300" cy="523800"/>
          </a:xfrm>
          <a:prstGeom prst="rect">
            <a:avLst/>
          </a:prstGeom>
          <a:solidFill>
            <a:srgbClr val="204060"/>
          </a:solidFill>
          <a:ln>
            <a:noFill/>
          </a:ln>
          <a:effectLst>
            <a:outerShdw blurRad="47829" rotWithShape="0" dir="5400000" dist="27502">
              <a:srgbClr val="000000">
                <a:alpha val="34900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2"/>
          <p:cNvSpPr txBox="1"/>
          <p:nvPr/>
        </p:nvSpPr>
        <p:spPr>
          <a:xfrm>
            <a:off x="6630350" y="959270"/>
            <a:ext cx="537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b="1" lang="en-US" sz="1554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1674"/>
          </a:p>
        </p:txBody>
      </p:sp>
      <p:sp>
        <p:nvSpPr>
          <p:cNvPr id="411" name="Google Shape;411;p22"/>
          <p:cNvSpPr/>
          <p:nvPr/>
        </p:nvSpPr>
        <p:spPr>
          <a:xfrm>
            <a:off x="3151453" y="1467980"/>
            <a:ext cx="537300" cy="523800"/>
          </a:xfrm>
          <a:prstGeom prst="rect">
            <a:avLst/>
          </a:prstGeom>
          <a:solidFill>
            <a:srgbClr val="204060"/>
          </a:solidFill>
          <a:ln>
            <a:noFill/>
          </a:ln>
          <a:effectLst>
            <a:outerShdw blurRad="47829" rotWithShape="0" dir="5400000" dist="27502">
              <a:srgbClr val="000000">
                <a:alpha val="34900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2"/>
          <p:cNvSpPr txBox="1"/>
          <p:nvPr/>
        </p:nvSpPr>
        <p:spPr>
          <a:xfrm>
            <a:off x="3151453" y="1565856"/>
            <a:ext cx="537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b="1" lang="en-US" sz="1554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1674"/>
          </a:p>
        </p:txBody>
      </p:sp>
      <p:sp>
        <p:nvSpPr>
          <p:cNvPr id="413" name="Google Shape;413;p22"/>
          <p:cNvSpPr/>
          <p:nvPr/>
        </p:nvSpPr>
        <p:spPr>
          <a:xfrm>
            <a:off x="3731272" y="1467980"/>
            <a:ext cx="537300" cy="523800"/>
          </a:xfrm>
          <a:prstGeom prst="rect">
            <a:avLst/>
          </a:prstGeom>
          <a:solidFill>
            <a:srgbClr val="204060"/>
          </a:solidFill>
          <a:ln>
            <a:noFill/>
          </a:ln>
          <a:effectLst>
            <a:outerShdw blurRad="47829" rotWithShape="0" dir="5400000" dist="27502">
              <a:srgbClr val="000000">
                <a:alpha val="34900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2"/>
          <p:cNvSpPr txBox="1"/>
          <p:nvPr/>
        </p:nvSpPr>
        <p:spPr>
          <a:xfrm>
            <a:off x="3731272" y="1565856"/>
            <a:ext cx="537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b="1" lang="en-US" sz="1554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74"/>
          </a:p>
        </p:txBody>
      </p:sp>
      <p:sp>
        <p:nvSpPr>
          <p:cNvPr id="415" name="Google Shape;415;p22"/>
          <p:cNvSpPr/>
          <p:nvPr/>
        </p:nvSpPr>
        <p:spPr>
          <a:xfrm>
            <a:off x="5470730" y="1473877"/>
            <a:ext cx="537300" cy="523800"/>
          </a:xfrm>
          <a:prstGeom prst="rect">
            <a:avLst/>
          </a:prstGeom>
          <a:solidFill>
            <a:srgbClr val="6B2121"/>
          </a:solidFill>
          <a:ln>
            <a:noFill/>
          </a:ln>
          <a:effectLst>
            <a:outerShdw blurRad="47829" rotWithShape="0" dir="5400000" dist="27502">
              <a:srgbClr val="000000">
                <a:alpha val="34900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2"/>
          <p:cNvSpPr txBox="1"/>
          <p:nvPr/>
        </p:nvSpPr>
        <p:spPr>
          <a:xfrm>
            <a:off x="5428210" y="1571753"/>
            <a:ext cx="6225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×100</a:t>
            </a:r>
            <a:endParaRPr sz="1674"/>
          </a:p>
        </p:txBody>
      </p:sp>
      <p:sp>
        <p:nvSpPr>
          <p:cNvPr id="417" name="Google Shape;417;p22"/>
          <p:cNvSpPr/>
          <p:nvPr/>
        </p:nvSpPr>
        <p:spPr>
          <a:xfrm>
            <a:off x="6050550" y="1473877"/>
            <a:ext cx="537300" cy="523800"/>
          </a:xfrm>
          <a:prstGeom prst="rect">
            <a:avLst/>
          </a:prstGeom>
          <a:solidFill>
            <a:srgbClr val="6B2121"/>
          </a:solidFill>
          <a:ln>
            <a:noFill/>
          </a:ln>
          <a:effectLst>
            <a:outerShdw blurRad="47829" rotWithShape="0" dir="5400000" dist="27502">
              <a:srgbClr val="000000">
                <a:alpha val="34900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2"/>
          <p:cNvSpPr txBox="1"/>
          <p:nvPr/>
        </p:nvSpPr>
        <p:spPr>
          <a:xfrm>
            <a:off x="5940758" y="1571753"/>
            <a:ext cx="7569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×500</a:t>
            </a:r>
            <a:endParaRPr sz="1674"/>
          </a:p>
        </p:txBody>
      </p:sp>
      <p:sp>
        <p:nvSpPr>
          <p:cNvPr id="419" name="Google Shape;419;p2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0" name="Google Shape;420;p22"/>
          <p:cNvSpPr/>
          <p:nvPr/>
        </p:nvSpPr>
        <p:spPr>
          <a:xfrm>
            <a:off x="4311073" y="1473884"/>
            <a:ext cx="537300" cy="523800"/>
          </a:xfrm>
          <a:prstGeom prst="rect">
            <a:avLst/>
          </a:prstGeom>
          <a:solidFill>
            <a:srgbClr val="204060"/>
          </a:solidFill>
          <a:ln>
            <a:noFill/>
          </a:ln>
          <a:effectLst>
            <a:outerShdw blurRad="47829" rotWithShape="0" dir="5400000" dist="27502">
              <a:srgbClr val="000000">
                <a:alpha val="34900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2"/>
          <p:cNvSpPr txBox="1"/>
          <p:nvPr/>
        </p:nvSpPr>
        <p:spPr>
          <a:xfrm>
            <a:off x="4311073" y="1571761"/>
            <a:ext cx="537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b="1" lang="en-US" sz="1554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sz="1674"/>
          </a:p>
        </p:txBody>
      </p:sp>
      <p:sp>
        <p:nvSpPr>
          <p:cNvPr id="422" name="Google Shape;422;p22"/>
          <p:cNvSpPr/>
          <p:nvPr/>
        </p:nvSpPr>
        <p:spPr>
          <a:xfrm>
            <a:off x="4890892" y="1473884"/>
            <a:ext cx="537300" cy="523800"/>
          </a:xfrm>
          <a:prstGeom prst="rect">
            <a:avLst/>
          </a:prstGeom>
          <a:solidFill>
            <a:srgbClr val="204060"/>
          </a:solidFill>
          <a:ln>
            <a:noFill/>
          </a:ln>
          <a:effectLst>
            <a:outerShdw blurRad="47829" rotWithShape="0" dir="5400000" dist="27502">
              <a:srgbClr val="000000">
                <a:alpha val="34900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2"/>
          <p:cNvSpPr txBox="1"/>
          <p:nvPr/>
        </p:nvSpPr>
        <p:spPr>
          <a:xfrm>
            <a:off x="4890892" y="1571761"/>
            <a:ext cx="537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b="1" lang="en-US" sz="1554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 sz="1674"/>
          </a:p>
        </p:txBody>
      </p:sp>
      <p:sp>
        <p:nvSpPr>
          <p:cNvPr id="424" name="Google Shape;424;p22"/>
          <p:cNvSpPr/>
          <p:nvPr/>
        </p:nvSpPr>
        <p:spPr>
          <a:xfrm>
            <a:off x="6630350" y="1473877"/>
            <a:ext cx="537300" cy="523800"/>
          </a:xfrm>
          <a:prstGeom prst="rect">
            <a:avLst/>
          </a:prstGeom>
          <a:solidFill>
            <a:srgbClr val="6B2121"/>
          </a:solidFill>
          <a:ln>
            <a:noFill/>
          </a:ln>
          <a:effectLst>
            <a:outerShdw blurRad="47829" rotWithShape="0" dir="5400000" dist="27502">
              <a:srgbClr val="000000">
                <a:alpha val="34900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2"/>
          <p:cNvSpPr txBox="1"/>
          <p:nvPr/>
        </p:nvSpPr>
        <p:spPr>
          <a:xfrm>
            <a:off x="6520558" y="1571753"/>
            <a:ext cx="7569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b="1" lang="en-US" sz="1554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 sz="1674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D1A"/>
        </a:solidFill>
      </p:bgPr>
    </p:bg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3"/>
          <p:cNvSpPr txBox="1"/>
          <p:nvPr/>
        </p:nvSpPr>
        <p:spPr>
          <a:xfrm>
            <a:off x="457200" y="304800"/>
            <a:ext cx="8229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提案方向</a:t>
            </a:r>
            <a:endParaRPr/>
          </a:p>
        </p:txBody>
      </p:sp>
      <p:sp>
        <p:nvSpPr>
          <p:cNvPr id="431" name="Google Shape;431;p23"/>
          <p:cNvSpPr txBox="1"/>
          <p:nvPr/>
        </p:nvSpPr>
        <p:spPr>
          <a:xfrm>
            <a:off x="457200" y="853440"/>
            <a:ext cx="8229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8BBCD4"/>
                </a:solidFill>
                <a:latin typeface="Calibri"/>
                <a:ea typeface="Calibri"/>
                <a:cs typeface="Calibri"/>
                <a:sym typeface="Calibri"/>
              </a:rPr>
              <a:t>New Game Rule</a:t>
            </a:r>
            <a:endParaRPr/>
          </a:p>
        </p:txBody>
      </p:sp>
      <p:sp>
        <p:nvSpPr>
          <p:cNvPr id="432" name="Google Shape;432;p23"/>
          <p:cNvSpPr txBox="1"/>
          <p:nvPr/>
        </p:nvSpPr>
        <p:spPr>
          <a:xfrm>
            <a:off x="633149" y="1473875"/>
            <a:ext cx="2005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玩法改動</a:t>
            </a:r>
            <a:endParaRPr/>
          </a:p>
        </p:txBody>
      </p:sp>
      <p:sp>
        <p:nvSpPr>
          <p:cNvPr id="433" name="Google Shape;433;p23"/>
          <p:cNvSpPr/>
          <p:nvPr/>
        </p:nvSpPr>
        <p:spPr>
          <a:xfrm>
            <a:off x="633160" y="1923866"/>
            <a:ext cx="365700" cy="365700"/>
          </a:xfrm>
          <a:prstGeom prst="ellipse">
            <a:avLst/>
          </a:prstGeom>
          <a:solidFill>
            <a:srgbClr val="FFD1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3"/>
          <p:cNvSpPr txBox="1"/>
          <p:nvPr/>
        </p:nvSpPr>
        <p:spPr>
          <a:xfrm>
            <a:off x="633160" y="1923866"/>
            <a:ext cx="365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50D1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35" name="Google Shape;435;p23"/>
          <p:cNvSpPr txBox="1"/>
          <p:nvPr/>
        </p:nvSpPr>
        <p:spPr>
          <a:xfrm>
            <a:off x="1067400" y="1923875"/>
            <a:ext cx="1874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100">
                <a:solidFill>
                  <a:srgbClr val="BBCFE0"/>
                </a:solidFill>
                <a:latin typeface="Calibri"/>
                <a:ea typeface="Calibri"/>
                <a:cs typeface="Calibri"/>
                <a:sym typeface="Calibri"/>
              </a:rPr>
              <a:t>Base Game 新增數 </a:t>
            </a:r>
            <a:endParaRPr/>
          </a:p>
        </p:txBody>
      </p:sp>
      <p:sp>
        <p:nvSpPr>
          <p:cNvPr id="436" name="Google Shape;436;p23"/>
          <p:cNvSpPr/>
          <p:nvPr/>
        </p:nvSpPr>
        <p:spPr>
          <a:xfrm>
            <a:off x="633160" y="2623866"/>
            <a:ext cx="365700" cy="365700"/>
          </a:xfrm>
          <a:prstGeom prst="ellipse">
            <a:avLst/>
          </a:prstGeom>
          <a:solidFill>
            <a:srgbClr val="FFD1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3"/>
          <p:cNvSpPr txBox="1"/>
          <p:nvPr/>
        </p:nvSpPr>
        <p:spPr>
          <a:xfrm>
            <a:off x="633160" y="2623866"/>
            <a:ext cx="365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50D1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38" name="Google Shape;438;p23"/>
          <p:cNvSpPr txBox="1"/>
          <p:nvPr/>
        </p:nvSpPr>
        <p:spPr>
          <a:xfrm>
            <a:off x="1067400" y="2623875"/>
            <a:ext cx="1874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BBCFE0"/>
                </a:solidFill>
                <a:latin typeface="Calibri"/>
                <a:ea typeface="Calibri"/>
                <a:cs typeface="Calibri"/>
                <a:sym typeface="Calibri"/>
              </a:rPr>
              <a:t>Scatter 打擊 OP Jackpot</a:t>
            </a:r>
            <a:endParaRPr/>
          </a:p>
        </p:txBody>
      </p:sp>
      <p:sp>
        <p:nvSpPr>
          <p:cNvPr id="439" name="Google Shape;439;p2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40" name="Google Shape;44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1450" y="1781675"/>
            <a:ext cx="2447300" cy="153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D1A"/>
        </a:solidFill>
      </p:bgPr>
    </p:bg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24"/>
          <p:cNvSpPr txBox="1"/>
          <p:nvPr/>
        </p:nvSpPr>
        <p:spPr>
          <a:xfrm>
            <a:off x="457200" y="304800"/>
            <a:ext cx="8229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提案方向</a:t>
            </a:r>
            <a:endParaRPr/>
          </a:p>
        </p:txBody>
      </p:sp>
      <p:sp>
        <p:nvSpPr>
          <p:cNvPr id="446" name="Google Shape;446;p24"/>
          <p:cNvSpPr txBox="1"/>
          <p:nvPr/>
        </p:nvSpPr>
        <p:spPr>
          <a:xfrm>
            <a:off x="457200" y="853440"/>
            <a:ext cx="8229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8BBCD4"/>
                </a:solidFill>
                <a:latin typeface="Calibri"/>
                <a:ea typeface="Calibri"/>
                <a:cs typeface="Calibri"/>
                <a:sym typeface="Calibri"/>
              </a:rPr>
              <a:t>New Game Rule</a:t>
            </a:r>
            <a:endParaRPr/>
          </a:p>
        </p:txBody>
      </p:sp>
      <p:sp>
        <p:nvSpPr>
          <p:cNvPr id="447" name="Google Shape;447;p24"/>
          <p:cNvSpPr txBox="1"/>
          <p:nvPr/>
        </p:nvSpPr>
        <p:spPr>
          <a:xfrm>
            <a:off x="633149" y="1473875"/>
            <a:ext cx="2005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玩法改動</a:t>
            </a:r>
            <a:endParaRPr/>
          </a:p>
        </p:txBody>
      </p:sp>
      <p:sp>
        <p:nvSpPr>
          <p:cNvPr id="448" name="Google Shape;448;p24"/>
          <p:cNvSpPr/>
          <p:nvPr/>
        </p:nvSpPr>
        <p:spPr>
          <a:xfrm>
            <a:off x="633160" y="1923866"/>
            <a:ext cx="365700" cy="365700"/>
          </a:xfrm>
          <a:prstGeom prst="ellipse">
            <a:avLst/>
          </a:prstGeom>
          <a:solidFill>
            <a:srgbClr val="FFD1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4"/>
          <p:cNvSpPr txBox="1"/>
          <p:nvPr/>
        </p:nvSpPr>
        <p:spPr>
          <a:xfrm>
            <a:off x="633160" y="1923866"/>
            <a:ext cx="365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50D1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50" name="Google Shape;450;p24"/>
          <p:cNvSpPr txBox="1"/>
          <p:nvPr/>
        </p:nvSpPr>
        <p:spPr>
          <a:xfrm>
            <a:off x="1067400" y="1923875"/>
            <a:ext cx="1874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100">
                <a:solidFill>
                  <a:srgbClr val="BBCFE0"/>
                </a:solidFill>
                <a:latin typeface="Calibri"/>
                <a:ea typeface="Calibri"/>
                <a:cs typeface="Calibri"/>
                <a:sym typeface="Calibri"/>
              </a:rPr>
              <a:t>Base Game 新增數 </a:t>
            </a:r>
            <a:endParaRPr/>
          </a:p>
        </p:txBody>
      </p:sp>
      <p:sp>
        <p:nvSpPr>
          <p:cNvPr id="451" name="Google Shape;451;p24"/>
          <p:cNvSpPr/>
          <p:nvPr/>
        </p:nvSpPr>
        <p:spPr>
          <a:xfrm>
            <a:off x="633160" y="2623866"/>
            <a:ext cx="365700" cy="365700"/>
          </a:xfrm>
          <a:prstGeom prst="ellipse">
            <a:avLst/>
          </a:prstGeom>
          <a:solidFill>
            <a:srgbClr val="FFD1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4"/>
          <p:cNvSpPr txBox="1"/>
          <p:nvPr/>
        </p:nvSpPr>
        <p:spPr>
          <a:xfrm>
            <a:off x="633160" y="2623866"/>
            <a:ext cx="365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50D1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53" name="Google Shape;453;p24"/>
          <p:cNvSpPr txBox="1"/>
          <p:nvPr/>
        </p:nvSpPr>
        <p:spPr>
          <a:xfrm>
            <a:off x="1067400" y="2623875"/>
            <a:ext cx="1874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BBCFE0"/>
                </a:solidFill>
                <a:latin typeface="Calibri"/>
                <a:ea typeface="Calibri"/>
                <a:cs typeface="Calibri"/>
                <a:sym typeface="Calibri"/>
              </a:rPr>
              <a:t>Scatter 打擊 OP Jackpot</a:t>
            </a:r>
            <a:endParaRPr/>
          </a:p>
        </p:txBody>
      </p:sp>
      <p:sp>
        <p:nvSpPr>
          <p:cNvPr id="454" name="Google Shape;454;p2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5" name="Google Shape;455;p24"/>
          <p:cNvSpPr/>
          <p:nvPr/>
        </p:nvSpPr>
        <p:spPr>
          <a:xfrm>
            <a:off x="633160" y="3323866"/>
            <a:ext cx="365700" cy="365700"/>
          </a:xfrm>
          <a:prstGeom prst="ellipse">
            <a:avLst/>
          </a:prstGeom>
          <a:solidFill>
            <a:srgbClr val="FFD1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4"/>
          <p:cNvSpPr txBox="1"/>
          <p:nvPr/>
        </p:nvSpPr>
        <p:spPr>
          <a:xfrm>
            <a:off x="633160" y="3323866"/>
            <a:ext cx="365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50D1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457" name="Google Shape;457;p24"/>
          <p:cNvSpPr txBox="1"/>
          <p:nvPr/>
        </p:nvSpPr>
        <p:spPr>
          <a:xfrm>
            <a:off x="1067400" y="3323875"/>
            <a:ext cx="1874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BBCFE0"/>
                </a:solidFill>
                <a:latin typeface="Calibri"/>
                <a:ea typeface="Calibri"/>
                <a:cs typeface="Calibri"/>
                <a:sym typeface="Calibri"/>
              </a:rPr>
              <a:t>倍數每次消除都會變大</a:t>
            </a:r>
            <a:endParaRPr/>
          </a:p>
        </p:txBody>
      </p:sp>
      <p:pic>
        <p:nvPicPr>
          <p:cNvPr id="458" name="Google Shape;45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10050" y="858900"/>
            <a:ext cx="4573275" cy="327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D1A"/>
        </a:solidFill>
      </p:bgPr>
    </p:bg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5"/>
          <p:cNvSpPr txBox="1"/>
          <p:nvPr/>
        </p:nvSpPr>
        <p:spPr>
          <a:xfrm>
            <a:off x="457200" y="304800"/>
            <a:ext cx="8229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提案方向</a:t>
            </a:r>
            <a:endParaRPr/>
          </a:p>
        </p:txBody>
      </p:sp>
      <p:sp>
        <p:nvSpPr>
          <p:cNvPr id="464" name="Google Shape;464;p25"/>
          <p:cNvSpPr txBox="1"/>
          <p:nvPr/>
        </p:nvSpPr>
        <p:spPr>
          <a:xfrm>
            <a:off x="457200" y="853440"/>
            <a:ext cx="8229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8BBCD4"/>
                </a:solidFill>
                <a:latin typeface="Calibri"/>
                <a:ea typeface="Calibri"/>
                <a:cs typeface="Calibri"/>
                <a:sym typeface="Calibri"/>
              </a:rPr>
              <a:t>New Game Rule</a:t>
            </a:r>
            <a:endParaRPr/>
          </a:p>
        </p:txBody>
      </p:sp>
      <p:sp>
        <p:nvSpPr>
          <p:cNvPr id="465" name="Google Shape;465;p25"/>
          <p:cNvSpPr txBox="1"/>
          <p:nvPr/>
        </p:nvSpPr>
        <p:spPr>
          <a:xfrm>
            <a:off x="633149" y="1473875"/>
            <a:ext cx="2005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玩法改動</a:t>
            </a:r>
            <a:endParaRPr/>
          </a:p>
        </p:txBody>
      </p:sp>
      <p:sp>
        <p:nvSpPr>
          <p:cNvPr id="466" name="Google Shape;466;p25"/>
          <p:cNvSpPr/>
          <p:nvPr/>
        </p:nvSpPr>
        <p:spPr>
          <a:xfrm>
            <a:off x="633160" y="1923866"/>
            <a:ext cx="365700" cy="365700"/>
          </a:xfrm>
          <a:prstGeom prst="ellipse">
            <a:avLst/>
          </a:prstGeom>
          <a:solidFill>
            <a:srgbClr val="FFD1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5"/>
          <p:cNvSpPr txBox="1"/>
          <p:nvPr/>
        </p:nvSpPr>
        <p:spPr>
          <a:xfrm>
            <a:off x="633160" y="1923866"/>
            <a:ext cx="365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50D1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68" name="Google Shape;468;p25"/>
          <p:cNvSpPr txBox="1"/>
          <p:nvPr/>
        </p:nvSpPr>
        <p:spPr>
          <a:xfrm>
            <a:off x="1067400" y="1923875"/>
            <a:ext cx="1874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100">
                <a:solidFill>
                  <a:srgbClr val="BBCFE0"/>
                </a:solidFill>
                <a:latin typeface="Calibri"/>
                <a:ea typeface="Calibri"/>
                <a:cs typeface="Calibri"/>
                <a:sym typeface="Calibri"/>
              </a:rPr>
              <a:t>Base Game 新增數 </a:t>
            </a:r>
            <a:endParaRPr/>
          </a:p>
        </p:txBody>
      </p:sp>
      <p:sp>
        <p:nvSpPr>
          <p:cNvPr id="469" name="Google Shape;469;p25"/>
          <p:cNvSpPr/>
          <p:nvPr/>
        </p:nvSpPr>
        <p:spPr>
          <a:xfrm>
            <a:off x="633160" y="2623866"/>
            <a:ext cx="365700" cy="365700"/>
          </a:xfrm>
          <a:prstGeom prst="ellipse">
            <a:avLst/>
          </a:prstGeom>
          <a:solidFill>
            <a:srgbClr val="FFD1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5"/>
          <p:cNvSpPr txBox="1"/>
          <p:nvPr/>
        </p:nvSpPr>
        <p:spPr>
          <a:xfrm>
            <a:off x="633160" y="2623866"/>
            <a:ext cx="365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50D1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71" name="Google Shape;471;p25"/>
          <p:cNvSpPr txBox="1"/>
          <p:nvPr/>
        </p:nvSpPr>
        <p:spPr>
          <a:xfrm>
            <a:off x="1067400" y="2623875"/>
            <a:ext cx="1874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BBCFE0"/>
                </a:solidFill>
                <a:latin typeface="Calibri"/>
                <a:ea typeface="Calibri"/>
                <a:cs typeface="Calibri"/>
                <a:sym typeface="Calibri"/>
              </a:rPr>
              <a:t>Scatter 打擊 OP Jackpot</a:t>
            </a:r>
            <a:endParaRPr/>
          </a:p>
        </p:txBody>
      </p:sp>
      <p:sp>
        <p:nvSpPr>
          <p:cNvPr id="472" name="Google Shape;472;p2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3" name="Google Shape;473;p25"/>
          <p:cNvSpPr/>
          <p:nvPr/>
        </p:nvSpPr>
        <p:spPr>
          <a:xfrm>
            <a:off x="633160" y="3323866"/>
            <a:ext cx="365700" cy="365700"/>
          </a:xfrm>
          <a:prstGeom prst="ellipse">
            <a:avLst/>
          </a:prstGeom>
          <a:solidFill>
            <a:srgbClr val="FFD1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5"/>
          <p:cNvSpPr txBox="1"/>
          <p:nvPr/>
        </p:nvSpPr>
        <p:spPr>
          <a:xfrm>
            <a:off x="633160" y="3323866"/>
            <a:ext cx="365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50D1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475" name="Google Shape;475;p25"/>
          <p:cNvSpPr txBox="1"/>
          <p:nvPr/>
        </p:nvSpPr>
        <p:spPr>
          <a:xfrm>
            <a:off x="1067400" y="3323875"/>
            <a:ext cx="1874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BBCFE0"/>
                </a:solidFill>
                <a:latin typeface="Calibri"/>
                <a:ea typeface="Calibri"/>
                <a:cs typeface="Calibri"/>
                <a:sym typeface="Calibri"/>
              </a:rPr>
              <a:t>倍數每次消除都會變大</a:t>
            </a:r>
            <a:endParaRPr/>
          </a:p>
        </p:txBody>
      </p:sp>
      <p:sp>
        <p:nvSpPr>
          <p:cNvPr id="476" name="Google Shape;476;p25"/>
          <p:cNvSpPr/>
          <p:nvPr/>
        </p:nvSpPr>
        <p:spPr>
          <a:xfrm>
            <a:off x="633160" y="4023866"/>
            <a:ext cx="365700" cy="365700"/>
          </a:xfrm>
          <a:prstGeom prst="ellipse">
            <a:avLst/>
          </a:prstGeom>
          <a:solidFill>
            <a:srgbClr val="FFD1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5"/>
          <p:cNvSpPr txBox="1"/>
          <p:nvPr/>
        </p:nvSpPr>
        <p:spPr>
          <a:xfrm>
            <a:off x="633160" y="4023866"/>
            <a:ext cx="365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50D1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478" name="Google Shape;478;p25"/>
          <p:cNvSpPr txBox="1"/>
          <p:nvPr/>
        </p:nvSpPr>
        <p:spPr>
          <a:xfrm>
            <a:off x="1067400" y="4023875"/>
            <a:ext cx="1874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BBCFE0"/>
                </a:solidFill>
                <a:latin typeface="Calibri"/>
                <a:ea typeface="Calibri"/>
                <a:cs typeface="Calibri"/>
                <a:sym typeface="Calibri"/>
              </a:rPr>
              <a:t>Extra Bet : 5G 作法</a:t>
            </a:r>
            <a:endParaRPr/>
          </a:p>
        </p:txBody>
      </p:sp>
      <p:pic>
        <p:nvPicPr>
          <p:cNvPr id="479" name="Google Shape;479;p25" title="螢幕擷取畫面 2026-06-08 163708.png"/>
          <p:cNvPicPr preferRelativeResize="0"/>
          <p:nvPr/>
        </p:nvPicPr>
        <p:blipFill rotWithShape="1">
          <a:blip r:embed="rId3">
            <a:alphaModFix/>
          </a:blip>
          <a:srcRect b="18544" l="72212" r="799" t="73766"/>
          <a:stretch/>
        </p:blipFill>
        <p:spPr>
          <a:xfrm>
            <a:off x="3466150" y="1348885"/>
            <a:ext cx="2785636" cy="1411599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25"/>
          <p:cNvSpPr txBox="1"/>
          <p:nvPr/>
        </p:nvSpPr>
        <p:spPr>
          <a:xfrm>
            <a:off x="3466150" y="2948100"/>
            <a:ext cx="3257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BBCFE0"/>
                </a:solidFill>
                <a:latin typeface="Calibri"/>
                <a:ea typeface="Calibri"/>
                <a:cs typeface="Calibri"/>
                <a:sym typeface="Calibri"/>
              </a:rPr>
              <a:t>EXTRA BET ： 2x bet 、5x  機率進入免費遊戲</a:t>
            </a:r>
            <a:endParaRPr b="1" sz="2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D1A"/>
        </a:solidFill>
      </p:bgPr>
    </p:bg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26"/>
          <p:cNvSpPr txBox="1"/>
          <p:nvPr/>
        </p:nvSpPr>
        <p:spPr>
          <a:xfrm>
            <a:off x="457200" y="304800"/>
            <a:ext cx="8229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提案方向</a:t>
            </a:r>
            <a:endParaRPr/>
          </a:p>
        </p:txBody>
      </p:sp>
      <p:sp>
        <p:nvSpPr>
          <p:cNvPr id="486" name="Google Shape;486;p26"/>
          <p:cNvSpPr txBox="1"/>
          <p:nvPr/>
        </p:nvSpPr>
        <p:spPr>
          <a:xfrm>
            <a:off x="457200" y="853440"/>
            <a:ext cx="8229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8BBCD4"/>
                </a:solidFill>
                <a:latin typeface="Calibri"/>
                <a:ea typeface="Calibri"/>
                <a:cs typeface="Calibri"/>
                <a:sym typeface="Calibri"/>
              </a:rPr>
              <a:t>New Game Rule</a:t>
            </a:r>
            <a:endParaRPr/>
          </a:p>
        </p:txBody>
      </p:sp>
      <p:sp>
        <p:nvSpPr>
          <p:cNvPr id="487" name="Google Shape;487;p26"/>
          <p:cNvSpPr txBox="1"/>
          <p:nvPr/>
        </p:nvSpPr>
        <p:spPr>
          <a:xfrm>
            <a:off x="633149" y="1473875"/>
            <a:ext cx="2005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玩法改動</a:t>
            </a:r>
            <a:endParaRPr/>
          </a:p>
        </p:txBody>
      </p:sp>
      <p:sp>
        <p:nvSpPr>
          <p:cNvPr id="488" name="Google Shape;488;p26"/>
          <p:cNvSpPr/>
          <p:nvPr/>
        </p:nvSpPr>
        <p:spPr>
          <a:xfrm>
            <a:off x="633160" y="1923866"/>
            <a:ext cx="365700" cy="365700"/>
          </a:xfrm>
          <a:prstGeom prst="ellipse">
            <a:avLst/>
          </a:prstGeom>
          <a:solidFill>
            <a:srgbClr val="FFD1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6"/>
          <p:cNvSpPr txBox="1"/>
          <p:nvPr/>
        </p:nvSpPr>
        <p:spPr>
          <a:xfrm>
            <a:off x="633160" y="1923866"/>
            <a:ext cx="365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50D1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90" name="Google Shape;490;p26"/>
          <p:cNvSpPr txBox="1"/>
          <p:nvPr/>
        </p:nvSpPr>
        <p:spPr>
          <a:xfrm>
            <a:off x="1067400" y="1923875"/>
            <a:ext cx="1874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100">
                <a:solidFill>
                  <a:srgbClr val="BBCFE0"/>
                </a:solidFill>
                <a:latin typeface="Calibri"/>
                <a:ea typeface="Calibri"/>
                <a:cs typeface="Calibri"/>
                <a:sym typeface="Calibri"/>
              </a:rPr>
              <a:t>Base Game 新增數 </a:t>
            </a:r>
            <a:endParaRPr/>
          </a:p>
        </p:txBody>
      </p:sp>
      <p:sp>
        <p:nvSpPr>
          <p:cNvPr id="491" name="Google Shape;491;p26"/>
          <p:cNvSpPr/>
          <p:nvPr/>
        </p:nvSpPr>
        <p:spPr>
          <a:xfrm>
            <a:off x="633160" y="2623866"/>
            <a:ext cx="365700" cy="365700"/>
          </a:xfrm>
          <a:prstGeom prst="ellipse">
            <a:avLst/>
          </a:prstGeom>
          <a:solidFill>
            <a:srgbClr val="FFD1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6"/>
          <p:cNvSpPr txBox="1"/>
          <p:nvPr/>
        </p:nvSpPr>
        <p:spPr>
          <a:xfrm>
            <a:off x="633160" y="2623866"/>
            <a:ext cx="365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50D1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93" name="Google Shape;493;p26"/>
          <p:cNvSpPr txBox="1"/>
          <p:nvPr/>
        </p:nvSpPr>
        <p:spPr>
          <a:xfrm>
            <a:off x="1067400" y="2623875"/>
            <a:ext cx="1874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BBCFE0"/>
                </a:solidFill>
                <a:latin typeface="Calibri"/>
                <a:ea typeface="Calibri"/>
                <a:cs typeface="Calibri"/>
                <a:sym typeface="Calibri"/>
              </a:rPr>
              <a:t>Scatter 打擊 OP Jackpot</a:t>
            </a:r>
            <a:endParaRPr/>
          </a:p>
        </p:txBody>
      </p:sp>
      <p:sp>
        <p:nvSpPr>
          <p:cNvPr id="494" name="Google Shape;494;p2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5" name="Google Shape;495;p26"/>
          <p:cNvSpPr/>
          <p:nvPr/>
        </p:nvSpPr>
        <p:spPr>
          <a:xfrm>
            <a:off x="633160" y="3323866"/>
            <a:ext cx="365700" cy="365700"/>
          </a:xfrm>
          <a:prstGeom prst="ellipse">
            <a:avLst/>
          </a:prstGeom>
          <a:solidFill>
            <a:srgbClr val="FFD1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6"/>
          <p:cNvSpPr txBox="1"/>
          <p:nvPr/>
        </p:nvSpPr>
        <p:spPr>
          <a:xfrm>
            <a:off x="633160" y="3323866"/>
            <a:ext cx="365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50D1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497" name="Google Shape;497;p26"/>
          <p:cNvSpPr txBox="1"/>
          <p:nvPr/>
        </p:nvSpPr>
        <p:spPr>
          <a:xfrm>
            <a:off x="1067400" y="3323875"/>
            <a:ext cx="1874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BBCFE0"/>
                </a:solidFill>
                <a:latin typeface="Calibri"/>
                <a:ea typeface="Calibri"/>
                <a:cs typeface="Calibri"/>
                <a:sym typeface="Calibri"/>
              </a:rPr>
              <a:t>倍數每次消除都會變大</a:t>
            </a:r>
            <a:endParaRPr/>
          </a:p>
        </p:txBody>
      </p:sp>
      <p:sp>
        <p:nvSpPr>
          <p:cNvPr id="498" name="Google Shape;498;p26"/>
          <p:cNvSpPr/>
          <p:nvPr/>
        </p:nvSpPr>
        <p:spPr>
          <a:xfrm>
            <a:off x="633160" y="4023866"/>
            <a:ext cx="365700" cy="365700"/>
          </a:xfrm>
          <a:prstGeom prst="ellipse">
            <a:avLst/>
          </a:prstGeom>
          <a:solidFill>
            <a:srgbClr val="FFD1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6"/>
          <p:cNvSpPr txBox="1"/>
          <p:nvPr/>
        </p:nvSpPr>
        <p:spPr>
          <a:xfrm>
            <a:off x="633160" y="4023866"/>
            <a:ext cx="365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50D1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500" name="Google Shape;500;p26"/>
          <p:cNvSpPr txBox="1"/>
          <p:nvPr/>
        </p:nvSpPr>
        <p:spPr>
          <a:xfrm>
            <a:off x="1067400" y="4023875"/>
            <a:ext cx="1874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BBCFE0"/>
                </a:solidFill>
                <a:latin typeface="Calibri"/>
                <a:ea typeface="Calibri"/>
                <a:cs typeface="Calibri"/>
                <a:sym typeface="Calibri"/>
              </a:rPr>
              <a:t>Extra Bet : 5G 作法</a:t>
            </a:r>
            <a:endParaRPr/>
          </a:p>
        </p:txBody>
      </p:sp>
      <p:sp>
        <p:nvSpPr>
          <p:cNvPr id="501" name="Google Shape;501;p26"/>
          <p:cNvSpPr/>
          <p:nvPr/>
        </p:nvSpPr>
        <p:spPr>
          <a:xfrm>
            <a:off x="633160" y="4635066"/>
            <a:ext cx="365700" cy="365700"/>
          </a:xfrm>
          <a:prstGeom prst="ellipse">
            <a:avLst/>
          </a:prstGeom>
          <a:solidFill>
            <a:srgbClr val="FFD1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6"/>
          <p:cNvSpPr txBox="1"/>
          <p:nvPr/>
        </p:nvSpPr>
        <p:spPr>
          <a:xfrm>
            <a:off x="633160" y="4635066"/>
            <a:ext cx="365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50D1A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503" name="Google Shape;503;p26"/>
          <p:cNvSpPr txBox="1"/>
          <p:nvPr/>
        </p:nvSpPr>
        <p:spPr>
          <a:xfrm>
            <a:off x="1067400" y="4635075"/>
            <a:ext cx="1874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BBCFE0"/>
                </a:solidFill>
                <a:latin typeface="Calibri"/>
                <a:ea typeface="Calibri"/>
                <a:cs typeface="Calibri"/>
                <a:sym typeface="Calibri"/>
              </a:rPr>
              <a:t>最大倍數 2500</a:t>
            </a:r>
            <a:endParaRPr sz="1100">
              <a:solidFill>
                <a:srgbClr val="BBCFE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6"/>
          <p:cNvSpPr txBox="1"/>
          <p:nvPr/>
        </p:nvSpPr>
        <p:spPr>
          <a:xfrm>
            <a:off x="457200" y="304800"/>
            <a:ext cx="8229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提案方向</a:t>
            </a:r>
            <a:endParaRPr/>
          </a:p>
        </p:txBody>
      </p:sp>
      <p:sp>
        <p:nvSpPr>
          <p:cNvPr id="505" name="Google Shape;505;p26"/>
          <p:cNvSpPr txBox="1"/>
          <p:nvPr/>
        </p:nvSpPr>
        <p:spPr>
          <a:xfrm>
            <a:off x="457200" y="853440"/>
            <a:ext cx="8229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8BBCD4"/>
                </a:solidFill>
                <a:latin typeface="Calibri"/>
                <a:ea typeface="Calibri"/>
                <a:cs typeface="Calibri"/>
                <a:sym typeface="Calibri"/>
              </a:rPr>
              <a:t>New Game Rule</a:t>
            </a:r>
            <a:endParaRPr/>
          </a:p>
        </p:txBody>
      </p:sp>
      <p:sp>
        <p:nvSpPr>
          <p:cNvPr id="506" name="Google Shape;506;p26"/>
          <p:cNvSpPr txBox="1"/>
          <p:nvPr/>
        </p:nvSpPr>
        <p:spPr>
          <a:xfrm>
            <a:off x="1067400" y="1923875"/>
            <a:ext cx="1874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100">
                <a:solidFill>
                  <a:srgbClr val="BBCFE0"/>
                </a:solidFill>
                <a:latin typeface="Calibri"/>
                <a:ea typeface="Calibri"/>
                <a:cs typeface="Calibri"/>
                <a:sym typeface="Calibri"/>
              </a:rPr>
              <a:t>Base Game 新增倍數 </a:t>
            </a:r>
            <a:endParaRPr/>
          </a:p>
        </p:txBody>
      </p:sp>
      <p:sp>
        <p:nvSpPr>
          <p:cNvPr id="507" name="Google Shape;507;p26"/>
          <p:cNvSpPr txBox="1"/>
          <p:nvPr/>
        </p:nvSpPr>
        <p:spPr>
          <a:xfrm>
            <a:off x="3047250" y="464886"/>
            <a:ext cx="4400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輪帶倍率分布</a:t>
            </a:r>
            <a:endParaRPr/>
          </a:p>
        </p:txBody>
      </p:sp>
      <p:sp>
        <p:nvSpPr>
          <p:cNvPr id="508" name="Google Shape;508;p26"/>
          <p:cNvSpPr/>
          <p:nvPr/>
        </p:nvSpPr>
        <p:spPr>
          <a:xfrm>
            <a:off x="3151434" y="861384"/>
            <a:ext cx="537300" cy="523800"/>
          </a:xfrm>
          <a:prstGeom prst="rect">
            <a:avLst/>
          </a:prstGeom>
          <a:solidFill>
            <a:srgbClr val="204060"/>
          </a:solidFill>
          <a:ln>
            <a:noFill/>
          </a:ln>
          <a:effectLst>
            <a:outerShdw blurRad="47829" rotWithShape="0" dir="5400000" dist="27502">
              <a:srgbClr val="000000">
                <a:alpha val="34900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6"/>
          <p:cNvSpPr txBox="1"/>
          <p:nvPr/>
        </p:nvSpPr>
        <p:spPr>
          <a:xfrm>
            <a:off x="3151434" y="959261"/>
            <a:ext cx="537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b="1" lang="en-US" sz="1554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674"/>
          </a:p>
        </p:txBody>
      </p:sp>
      <p:sp>
        <p:nvSpPr>
          <p:cNvPr id="510" name="Google Shape;510;p26"/>
          <p:cNvSpPr/>
          <p:nvPr/>
        </p:nvSpPr>
        <p:spPr>
          <a:xfrm>
            <a:off x="3731254" y="861384"/>
            <a:ext cx="537300" cy="523800"/>
          </a:xfrm>
          <a:prstGeom prst="rect">
            <a:avLst/>
          </a:prstGeom>
          <a:solidFill>
            <a:srgbClr val="204060"/>
          </a:solidFill>
          <a:ln>
            <a:noFill/>
          </a:ln>
          <a:effectLst>
            <a:outerShdw blurRad="47829" rotWithShape="0" dir="5400000" dist="27502">
              <a:srgbClr val="000000">
                <a:alpha val="34900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6"/>
          <p:cNvSpPr txBox="1"/>
          <p:nvPr/>
        </p:nvSpPr>
        <p:spPr>
          <a:xfrm>
            <a:off x="3731254" y="959261"/>
            <a:ext cx="537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b="1" lang="en-US" sz="1554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674"/>
          </a:p>
        </p:txBody>
      </p:sp>
      <p:sp>
        <p:nvSpPr>
          <p:cNvPr id="512" name="Google Shape;512;p26"/>
          <p:cNvSpPr/>
          <p:nvPr/>
        </p:nvSpPr>
        <p:spPr>
          <a:xfrm>
            <a:off x="4311073" y="861384"/>
            <a:ext cx="537300" cy="523800"/>
          </a:xfrm>
          <a:prstGeom prst="rect">
            <a:avLst/>
          </a:prstGeom>
          <a:solidFill>
            <a:srgbClr val="204060"/>
          </a:solidFill>
          <a:ln>
            <a:noFill/>
          </a:ln>
          <a:effectLst>
            <a:outerShdw blurRad="47829" rotWithShape="0" dir="5400000" dist="27502">
              <a:srgbClr val="000000">
                <a:alpha val="34900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6"/>
          <p:cNvSpPr txBox="1"/>
          <p:nvPr/>
        </p:nvSpPr>
        <p:spPr>
          <a:xfrm>
            <a:off x="4311073" y="959261"/>
            <a:ext cx="537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b="1" lang="en-US" sz="1554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674"/>
          </a:p>
        </p:txBody>
      </p:sp>
      <p:sp>
        <p:nvSpPr>
          <p:cNvPr id="514" name="Google Shape;514;p26"/>
          <p:cNvSpPr/>
          <p:nvPr/>
        </p:nvSpPr>
        <p:spPr>
          <a:xfrm>
            <a:off x="4890892" y="861384"/>
            <a:ext cx="537300" cy="523800"/>
          </a:xfrm>
          <a:prstGeom prst="rect">
            <a:avLst/>
          </a:prstGeom>
          <a:solidFill>
            <a:srgbClr val="204060"/>
          </a:solidFill>
          <a:ln>
            <a:noFill/>
          </a:ln>
          <a:effectLst>
            <a:outerShdw blurRad="47829" rotWithShape="0" dir="5400000" dist="27502">
              <a:srgbClr val="000000">
                <a:alpha val="34900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6"/>
          <p:cNvSpPr txBox="1"/>
          <p:nvPr/>
        </p:nvSpPr>
        <p:spPr>
          <a:xfrm>
            <a:off x="4890892" y="959261"/>
            <a:ext cx="537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b="1" lang="en-US" sz="1554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674"/>
          </a:p>
        </p:txBody>
      </p:sp>
      <p:sp>
        <p:nvSpPr>
          <p:cNvPr id="516" name="Google Shape;516;p26"/>
          <p:cNvSpPr/>
          <p:nvPr/>
        </p:nvSpPr>
        <p:spPr>
          <a:xfrm>
            <a:off x="5470711" y="861394"/>
            <a:ext cx="537300" cy="523800"/>
          </a:xfrm>
          <a:prstGeom prst="rect">
            <a:avLst/>
          </a:prstGeom>
          <a:solidFill>
            <a:srgbClr val="204060"/>
          </a:solidFill>
          <a:ln>
            <a:noFill/>
          </a:ln>
          <a:effectLst>
            <a:outerShdw blurRad="47829" rotWithShape="0" dir="5400000" dist="27502">
              <a:srgbClr val="000000">
                <a:alpha val="34900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6"/>
          <p:cNvSpPr txBox="1"/>
          <p:nvPr/>
        </p:nvSpPr>
        <p:spPr>
          <a:xfrm>
            <a:off x="5470711" y="959270"/>
            <a:ext cx="537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b="1" lang="en-US" sz="1554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674"/>
          </a:p>
        </p:txBody>
      </p:sp>
      <p:sp>
        <p:nvSpPr>
          <p:cNvPr id="518" name="Google Shape;518;p26"/>
          <p:cNvSpPr/>
          <p:nvPr/>
        </p:nvSpPr>
        <p:spPr>
          <a:xfrm>
            <a:off x="6050530" y="861394"/>
            <a:ext cx="537300" cy="523800"/>
          </a:xfrm>
          <a:prstGeom prst="rect">
            <a:avLst/>
          </a:prstGeom>
          <a:solidFill>
            <a:srgbClr val="204060"/>
          </a:solidFill>
          <a:ln>
            <a:noFill/>
          </a:ln>
          <a:effectLst>
            <a:outerShdw blurRad="47829" rotWithShape="0" dir="5400000" dist="27502">
              <a:srgbClr val="000000">
                <a:alpha val="34900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6"/>
          <p:cNvSpPr txBox="1"/>
          <p:nvPr/>
        </p:nvSpPr>
        <p:spPr>
          <a:xfrm>
            <a:off x="6050530" y="959270"/>
            <a:ext cx="537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×1</a:t>
            </a:r>
            <a:r>
              <a:rPr b="1" lang="en-US" sz="1554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674"/>
          </a:p>
        </p:txBody>
      </p:sp>
      <p:sp>
        <p:nvSpPr>
          <p:cNvPr id="520" name="Google Shape;520;p26"/>
          <p:cNvSpPr/>
          <p:nvPr/>
        </p:nvSpPr>
        <p:spPr>
          <a:xfrm>
            <a:off x="6630350" y="861394"/>
            <a:ext cx="537300" cy="523800"/>
          </a:xfrm>
          <a:prstGeom prst="rect">
            <a:avLst/>
          </a:prstGeom>
          <a:solidFill>
            <a:srgbClr val="204060"/>
          </a:solidFill>
          <a:ln>
            <a:noFill/>
          </a:ln>
          <a:effectLst>
            <a:outerShdw blurRad="47829" rotWithShape="0" dir="5400000" dist="27502">
              <a:srgbClr val="000000">
                <a:alpha val="34900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6"/>
          <p:cNvSpPr txBox="1"/>
          <p:nvPr/>
        </p:nvSpPr>
        <p:spPr>
          <a:xfrm>
            <a:off x="6630350" y="959270"/>
            <a:ext cx="537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b="1" lang="en-US" sz="1554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1674"/>
          </a:p>
        </p:txBody>
      </p:sp>
      <p:sp>
        <p:nvSpPr>
          <p:cNvPr id="522" name="Google Shape;522;p26"/>
          <p:cNvSpPr/>
          <p:nvPr/>
        </p:nvSpPr>
        <p:spPr>
          <a:xfrm>
            <a:off x="3151453" y="1467980"/>
            <a:ext cx="537300" cy="523800"/>
          </a:xfrm>
          <a:prstGeom prst="rect">
            <a:avLst/>
          </a:prstGeom>
          <a:solidFill>
            <a:srgbClr val="204060"/>
          </a:solidFill>
          <a:ln>
            <a:noFill/>
          </a:ln>
          <a:effectLst>
            <a:outerShdw blurRad="47829" rotWithShape="0" dir="5400000" dist="27502">
              <a:srgbClr val="000000">
                <a:alpha val="34900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6"/>
          <p:cNvSpPr txBox="1"/>
          <p:nvPr/>
        </p:nvSpPr>
        <p:spPr>
          <a:xfrm>
            <a:off x="3151453" y="1565856"/>
            <a:ext cx="537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b="1" lang="en-US" sz="1554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1674"/>
          </a:p>
        </p:txBody>
      </p:sp>
      <p:sp>
        <p:nvSpPr>
          <p:cNvPr id="524" name="Google Shape;524;p26"/>
          <p:cNvSpPr/>
          <p:nvPr/>
        </p:nvSpPr>
        <p:spPr>
          <a:xfrm>
            <a:off x="3731272" y="1467980"/>
            <a:ext cx="537300" cy="523800"/>
          </a:xfrm>
          <a:prstGeom prst="rect">
            <a:avLst/>
          </a:prstGeom>
          <a:solidFill>
            <a:srgbClr val="204060"/>
          </a:solidFill>
          <a:ln>
            <a:noFill/>
          </a:ln>
          <a:effectLst>
            <a:outerShdw blurRad="47829" rotWithShape="0" dir="5400000" dist="27502">
              <a:srgbClr val="000000">
                <a:alpha val="34900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6"/>
          <p:cNvSpPr txBox="1"/>
          <p:nvPr/>
        </p:nvSpPr>
        <p:spPr>
          <a:xfrm>
            <a:off x="3731272" y="1565856"/>
            <a:ext cx="537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b="1" lang="en-US" sz="1554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74"/>
          </a:p>
        </p:txBody>
      </p:sp>
      <p:sp>
        <p:nvSpPr>
          <p:cNvPr id="526" name="Google Shape;526;p26"/>
          <p:cNvSpPr/>
          <p:nvPr/>
        </p:nvSpPr>
        <p:spPr>
          <a:xfrm>
            <a:off x="5470730" y="1473877"/>
            <a:ext cx="537300" cy="523800"/>
          </a:xfrm>
          <a:prstGeom prst="rect">
            <a:avLst/>
          </a:prstGeom>
          <a:solidFill>
            <a:srgbClr val="6B2121"/>
          </a:solidFill>
          <a:ln>
            <a:noFill/>
          </a:ln>
          <a:effectLst>
            <a:outerShdw blurRad="47829" rotWithShape="0" dir="5400000" dist="27502">
              <a:srgbClr val="000000">
                <a:alpha val="34900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6"/>
          <p:cNvSpPr txBox="1"/>
          <p:nvPr/>
        </p:nvSpPr>
        <p:spPr>
          <a:xfrm>
            <a:off x="5428210" y="1571753"/>
            <a:ext cx="6225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×100</a:t>
            </a:r>
            <a:endParaRPr sz="1674"/>
          </a:p>
        </p:txBody>
      </p:sp>
      <p:sp>
        <p:nvSpPr>
          <p:cNvPr id="528" name="Google Shape;528;p26"/>
          <p:cNvSpPr/>
          <p:nvPr/>
        </p:nvSpPr>
        <p:spPr>
          <a:xfrm>
            <a:off x="6050550" y="1473877"/>
            <a:ext cx="537300" cy="523800"/>
          </a:xfrm>
          <a:prstGeom prst="rect">
            <a:avLst/>
          </a:prstGeom>
          <a:solidFill>
            <a:srgbClr val="6B2121"/>
          </a:solidFill>
          <a:ln>
            <a:noFill/>
          </a:ln>
          <a:effectLst>
            <a:outerShdw blurRad="47829" rotWithShape="0" dir="5400000" dist="27502">
              <a:srgbClr val="000000">
                <a:alpha val="34900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6"/>
          <p:cNvSpPr txBox="1"/>
          <p:nvPr/>
        </p:nvSpPr>
        <p:spPr>
          <a:xfrm>
            <a:off x="5940758" y="1571753"/>
            <a:ext cx="7569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×500</a:t>
            </a:r>
            <a:endParaRPr sz="1674"/>
          </a:p>
        </p:txBody>
      </p:sp>
      <p:sp>
        <p:nvSpPr>
          <p:cNvPr id="530" name="Google Shape;530;p26"/>
          <p:cNvSpPr/>
          <p:nvPr/>
        </p:nvSpPr>
        <p:spPr>
          <a:xfrm>
            <a:off x="4311073" y="1473884"/>
            <a:ext cx="537300" cy="523800"/>
          </a:xfrm>
          <a:prstGeom prst="rect">
            <a:avLst/>
          </a:prstGeom>
          <a:solidFill>
            <a:srgbClr val="204060"/>
          </a:solidFill>
          <a:ln>
            <a:noFill/>
          </a:ln>
          <a:effectLst>
            <a:outerShdw blurRad="47829" rotWithShape="0" dir="5400000" dist="27502">
              <a:srgbClr val="000000">
                <a:alpha val="34900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6"/>
          <p:cNvSpPr txBox="1"/>
          <p:nvPr/>
        </p:nvSpPr>
        <p:spPr>
          <a:xfrm>
            <a:off x="4311073" y="1571761"/>
            <a:ext cx="537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b="1" lang="en-US" sz="1554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sz="1674"/>
          </a:p>
        </p:txBody>
      </p:sp>
      <p:sp>
        <p:nvSpPr>
          <p:cNvPr id="532" name="Google Shape;532;p26"/>
          <p:cNvSpPr/>
          <p:nvPr/>
        </p:nvSpPr>
        <p:spPr>
          <a:xfrm>
            <a:off x="4890892" y="1473884"/>
            <a:ext cx="537300" cy="523800"/>
          </a:xfrm>
          <a:prstGeom prst="rect">
            <a:avLst/>
          </a:prstGeom>
          <a:solidFill>
            <a:srgbClr val="204060"/>
          </a:solidFill>
          <a:ln>
            <a:noFill/>
          </a:ln>
          <a:effectLst>
            <a:outerShdw blurRad="47829" rotWithShape="0" dir="5400000" dist="27502">
              <a:srgbClr val="000000">
                <a:alpha val="34900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6"/>
          <p:cNvSpPr txBox="1"/>
          <p:nvPr/>
        </p:nvSpPr>
        <p:spPr>
          <a:xfrm>
            <a:off x="4890892" y="1571761"/>
            <a:ext cx="537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b="1" lang="en-US" sz="1554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 sz="1674"/>
          </a:p>
        </p:txBody>
      </p:sp>
      <p:sp>
        <p:nvSpPr>
          <p:cNvPr id="534" name="Google Shape;534;p26"/>
          <p:cNvSpPr/>
          <p:nvPr/>
        </p:nvSpPr>
        <p:spPr>
          <a:xfrm>
            <a:off x="6630350" y="1473877"/>
            <a:ext cx="537300" cy="523800"/>
          </a:xfrm>
          <a:prstGeom prst="rect">
            <a:avLst/>
          </a:prstGeom>
          <a:solidFill>
            <a:srgbClr val="6B2121"/>
          </a:solidFill>
          <a:ln>
            <a:noFill/>
          </a:ln>
          <a:effectLst>
            <a:outerShdw blurRad="47829" rotWithShape="0" dir="5400000" dist="27502">
              <a:srgbClr val="000000">
                <a:alpha val="34900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6"/>
          <p:cNvSpPr txBox="1"/>
          <p:nvPr/>
        </p:nvSpPr>
        <p:spPr>
          <a:xfrm>
            <a:off x="6520558" y="1571753"/>
            <a:ext cx="7569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b="1" lang="en-US" sz="1554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r>
              <a:rPr b="1" i="0" lang="en-US" sz="1554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 sz="1674"/>
          </a:p>
        </p:txBody>
      </p:sp>
      <p:sp>
        <p:nvSpPr>
          <p:cNvPr id="536" name="Google Shape;536;p26"/>
          <p:cNvSpPr/>
          <p:nvPr/>
        </p:nvSpPr>
        <p:spPr>
          <a:xfrm>
            <a:off x="7387250" y="853447"/>
            <a:ext cx="1173600" cy="1144200"/>
          </a:xfrm>
          <a:prstGeom prst="rect">
            <a:avLst/>
          </a:prstGeom>
          <a:solidFill>
            <a:srgbClr val="6B2121"/>
          </a:solidFill>
          <a:ln>
            <a:noFill/>
          </a:ln>
          <a:effectLst>
            <a:outerShdw blurRad="47829" rotWithShape="0" dir="5400000" dist="27502">
              <a:srgbClr val="000000">
                <a:alpha val="34900"/>
              </a:srgbClr>
            </a:outerShdw>
          </a:effectLst>
        </p:spPr>
        <p:txBody>
          <a:bodyPr anchorCtr="0" anchor="ctr" bIns="54650" lIns="109325" spcFirstLastPara="1" rIns="109325" wrap="square" tIns="5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5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6"/>
          <p:cNvSpPr txBox="1"/>
          <p:nvPr/>
        </p:nvSpPr>
        <p:spPr>
          <a:xfrm>
            <a:off x="7595608" y="1250653"/>
            <a:ext cx="7569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50" lIns="109325" spcFirstLastPara="1" rIns="109325" wrap="square" tIns="54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54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x2500</a:t>
            </a:r>
            <a:endParaRPr sz="1674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D1A"/>
        </a:solidFill>
      </p:bgPr>
    </p:bg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27"/>
          <p:cNvSpPr txBox="1"/>
          <p:nvPr/>
        </p:nvSpPr>
        <p:spPr>
          <a:xfrm>
            <a:off x="457200" y="365760"/>
            <a:ext cx="3999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符號</a:t>
            </a:r>
            <a:endParaRPr/>
          </a:p>
        </p:txBody>
      </p:sp>
      <p:sp>
        <p:nvSpPr>
          <p:cNvPr id="543" name="Google Shape;543;p27"/>
          <p:cNvSpPr txBox="1"/>
          <p:nvPr/>
        </p:nvSpPr>
        <p:spPr>
          <a:xfrm>
            <a:off x="457200" y="914400"/>
            <a:ext cx="3999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E5FF"/>
                </a:solidFill>
                <a:latin typeface="Calibri"/>
                <a:ea typeface="Calibri"/>
                <a:cs typeface="Calibri"/>
                <a:sym typeface="Calibri"/>
              </a:rPr>
              <a:t>Symbol &amp; Paytable</a:t>
            </a:r>
            <a:endParaRPr/>
          </a:p>
        </p:txBody>
      </p:sp>
      <p:sp>
        <p:nvSpPr>
          <p:cNvPr id="544" name="Google Shape;544;p27"/>
          <p:cNvSpPr/>
          <p:nvPr/>
        </p:nvSpPr>
        <p:spPr>
          <a:xfrm>
            <a:off x="365750" y="2585650"/>
            <a:ext cx="3200100" cy="1276200"/>
          </a:xfrm>
          <a:prstGeom prst="roundRect">
            <a:avLst>
              <a:gd fmla="val 4000" name="adj"/>
            </a:avLst>
          </a:prstGeom>
          <a:solidFill>
            <a:srgbClr val="0B1F35"/>
          </a:solidFill>
          <a:ln cap="flat" cmpd="sng" w="12700">
            <a:solidFill>
              <a:srgbClr val="00E5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7"/>
          <p:cNvSpPr txBox="1"/>
          <p:nvPr/>
        </p:nvSpPr>
        <p:spPr>
          <a:xfrm>
            <a:off x="457200" y="2785650"/>
            <a:ext cx="639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E5FF"/>
                </a:solidFill>
                <a:latin typeface="Calibri"/>
                <a:ea typeface="Calibri"/>
                <a:cs typeface="Calibri"/>
                <a:sym typeface="Calibri"/>
              </a:rPr>
              <a:t>C2</a:t>
            </a:r>
            <a:endParaRPr/>
          </a:p>
        </p:txBody>
      </p:sp>
      <p:sp>
        <p:nvSpPr>
          <p:cNvPr id="546" name="Google Shape;546;p27"/>
          <p:cNvSpPr txBox="1"/>
          <p:nvPr/>
        </p:nvSpPr>
        <p:spPr>
          <a:xfrm>
            <a:off x="1200000" y="2705650"/>
            <a:ext cx="2300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E5FF"/>
                </a:solidFill>
                <a:latin typeface="Calibri"/>
                <a:ea typeface="Calibri"/>
                <a:cs typeface="Calibri"/>
                <a:sym typeface="Calibri"/>
              </a:rPr>
              <a:t>Multiplier</a:t>
            </a:r>
            <a:endParaRPr/>
          </a:p>
        </p:txBody>
      </p:sp>
      <p:sp>
        <p:nvSpPr>
          <p:cNvPr id="547" name="Google Shape;547;p27"/>
          <p:cNvSpPr txBox="1"/>
          <p:nvPr/>
        </p:nvSpPr>
        <p:spPr>
          <a:xfrm>
            <a:off x="1200000" y="3035650"/>
            <a:ext cx="2300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BBCFE0"/>
                </a:solidFill>
                <a:latin typeface="Calibri"/>
                <a:ea typeface="Calibri"/>
                <a:cs typeface="Calibri"/>
                <a:sym typeface="Calibri"/>
              </a:rPr>
              <a:t>乘倍符號</a:t>
            </a:r>
            <a:endParaRPr sz="1000">
              <a:solidFill>
                <a:srgbClr val="BBCFE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BBCFE0"/>
                </a:solidFill>
                <a:latin typeface="Calibri"/>
                <a:ea typeface="Calibri"/>
                <a:cs typeface="Calibri"/>
                <a:sym typeface="Calibri"/>
              </a:rPr>
              <a:t>乘數數值池：2x、3x、4x、5x、8x、10x、12x、15x、20x、25x、50x、100x、500x、1000x、2500x</a:t>
            </a:r>
            <a:endParaRPr sz="1000">
              <a:solidFill>
                <a:srgbClr val="BBCFE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27"/>
          <p:cNvSpPr txBox="1"/>
          <p:nvPr/>
        </p:nvSpPr>
        <p:spPr>
          <a:xfrm>
            <a:off x="3897950" y="541550"/>
            <a:ext cx="480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賠率表（bet=1）</a:t>
            </a:r>
            <a:endParaRPr/>
          </a:p>
        </p:txBody>
      </p:sp>
      <p:sp>
        <p:nvSpPr>
          <p:cNvPr id="549" name="Google Shape;549;p27"/>
          <p:cNvSpPr/>
          <p:nvPr/>
        </p:nvSpPr>
        <p:spPr>
          <a:xfrm>
            <a:off x="3897950" y="948676"/>
            <a:ext cx="4800000" cy="3957300"/>
          </a:xfrm>
          <a:prstGeom prst="roundRect">
            <a:avLst>
              <a:gd fmla="val 1411" name="adj"/>
            </a:avLst>
          </a:prstGeom>
          <a:solidFill>
            <a:srgbClr val="0B1F35"/>
          </a:solidFill>
          <a:ln cap="flat" cmpd="sng" w="12700">
            <a:solidFill>
              <a:srgbClr val="FFC10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50" name="Google Shape;550;p27"/>
          <p:cNvGrpSpPr/>
          <p:nvPr/>
        </p:nvGrpSpPr>
        <p:grpSpPr>
          <a:xfrm>
            <a:off x="365760" y="1330000"/>
            <a:ext cx="3200100" cy="1100100"/>
            <a:chOff x="365760" y="1330000"/>
            <a:chExt cx="3200100" cy="1100100"/>
          </a:xfrm>
        </p:grpSpPr>
        <p:sp>
          <p:nvSpPr>
            <p:cNvPr id="551" name="Google Shape;551;p27"/>
            <p:cNvSpPr/>
            <p:nvPr/>
          </p:nvSpPr>
          <p:spPr>
            <a:xfrm>
              <a:off x="365760" y="1330000"/>
              <a:ext cx="3200100" cy="1100100"/>
            </a:xfrm>
            <a:prstGeom prst="roundRect">
              <a:avLst>
                <a:gd fmla="val 4000" name="adj"/>
              </a:avLst>
            </a:prstGeom>
            <a:solidFill>
              <a:srgbClr val="0B1F35"/>
            </a:solidFill>
            <a:ln cap="flat" cmpd="sng" w="12700">
              <a:solidFill>
                <a:srgbClr val="FFC107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2" name="Google Shape;552;p27"/>
            <p:cNvSpPr txBox="1"/>
            <p:nvPr/>
          </p:nvSpPr>
          <p:spPr>
            <a:xfrm>
              <a:off x="457200" y="1530000"/>
              <a:ext cx="639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C107"/>
                  </a:solidFill>
                  <a:latin typeface="Calibri"/>
                  <a:ea typeface="Calibri"/>
                  <a:cs typeface="Calibri"/>
                  <a:sym typeface="Calibri"/>
                </a:rPr>
                <a:t>C1</a:t>
              </a:r>
              <a:endParaRPr/>
            </a:p>
          </p:txBody>
        </p:sp>
        <p:sp>
          <p:nvSpPr>
            <p:cNvPr id="553" name="Google Shape;553;p27"/>
            <p:cNvSpPr txBox="1"/>
            <p:nvPr/>
          </p:nvSpPr>
          <p:spPr>
            <a:xfrm>
              <a:off x="1200000" y="1450000"/>
              <a:ext cx="23001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FC107"/>
                  </a:solidFill>
                  <a:latin typeface="Calibri"/>
                  <a:ea typeface="Calibri"/>
                  <a:cs typeface="Calibri"/>
                  <a:sym typeface="Calibri"/>
                </a:rPr>
                <a:t>Scatter</a:t>
              </a:r>
              <a:endParaRPr/>
            </a:p>
          </p:txBody>
        </p:sp>
        <p:sp>
          <p:nvSpPr>
            <p:cNvPr id="554" name="Google Shape;554;p27"/>
            <p:cNvSpPr txBox="1"/>
            <p:nvPr/>
          </p:nvSpPr>
          <p:spPr>
            <a:xfrm>
              <a:off x="1200000" y="1780000"/>
              <a:ext cx="23001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BBCFE0"/>
                  </a:solidFill>
                  <a:latin typeface="Calibri"/>
                  <a:ea typeface="Calibri"/>
                  <a:cs typeface="Calibri"/>
                  <a:sym typeface="Calibri"/>
                </a:rPr>
                <a:t>≥4 顆觸發 Free Game</a:t>
              </a:r>
              <a:endParaRPr sz="1000">
                <a:solidFill>
                  <a:srgbClr val="BBCFE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BBCFE0"/>
                  </a:solidFill>
                  <a:latin typeface="Calibri"/>
                  <a:ea typeface="Calibri"/>
                  <a:cs typeface="Calibri"/>
                  <a:sym typeface="Calibri"/>
                </a:rPr>
                <a:t>15 次免費遊戲</a:t>
              </a:r>
              <a:endParaRPr sz="1000">
                <a:solidFill>
                  <a:srgbClr val="BBCFE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555" name="Google Shape;555;p27"/>
          <p:cNvGraphicFramePr/>
          <p:nvPr/>
        </p:nvGraphicFramePr>
        <p:xfrm>
          <a:off x="4040900" y="114140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{9821527B-F926-47A9-AAD3-A119EB56821A}</a:tableStyleId>
              </a:tblPr>
              <a:tblGrid>
                <a:gridCol w="1179500"/>
                <a:gridCol w="829375"/>
                <a:gridCol w="829375"/>
                <a:gridCol w="829375"/>
                <a:gridCol w="829375"/>
              </a:tblGrid>
              <a:tr h="37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1050">
                          <a:solidFill>
                            <a:srgbClr val="BBBEBF"/>
                          </a:solidFill>
                        </a:rPr>
                        <a:t>符號</a:t>
                      </a:r>
                      <a:endParaRPr b="1" sz="1050">
                        <a:solidFill>
                          <a:srgbClr val="BBBEBF"/>
                        </a:solidFill>
                      </a:endParaRPr>
                    </a:p>
                  </a:txBody>
                  <a:tcPr marT="47625" marB="47625" marR="95250" marL="9525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1050">
                          <a:solidFill>
                            <a:srgbClr val="BBBEBF"/>
                          </a:solidFill>
                        </a:rPr>
                        <a:t>代號</a:t>
                      </a:r>
                      <a:endParaRPr b="1" sz="1050">
                        <a:solidFill>
                          <a:srgbClr val="BBBEBF"/>
                        </a:solidFill>
                      </a:endParaRPr>
                    </a:p>
                  </a:txBody>
                  <a:tcPr marT="47625" marB="47625" marR="95250" marL="9525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1050">
                          <a:solidFill>
                            <a:srgbClr val="BBBEBF"/>
                          </a:solidFill>
                        </a:rPr>
                        <a:t>8-9</a:t>
                      </a:r>
                      <a:endParaRPr b="1" sz="1050">
                        <a:solidFill>
                          <a:srgbClr val="BBBEBF"/>
                        </a:solidFill>
                      </a:endParaRPr>
                    </a:p>
                  </a:txBody>
                  <a:tcPr marT="47625" marB="47625" marR="95250" marL="9525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1050">
                          <a:solidFill>
                            <a:srgbClr val="BBBEBF"/>
                          </a:solidFill>
                        </a:rPr>
                        <a:t>10-11</a:t>
                      </a:r>
                      <a:endParaRPr b="1" sz="1050">
                        <a:solidFill>
                          <a:srgbClr val="BBBEBF"/>
                        </a:solidFill>
                      </a:endParaRPr>
                    </a:p>
                  </a:txBody>
                  <a:tcPr marT="47625" marB="47625" marR="95250" marL="9525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1050">
                          <a:solidFill>
                            <a:srgbClr val="BBBEBF"/>
                          </a:solidFill>
                        </a:rPr>
                        <a:t>12+</a:t>
                      </a:r>
                      <a:endParaRPr b="1" sz="1050">
                        <a:solidFill>
                          <a:srgbClr val="BBBEBF"/>
                        </a:solidFill>
                      </a:endParaRPr>
                    </a:p>
                  </a:txBody>
                  <a:tcPr marT="47625" marB="47625" marR="95250" marL="9525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50">
                          <a:solidFill>
                            <a:srgbClr val="BBBEBF"/>
                          </a:solidFill>
                        </a:rPr>
                        <a:t>皇冠</a:t>
                      </a:r>
                      <a:endParaRPr sz="1050">
                        <a:solidFill>
                          <a:srgbClr val="BBBEBF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50">
                          <a:solidFill>
                            <a:srgbClr val="BBBEBF"/>
                          </a:solidFill>
                        </a:rPr>
                        <a:t>M1</a:t>
                      </a:r>
                      <a:endParaRPr sz="1050">
                        <a:solidFill>
                          <a:srgbClr val="BBBEBF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50">
                          <a:solidFill>
                            <a:srgbClr val="BBBEBF"/>
                          </a:solidFill>
                        </a:rPr>
                        <a:t>10x</a:t>
                      </a:r>
                      <a:endParaRPr sz="1050">
                        <a:solidFill>
                          <a:srgbClr val="BBBEBF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50">
                          <a:solidFill>
                            <a:srgbClr val="BBBEBF"/>
                          </a:solidFill>
                        </a:rPr>
                        <a:t>25x</a:t>
                      </a:r>
                      <a:endParaRPr sz="1050">
                        <a:solidFill>
                          <a:srgbClr val="BBBEBF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50">
                          <a:solidFill>
                            <a:srgbClr val="BBBEBF"/>
                          </a:solidFill>
                        </a:rPr>
                        <a:t>50x</a:t>
                      </a:r>
                      <a:endParaRPr sz="1050">
                        <a:solidFill>
                          <a:srgbClr val="BBBEBF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50">
                          <a:solidFill>
                            <a:srgbClr val="BBBEBF"/>
                          </a:solidFill>
                        </a:rPr>
                        <a:t>沙漏</a:t>
                      </a:r>
                      <a:endParaRPr sz="1050">
                        <a:solidFill>
                          <a:srgbClr val="BBBEBF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50">
                          <a:solidFill>
                            <a:srgbClr val="BBBEBF"/>
                          </a:solidFill>
                        </a:rPr>
                        <a:t>M2</a:t>
                      </a:r>
                      <a:endParaRPr sz="1050">
                        <a:solidFill>
                          <a:srgbClr val="BBBEBF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50">
                          <a:solidFill>
                            <a:srgbClr val="BBBEBF"/>
                          </a:solidFill>
                        </a:rPr>
                        <a:t>2.5x</a:t>
                      </a:r>
                      <a:endParaRPr sz="1050">
                        <a:solidFill>
                          <a:srgbClr val="BBBEBF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50">
                          <a:solidFill>
                            <a:srgbClr val="BBBEBF"/>
                          </a:solidFill>
                        </a:rPr>
                        <a:t>10x</a:t>
                      </a:r>
                      <a:endParaRPr sz="1050">
                        <a:solidFill>
                          <a:srgbClr val="BBBEBF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50">
                          <a:solidFill>
                            <a:srgbClr val="BBBEBF"/>
                          </a:solidFill>
                        </a:rPr>
                        <a:t>25x</a:t>
                      </a:r>
                      <a:endParaRPr sz="1050">
                        <a:solidFill>
                          <a:srgbClr val="BBBEBF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50">
                          <a:solidFill>
                            <a:srgbClr val="BBBEBF"/>
                          </a:solidFill>
                        </a:rPr>
                        <a:t>戒指</a:t>
                      </a:r>
                      <a:endParaRPr sz="1050">
                        <a:solidFill>
                          <a:srgbClr val="BBBEBF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50">
                          <a:solidFill>
                            <a:srgbClr val="BBBEBF"/>
                          </a:solidFill>
                        </a:rPr>
                        <a:t>M3</a:t>
                      </a:r>
                      <a:endParaRPr sz="1050">
                        <a:solidFill>
                          <a:srgbClr val="BBBEBF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50">
                          <a:solidFill>
                            <a:srgbClr val="BBBEBF"/>
                          </a:solidFill>
                        </a:rPr>
                        <a:t>2x</a:t>
                      </a:r>
                      <a:endParaRPr sz="1050">
                        <a:solidFill>
                          <a:srgbClr val="BBBEBF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50">
                          <a:solidFill>
                            <a:srgbClr val="BBBEBF"/>
                          </a:solidFill>
                        </a:rPr>
                        <a:t>5x</a:t>
                      </a:r>
                      <a:endParaRPr sz="1050">
                        <a:solidFill>
                          <a:srgbClr val="BBBEBF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50">
                          <a:solidFill>
                            <a:srgbClr val="BBBEBF"/>
                          </a:solidFill>
                        </a:rPr>
                        <a:t>15x</a:t>
                      </a:r>
                      <a:endParaRPr sz="1050">
                        <a:solidFill>
                          <a:srgbClr val="BBBEBF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50">
                          <a:solidFill>
                            <a:srgbClr val="BBBEBF"/>
                          </a:solidFill>
                        </a:rPr>
                        <a:t>聖杯</a:t>
                      </a:r>
                      <a:endParaRPr sz="1050">
                        <a:solidFill>
                          <a:srgbClr val="BBBEBF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50">
                          <a:solidFill>
                            <a:srgbClr val="BBBEBF"/>
                          </a:solidFill>
                        </a:rPr>
                        <a:t>M4</a:t>
                      </a:r>
                      <a:endParaRPr sz="1050">
                        <a:solidFill>
                          <a:srgbClr val="BBBEBF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50">
                          <a:solidFill>
                            <a:srgbClr val="BBBEBF"/>
                          </a:solidFill>
                        </a:rPr>
                        <a:t>1.5x</a:t>
                      </a:r>
                      <a:endParaRPr sz="1050">
                        <a:solidFill>
                          <a:srgbClr val="BBBEBF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50">
                          <a:solidFill>
                            <a:srgbClr val="BBBEBF"/>
                          </a:solidFill>
                        </a:rPr>
                        <a:t>2x</a:t>
                      </a:r>
                      <a:endParaRPr sz="1050">
                        <a:solidFill>
                          <a:srgbClr val="BBBEBF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50">
                          <a:solidFill>
                            <a:srgbClr val="BBBEBF"/>
                          </a:solidFill>
                        </a:rPr>
                        <a:t>12x</a:t>
                      </a:r>
                      <a:endParaRPr sz="1050">
                        <a:solidFill>
                          <a:srgbClr val="BBBEBF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50">
                          <a:solidFill>
                            <a:srgbClr val="BBBEBF"/>
                          </a:solidFill>
                        </a:rPr>
                        <a:t>紅色寶石</a:t>
                      </a:r>
                      <a:endParaRPr sz="1050">
                        <a:solidFill>
                          <a:srgbClr val="BBBEBF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50">
                          <a:solidFill>
                            <a:srgbClr val="BBBEBF"/>
                          </a:solidFill>
                        </a:rPr>
                        <a:t>A</a:t>
                      </a:r>
                      <a:endParaRPr sz="1050">
                        <a:solidFill>
                          <a:srgbClr val="BBBEBF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50">
                          <a:solidFill>
                            <a:srgbClr val="BBBEBF"/>
                          </a:solidFill>
                        </a:rPr>
                        <a:t>1x</a:t>
                      </a:r>
                      <a:endParaRPr sz="1050">
                        <a:solidFill>
                          <a:srgbClr val="BBBEBF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50">
                          <a:solidFill>
                            <a:srgbClr val="BBBEBF"/>
                          </a:solidFill>
                        </a:rPr>
                        <a:t>1.5x</a:t>
                      </a:r>
                      <a:endParaRPr sz="1050">
                        <a:solidFill>
                          <a:srgbClr val="BBBEBF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50">
                          <a:solidFill>
                            <a:srgbClr val="BBBEBF"/>
                          </a:solidFill>
                        </a:rPr>
                        <a:t>10x</a:t>
                      </a:r>
                      <a:endParaRPr sz="1050">
                        <a:solidFill>
                          <a:srgbClr val="BBBEBF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50">
                          <a:solidFill>
                            <a:srgbClr val="BBBEBF"/>
                          </a:solidFill>
                        </a:rPr>
                        <a:t>紫色三角寶石</a:t>
                      </a:r>
                      <a:endParaRPr sz="1050">
                        <a:solidFill>
                          <a:srgbClr val="BBBEBF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50">
                          <a:solidFill>
                            <a:srgbClr val="BBBEBF"/>
                          </a:solidFill>
                        </a:rPr>
                        <a:t>K</a:t>
                      </a:r>
                      <a:endParaRPr sz="1050">
                        <a:solidFill>
                          <a:srgbClr val="BBBEBF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50">
                          <a:solidFill>
                            <a:srgbClr val="BBBEBF"/>
                          </a:solidFill>
                        </a:rPr>
                        <a:t>0.8x</a:t>
                      </a:r>
                      <a:endParaRPr sz="1050">
                        <a:solidFill>
                          <a:srgbClr val="BBBEBF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50">
                          <a:solidFill>
                            <a:srgbClr val="BBBEBF"/>
                          </a:solidFill>
                        </a:rPr>
                        <a:t>1.2x</a:t>
                      </a:r>
                      <a:endParaRPr sz="1050">
                        <a:solidFill>
                          <a:srgbClr val="BBBEBF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50">
                          <a:solidFill>
                            <a:srgbClr val="BBBEBF"/>
                          </a:solidFill>
                        </a:rPr>
                        <a:t>8x</a:t>
                      </a:r>
                      <a:endParaRPr sz="1050">
                        <a:solidFill>
                          <a:srgbClr val="BBBEBF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50">
                          <a:solidFill>
                            <a:srgbClr val="BBBEBF"/>
                          </a:solidFill>
                        </a:rPr>
                        <a:t>金色六角寶石</a:t>
                      </a:r>
                      <a:endParaRPr sz="1050">
                        <a:solidFill>
                          <a:srgbClr val="BBBEBF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50">
                          <a:solidFill>
                            <a:srgbClr val="BBBEBF"/>
                          </a:solidFill>
                        </a:rPr>
                        <a:t>Q</a:t>
                      </a:r>
                      <a:endParaRPr sz="1050">
                        <a:solidFill>
                          <a:srgbClr val="BBBEBF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50">
                          <a:solidFill>
                            <a:srgbClr val="BBBEBF"/>
                          </a:solidFill>
                        </a:rPr>
                        <a:t>0.5x</a:t>
                      </a:r>
                      <a:endParaRPr sz="1050">
                        <a:solidFill>
                          <a:srgbClr val="BBBEBF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50">
                          <a:solidFill>
                            <a:srgbClr val="BBBEBF"/>
                          </a:solidFill>
                        </a:rPr>
                        <a:t>1x</a:t>
                      </a:r>
                      <a:endParaRPr sz="1050">
                        <a:solidFill>
                          <a:srgbClr val="BBBEBF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50">
                          <a:solidFill>
                            <a:srgbClr val="BBBEBF"/>
                          </a:solidFill>
                        </a:rPr>
                        <a:t>5x</a:t>
                      </a:r>
                      <a:endParaRPr sz="1050">
                        <a:solidFill>
                          <a:srgbClr val="BBBEBF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50">
                          <a:solidFill>
                            <a:srgbClr val="BBBEBF"/>
                          </a:solidFill>
                        </a:rPr>
                        <a:t>綠色三角寶石</a:t>
                      </a:r>
                      <a:endParaRPr sz="1050">
                        <a:solidFill>
                          <a:srgbClr val="BBBEBF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50">
                          <a:solidFill>
                            <a:srgbClr val="BBBEBF"/>
                          </a:solidFill>
                        </a:rPr>
                        <a:t>J</a:t>
                      </a:r>
                      <a:endParaRPr sz="1050">
                        <a:solidFill>
                          <a:srgbClr val="BBBEBF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50">
                          <a:solidFill>
                            <a:srgbClr val="BBBEBF"/>
                          </a:solidFill>
                        </a:rPr>
                        <a:t>0.4x</a:t>
                      </a:r>
                      <a:endParaRPr sz="1050">
                        <a:solidFill>
                          <a:srgbClr val="BBBEBF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50">
                          <a:solidFill>
                            <a:srgbClr val="BBBEBF"/>
                          </a:solidFill>
                        </a:rPr>
                        <a:t>0.9x</a:t>
                      </a:r>
                      <a:endParaRPr sz="1050">
                        <a:solidFill>
                          <a:srgbClr val="BBBEBF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50">
                          <a:solidFill>
                            <a:srgbClr val="BBBEBF"/>
                          </a:solidFill>
                        </a:rPr>
                        <a:t>4x</a:t>
                      </a:r>
                      <a:endParaRPr sz="1050">
                        <a:solidFill>
                          <a:srgbClr val="BBBEBF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50">
                          <a:solidFill>
                            <a:srgbClr val="BBBEBF"/>
                          </a:solidFill>
                        </a:rPr>
                        <a:t>藍色寶石</a:t>
                      </a:r>
                      <a:endParaRPr sz="1050">
                        <a:solidFill>
                          <a:srgbClr val="BBBEBF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50">
                          <a:solidFill>
                            <a:srgbClr val="BBBEBF"/>
                          </a:solidFill>
                        </a:rPr>
                        <a:t>TE</a:t>
                      </a:r>
                      <a:endParaRPr sz="1050">
                        <a:solidFill>
                          <a:srgbClr val="BBBEBF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50">
                          <a:solidFill>
                            <a:srgbClr val="BBBEBF"/>
                          </a:solidFill>
                        </a:rPr>
                        <a:t>0.25x</a:t>
                      </a:r>
                      <a:endParaRPr sz="1050">
                        <a:solidFill>
                          <a:srgbClr val="BBBEBF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50">
                          <a:solidFill>
                            <a:srgbClr val="BBBEBF"/>
                          </a:solidFill>
                        </a:rPr>
                        <a:t>0.75x</a:t>
                      </a:r>
                      <a:endParaRPr sz="1050">
                        <a:solidFill>
                          <a:srgbClr val="BBBEBF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50">
                          <a:solidFill>
                            <a:srgbClr val="BBBEBF"/>
                          </a:solidFill>
                        </a:rPr>
                        <a:t>2x</a:t>
                      </a:r>
                      <a:endParaRPr sz="1050">
                        <a:solidFill>
                          <a:srgbClr val="BBBEBF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sp>
        <p:nvSpPr>
          <p:cNvPr id="556" name="Google Shape;556;p2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557" name="Google Shape;557;p27"/>
          <p:cNvGrpSpPr/>
          <p:nvPr/>
        </p:nvGrpSpPr>
        <p:grpSpPr>
          <a:xfrm>
            <a:off x="365750" y="4028253"/>
            <a:ext cx="3200100" cy="913413"/>
            <a:chOff x="365760" y="3700000"/>
            <a:chExt cx="3200100" cy="1100100"/>
          </a:xfrm>
        </p:grpSpPr>
        <p:sp>
          <p:nvSpPr>
            <p:cNvPr id="558" name="Google Shape;558;p27"/>
            <p:cNvSpPr/>
            <p:nvPr/>
          </p:nvSpPr>
          <p:spPr>
            <a:xfrm>
              <a:off x="365760" y="3700000"/>
              <a:ext cx="3200100" cy="1100100"/>
            </a:xfrm>
            <a:prstGeom prst="roundRect">
              <a:avLst>
                <a:gd fmla="val 4000" name="adj"/>
              </a:avLst>
            </a:prstGeom>
            <a:solidFill>
              <a:srgbClr val="0B1F35"/>
            </a:solidFill>
            <a:ln cap="flat" cmpd="sng" w="12700">
              <a:solidFill>
                <a:srgbClr val="FF6B9D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9" name="Google Shape;559;p27"/>
            <p:cNvSpPr txBox="1"/>
            <p:nvPr/>
          </p:nvSpPr>
          <p:spPr>
            <a:xfrm>
              <a:off x="457200" y="3900000"/>
              <a:ext cx="639900" cy="40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6B9D"/>
                  </a:solidFill>
                  <a:latin typeface="Calibri"/>
                  <a:ea typeface="Calibri"/>
                  <a:cs typeface="Calibri"/>
                  <a:sym typeface="Calibri"/>
                </a:rPr>
                <a:t>C3</a:t>
              </a:r>
              <a:endParaRPr/>
            </a:p>
          </p:txBody>
        </p:sp>
        <p:sp>
          <p:nvSpPr>
            <p:cNvPr id="560" name="Google Shape;560;p27"/>
            <p:cNvSpPr txBox="1"/>
            <p:nvPr/>
          </p:nvSpPr>
          <p:spPr>
            <a:xfrm>
              <a:off x="1200000" y="3820000"/>
              <a:ext cx="2300100" cy="35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F6B9D"/>
                  </a:solidFill>
                  <a:latin typeface="Calibri"/>
                  <a:ea typeface="Calibri"/>
                  <a:cs typeface="Calibri"/>
                  <a:sym typeface="Calibri"/>
                </a:rPr>
                <a:t>倍數</a:t>
              </a:r>
              <a:endParaRPr/>
            </a:p>
          </p:txBody>
        </p:sp>
        <p:sp>
          <p:nvSpPr>
            <p:cNvPr id="561" name="Google Shape;561;p27"/>
            <p:cNvSpPr txBox="1"/>
            <p:nvPr/>
          </p:nvSpPr>
          <p:spPr>
            <a:xfrm>
              <a:off x="1200000" y="4150000"/>
              <a:ext cx="2300100" cy="48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BBCFE0"/>
                  </a:solidFill>
                  <a:latin typeface="Calibri"/>
                  <a:ea typeface="Calibri"/>
                  <a:cs typeface="Calibri"/>
                  <a:sym typeface="Calibri"/>
                </a:rPr>
                <a:t>C3 出現後每次消除倍數都會提升，倍數規格跟 C2 相同</a:t>
              </a:r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4EEF7"/>
        </a:solidFill>
      </p:bgPr>
    </p:bg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8"/>
          <p:cNvSpPr txBox="1"/>
          <p:nvPr/>
        </p:nvSpPr>
        <p:spPr>
          <a:xfrm>
            <a:off x="457200" y="304800"/>
            <a:ext cx="8229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特殊</a:t>
            </a:r>
            <a:r>
              <a:rPr b="1" lang="en-US" sz="3000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押注</a:t>
            </a:r>
            <a:endParaRPr/>
          </a:p>
        </p:txBody>
      </p:sp>
      <p:sp>
        <p:nvSpPr>
          <p:cNvPr id="567" name="Google Shape;567;p28"/>
          <p:cNvSpPr/>
          <p:nvPr/>
        </p:nvSpPr>
        <p:spPr>
          <a:xfrm>
            <a:off x="457200" y="883920"/>
            <a:ext cx="548700" cy="60900"/>
          </a:xfrm>
          <a:prstGeom prst="rect">
            <a:avLst/>
          </a:prstGeom>
          <a:solidFill>
            <a:srgbClr val="F4A933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68" name="Google Shape;568;p28"/>
          <p:cNvGrpSpPr/>
          <p:nvPr/>
        </p:nvGrpSpPr>
        <p:grpSpPr>
          <a:xfrm>
            <a:off x="522945" y="1216311"/>
            <a:ext cx="2559900" cy="1188600"/>
            <a:chOff x="365760" y="2468040"/>
            <a:chExt cx="2559900" cy="1188600"/>
          </a:xfrm>
        </p:grpSpPr>
        <p:sp>
          <p:nvSpPr>
            <p:cNvPr id="569" name="Google Shape;569;p28"/>
            <p:cNvSpPr/>
            <p:nvPr/>
          </p:nvSpPr>
          <p:spPr>
            <a:xfrm>
              <a:off x="365760" y="2468040"/>
              <a:ext cx="2559900" cy="11886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12700">
              <a:solidFill>
                <a:srgbClr val="CBD8E4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0" name="Google Shape;570;p28"/>
            <p:cNvSpPr txBox="1"/>
            <p:nvPr/>
          </p:nvSpPr>
          <p:spPr>
            <a:xfrm>
              <a:off x="480060" y="2618040"/>
              <a:ext cx="4572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0D2137"/>
                  </a:solidFill>
                  <a:latin typeface="Calibri"/>
                  <a:ea typeface="Calibri"/>
                  <a:cs typeface="Calibri"/>
                  <a:sym typeface="Calibri"/>
                </a:rPr>
                <a:t>🧮</a:t>
              </a:r>
              <a:endParaRPr/>
            </a:p>
          </p:txBody>
        </p:sp>
        <p:sp>
          <p:nvSpPr>
            <p:cNvPr id="571" name="Google Shape;571;p28"/>
            <p:cNvSpPr txBox="1"/>
            <p:nvPr/>
          </p:nvSpPr>
          <p:spPr>
            <a:xfrm>
              <a:off x="1005760" y="2618040"/>
              <a:ext cx="18000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300" u="none" cap="none" strike="noStrike">
                  <a:solidFill>
                    <a:srgbClr val="0D2137"/>
                  </a:solidFill>
                  <a:latin typeface="Calibri"/>
                  <a:ea typeface="Calibri"/>
                  <a:cs typeface="Calibri"/>
                  <a:sym typeface="Calibri"/>
                </a:rPr>
                <a:t>價格 Extra Bet</a:t>
              </a:r>
              <a:endParaRPr/>
            </a:p>
          </p:txBody>
        </p:sp>
        <p:sp>
          <p:nvSpPr>
            <p:cNvPr id="572" name="Google Shape;572;p28"/>
            <p:cNvSpPr txBox="1"/>
            <p:nvPr/>
          </p:nvSpPr>
          <p:spPr>
            <a:xfrm>
              <a:off x="480060" y="3068040"/>
              <a:ext cx="2331300" cy="43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B7A8B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lang="en-US" sz="1100">
                  <a:solidFill>
                    <a:srgbClr val="6B7A8B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r>
                <a:rPr b="0" i="0" lang="en-US" sz="1100" u="none" cap="none" strike="noStrike">
                  <a:solidFill>
                    <a:srgbClr val="6B7A8B"/>
                  </a:solidFill>
                  <a:latin typeface="Calibri"/>
                  <a:ea typeface="Calibri"/>
                  <a:cs typeface="Calibri"/>
                  <a:sym typeface="Calibri"/>
                </a:rPr>
                <a:t> 所選 bet</a:t>
              </a:r>
              <a:endParaRPr sz="1100">
                <a:solidFill>
                  <a:srgbClr val="6B7A8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B7A8B"/>
                  </a:solidFill>
                  <a:latin typeface="Calibri"/>
                  <a:ea typeface="Calibri"/>
                  <a:cs typeface="Calibri"/>
                  <a:sym typeface="Calibri"/>
                </a:rPr>
                <a:t>5x 觸發免費遊戲機率</a:t>
              </a:r>
              <a:endParaRPr sz="1100">
                <a:solidFill>
                  <a:srgbClr val="6B7A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73" name="Google Shape;573;p2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574" name="Google Shape;574;p28"/>
          <p:cNvGrpSpPr/>
          <p:nvPr/>
        </p:nvGrpSpPr>
        <p:grpSpPr>
          <a:xfrm>
            <a:off x="3292045" y="1216311"/>
            <a:ext cx="2559900" cy="1188600"/>
            <a:chOff x="365760" y="2468040"/>
            <a:chExt cx="2559900" cy="1188600"/>
          </a:xfrm>
        </p:grpSpPr>
        <p:sp>
          <p:nvSpPr>
            <p:cNvPr id="575" name="Google Shape;575;p28"/>
            <p:cNvSpPr/>
            <p:nvPr/>
          </p:nvSpPr>
          <p:spPr>
            <a:xfrm>
              <a:off x="365760" y="2468040"/>
              <a:ext cx="2559900" cy="11886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12700">
              <a:solidFill>
                <a:srgbClr val="CBD8E4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6" name="Google Shape;576;p28"/>
            <p:cNvSpPr txBox="1"/>
            <p:nvPr/>
          </p:nvSpPr>
          <p:spPr>
            <a:xfrm>
              <a:off x="480060" y="2618040"/>
              <a:ext cx="4572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0D2137"/>
                  </a:solidFill>
                  <a:latin typeface="Calibri"/>
                  <a:ea typeface="Calibri"/>
                  <a:cs typeface="Calibri"/>
                  <a:sym typeface="Calibri"/>
                </a:rPr>
                <a:t>🧮</a:t>
              </a:r>
              <a:endParaRPr/>
            </a:p>
          </p:txBody>
        </p:sp>
        <p:sp>
          <p:nvSpPr>
            <p:cNvPr id="577" name="Google Shape;577;p28"/>
            <p:cNvSpPr txBox="1"/>
            <p:nvPr/>
          </p:nvSpPr>
          <p:spPr>
            <a:xfrm>
              <a:off x="1005760" y="2618040"/>
              <a:ext cx="18000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300" u="none" cap="none" strike="noStrike">
                  <a:solidFill>
                    <a:srgbClr val="0D2137"/>
                  </a:solidFill>
                  <a:latin typeface="Calibri"/>
                  <a:ea typeface="Calibri"/>
                  <a:cs typeface="Calibri"/>
                  <a:sym typeface="Calibri"/>
                </a:rPr>
                <a:t>價格 B</a:t>
              </a:r>
              <a:r>
                <a:rPr b="1" lang="en-US" sz="1300">
                  <a:solidFill>
                    <a:srgbClr val="0D2137"/>
                  </a:solidFill>
                  <a:latin typeface="Calibri"/>
                  <a:ea typeface="Calibri"/>
                  <a:cs typeface="Calibri"/>
                  <a:sym typeface="Calibri"/>
                </a:rPr>
                <a:t>uy Feature</a:t>
              </a:r>
              <a:endParaRPr/>
            </a:p>
          </p:txBody>
        </p:sp>
        <p:sp>
          <p:nvSpPr>
            <p:cNvPr id="578" name="Google Shape;578;p28"/>
            <p:cNvSpPr txBox="1"/>
            <p:nvPr/>
          </p:nvSpPr>
          <p:spPr>
            <a:xfrm>
              <a:off x="480060" y="3068040"/>
              <a:ext cx="23313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6B7A8B"/>
                  </a:solidFill>
                  <a:latin typeface="Calibri"/>
                  <a:ea typeface="Calibri"/>
                  <a:cs typeface="Calibri"/>
                  <a:sym typeface="Calibri"/>
                </a:rPr>
                <a:t>100× 所選 bet</a:t>
              </a:r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D1A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29"/>
          <p:cNvSpPr txBox="1"/>
          <p:nvPr/>
        </p:nvSpPr>
        <p:spPr>
          <a:xfrm>
            <a:off x="457200" y="365760"/>
            <a:ext cx="8229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🍬 設計亮點總結</a:t>
            </a:r>
            <a:endParaRPr/>
          </a:p>
        </p:txBody>
      </p:sp>
      <p:sp>
        <p:nvSpPr>
          <p:cNvPr id="584" name="Google Shape;584;p29"/>
          <p:cNvSpPr/>
          <p:nvPr/>
        </p:nvSpPr>
        <p:spPr>
          <a:xfrm>
            <a:off x="4691785" y="2971795"/>
            <a:ext cx="4068600" cy="1627200"/>
          </a:xfrm>
          <a:prstGeom prst="roundRect">
            <a:avLst>
              <a:gd fmla="val 4000" name="adj"/>
            </a:avLst>
          </a:prstGeom>
          <a:solidFill>
            <a:srgbClr val="0B1F35"/>
          </a:solidFill>
          <a:ln cap="flat" cmpd="sng" w="127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29"/>
          <p:cNvSpPr txBox="1"/>
          <p:nvPr/>
        </p:nvSpPr>
        <p:spPr>
          <a:xfrm>
            <a:off x="4806085" y="3154675"/>
            <a:ext cx="548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⚡</a:t>
            </a:r>
            <a:endParaRPr/>
          </a:p>
        </p:txBody>
      </p:sp>
      <p:sp>
        <p:nvSpPr>
          <p:cNvPr id="586" name="Google Shape;586;p29"/>
          <p:cNvSpPr txBox="1"/>
          <p:nvPr/>
        </p:nvSpPr>
        <p:spPr>
          <a:xfrm>
            <a:off x="5441785" y="3154675"/>
            <a:ext cx="3198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Multiplier</a:t>
            </a:r>
            <a:endParaRPr/>
          </a:p>
        </p:txBody>
      </p:sp>
      <p:sp>
        <p:nvSpPr>
          <p:cNvPr id="587" name="Google Shape;587;p29"/>
          <p:cNvSpPr txBox="1"/>
          <p:nvPr/>
        </p:nvSpPr>
        <p:spPr>
          <a:xfrm>
            <a:off x="5441785" y="3571795"/>
            <a:ext cx="3198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BBCFE0"/>
                </a:solidFill>
                <a:latin typeface="Calibri"/>
                <a:ea typeface="Calibri"/>
                <a:cs typeface="Calibri"/>
                <a:sym typeface="Calibri"/>
              </a:rPr>
              <a:t>更強的倍數特色</a:t>
            </a:r>
            <a:endParaRPr sz="1200">
              <a:solidFill>
                <a:srgbClr val="BBCFE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88" name="Google Shape;588;p29"/>
          <p:cNvGrpSpPr/>
          <p:nvPr/>
        </p:nvGrpSpPr>
        <p:grpSpPr>
          <a:xfrm>
            <a:off x="365760" y="2971800"/>
            <a:ext cx="4068600" cy="1627200"/>
            <a:chOff x="365760" y="2971800"/>
            <a:chExt cx="4068600" cy="1627200"/>
          </a:xfrm>
        </p:grpSpPr>
        <p:sp>
          <p:nvSpPr>
            <p:cNvPr id="589" name="Google Shape;589;p29"/>
            <p:cNvSpPr/>
            <p:nvPr/>
          </p:nvSpPr>
          <p:spPr>
            <a:xfrm>
              <a:off x="365760" y="2971800"/>
              <a:ext cx="4068600" cy="1627200"/>
            </a:xfrm>
            <a:prstGeom prst="roundRect">
              <a:avLst>
                <a:gd fmla="val 4000" name="adj"/>
              </a:avLst>
            </a:prstGeom>
            <a:solidFill>
              <a:srgbClr val="0B1F35"/>
            </a:solidFill>
            <a:ln cap="flat" cmpd="sng" w="12700">
              <a:solidFill>
                <a:srgbClr val="0A305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0" name="Google Shape;590;p29"/>
            <p:cNvSpPr txBox="1"/>
            <p:nvPr/>
          </p:nvSpPr>
          <p:spPr>
            <a:xfrm>
              <a:off x="480060" y="3154680"/>
              <a:ext cx="5487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🃏</a:t>
              </a:r>
              <a:endParaRPr/>
            </a:p>
          </p:txBody>
        </p:sp>
        <p:sp>
          <p:nvSpPr>
            <p:cNvPr id="591" name="Google Shape;591;p29"/>
            <p:cNvSpPr txBox="1"/>
            <p:nvPr/>
          </p:nvSpPr>
          <p:spPr>
            <a:xfrm>
              <a:off x="1115760" y="3154680"/>
              <a:ext cx="31986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FFD166"/>
                  </a:solidFill>
                  <a:latin typeface="Calibri"/>
                  <a:ea typeface="Calibri"/>
                  <a:cs typeface="Calibri"/>
                  <a:sym typeface="Calibri"/>
                </a:rPr>
                <a:t>Feature</a:t>
              </a:r>
              <a:endParaRPr/>
            </a:p>
          </p:txBody>
        </p:sp>
        <p:sp>
          <p:nvSpPr>
            <p:cNvPr id="592" name="Google Shape;592;p29"/>
            <p:cNvSpPr txBox="1"/>
            <p:nvPr/>
          </p:nvSpPr>
          <p:spPr>
            <a:xfrm>
              <a:off x="1115760" y="3571800"/>
              <a:ext cx="31986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BBCFE0"/>
                  </a:solidFill>
                  <a:latin typeface="Calibri"/>
                  <a:ea typeface="Calibri"/>
                  <a:cs typeface="Calibri"/>
                  <a:sym typeface="Calibri"/>
                </a:rPr>
                <a:t>Base Game 也看的到特色</a:t>
              </a:r>
              <a:endParaRPr/>
            </a:p>
          </p:txBody>
        </p:sp>
      </p:grpSp>
      <p:grpSp>
        <p:nvGrpSpPr>
          <p:cNvPr id="593" name="Google Shape;593;p29"/>
          <p:cNvGrpSpPr/>
          <p:nvPr/>
        </p:nvGrpSpPr>
        <p:grpSpPr>
          <a:xfrm>
            <a:off x="365760" y="1147675"/>
            <a:ext cx="4068600" cy="1627200"/>
            <a:chOff x="365760" y="1147675"/>
            <a:chExt cx="4068600" cy="1627200"/>
          </a:xfrm>
        </p:grpSpPr>
        <p:sp>
          <p:nvSpPr>
            <p:cNvPr id="594" name="Google Shape;594;p29"/>
            <p:cNvSpPr/>
            <p:nvPr/>
          </p:nvSpPr>
          <p:spPr>
            <a:xfrm>
              <a:off x="365760" y="1147675"/>
              <a:ext cx="4068600" cy="1627200"/>
            </a:xfrm>
            <a:prstGeom prst="roundRect">
              <a:avLst>
                <a:gd fmla="val 4000" name="adj"/>
              </a:avLst>
            </a:prstGeom>
            <a:solidFill>
              <a:srgbClr val="0B1F35"/>
            </a:solidFill>
            <a:ln cap="flat" cmpd="sng" w="12700">
              <a:solidFill>
                <a:srgbClr val="0A305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5" name="Google Shape;595;p29"/>
            <p:cNvSpPr txBox="1"/>
            <p:nvPr/>
          </p:nvSpPr>
          <p:spPr>
            <a:xfrm>
              <a:off x="480060" y="1330555"/>
              <a:ext cx="5487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💎</a:t>
              </a:r>
              <a:endParaRPr/>
            </a:p>
          </p:txBody>
        </p:sp>
        <p:sp>
          <p:nvSpPr>
            <p:cNvPr id="596" name="Google Shape;596;p29"/>
            <p:cNvSpPr txBox="1"/>
            <p:nvPr/>
          </p:nvSpPr>
          <p:spPr>
            <a:xfrm>
              <a:off x="1115760" y="1330555"/>
              <a:ext cx="31986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FFD166"/>
                  </a:solidFill>
                  <a:latin typeface="Calibri"/>
                  <a:ea typeface="Calibri"/>
                  <a:cs typeface="Calibri"/>
                  <a:sym typeface="Calibri"/>
                </a:rPr>
                <a:t>Extra Bet</a:t>
              </a:r>
              <a:endParaRPr/>
            </a:p>
          </p:txBody>
        </p:sp>
        <p:sp>
          <p:nvSpPr>
            <p:cNvPr id="597" name="Google Shape;597;p29"/>
            <p:cNvSpPr txBox="1"/>
            <p:nvPr/>
          </p:nvSpPr>
          <p:spPr>
            <a:xfrm>
              <a:off x="1115760" y="1747675"/>
              <a:ext cx="31986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BBCFE0"/>
                  </a:solidFill>
                  <a:latin typeface="Calibri"/>
                  <a:ea typeface="Calibri"/>
                  <a:cs typeface="Calibri"/>
                  <a:sym typeface="Calibri"/>
                </a:rPr>
                <a:t>參考 5G 作法</a:t>
              </a:r>
              <a:endParaRPr/>
            </a:p>
          </p:txBody>
        </p:sp>
      </p:grpSp>
      <p:sp>
        <p:nvSpPr>
          <p:cNvPr id="598" name="Google Shape;598;p29"/>
          <p:cNvSpPr txBox="1"/>
          <p:nvPr/>
        </p:nvSpPr>
        <p:spPr>
          <a:xfrm>
            <a:off x="457200" y="4773240"/>
            <a:ext cx="8229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Jumbo Games  ｜  Super Bang Bang  ｜  RTP 9</a:t>
            </a: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.0%</a:t>
            </a:r>
            <a:endParaRPr/>
          </a:p>
        </p:txBody>
      </p:sp>
      <p:sp>
        <p:nvSpPr>
          <p:cNvPr id="599" name="Google Shape;599;p2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600" name="Google Shape;600;p29"/>
          <p:cNvGrpSpPr/>
          <p:nvPr/>
        </p:nvGrpSpPr>
        <p:grpSpPr>
          <a:xfrm>
            <a:off x="4691785" y="1147675"/>
            <a:ext cx="4068600" cy="1627200"/>
            <a:chOff x="365760" y="1147675"/>
            <a:chExt cx="4068600" cy="1627200"/>
          </a:xfrm>
        </p:grpSpPr>
        <p:sp>
          <p:nvSpPr>
            <p:cNvPr id="601" name="Google Shape;601;p29"/>
            <p:cNvSpPr/>
            <p:nvPr/>
          </p:nvSpPr>
          <p:spPr>
            <a:xfrm>
              <a:off x="365760" y="1147675"/>
              <a:ext cx="4068600" cy="1627200"/>
            </a:xfrm>
            <a:prstGeom prst="roundRect">
              <a:avLst>
                <a:gd fmla="val 4000" name="adj"/>
              </a:avLst>
            </a:prstGeom>
            <a:solidFill>
              <a:srgbClr val="0B1F35"/>
            </a:solidFill>
            <a:ln cap="flat" cmpd="sng" w="12700">
              <a:solidFill>
                <a:srgbClr val="0A305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2" name="Google Shape;602;p29"/>
            <p:cNvSpPr txBox="1"/>
            <p:nvPr/>
          </p:nvSpPr>
          <p:spPr>
            <a:xfrm>
              <a:off x="480060" y="1330555"/>
              <a:ext cx="5487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💎</a:t>
              </a:r>
              <a:endParaRPr/>
            </a:p>
          </p:txBody>
        </p:sp>
        <p:sp>
          <p:nvSpPr>
            <p:cNvPr id="603" name="Google Shape;603;p29"/>
            <p:cNvSpPr txBox="1"/>
            <p:nvPr/>
          </p:nvSpPr>
          <p:spPr>
            <a:xfrm>
              <a:off x="1115760" y="1330555"/>
              <a:ext cx="31986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FFD166"/>
                  </a:solidFill>
                  <a:latin typeface="Calibri"/>
                  <a:ea typeface="Calibri"/>
                  <a:cs typeface="Calibri"/>
                  <a:sym typeface="Calibri"/>
                </a:rPr>
                <a:t>OP Jackpot</a:t>
              </a:r>
              <a:endParaRPr/>
            </a:p>
          </p:txBody>
        </p:sp>
        <p:sp>
          <p:nvSpPr>
            <p:cNvPr id="604" name="Google Shape;604;p29"/>
            <p:cNvSpPr txBox="1"/>
            <p:nvPr/>
          </p:nvSpPr>
          <p:spPr>
            <a:xfrm>
              <a:off x="1115760" y="1747675"/>
              <a:ext cx="31986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BBCFE0"/>
                  </a:solidFill>
                  <a:latin typeface="Calibri"/>
                  <a:ea typeface="Calibri"/>
                  <a:cs typeface="Calibri"/>
                  <a:sym typeface="Calibri"/>
                </a:rPr>
                <a:t>SC 打擊觸發彩金遊戲</a:t>
              </a:r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3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10" name="Google Shape;610;p30" title="OLYMPU~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5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D1A"/>
        </a:solidFill>
      </p:bgPr>
    </p:bg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31"/>
          <p:cNvSpPr txBox="1"/>
          <p:nvPr/>
        </p:nvSpPr>
        <p:spPr>
          <a:xfrm>
            <a:off x="457200" y="365760"/>
            <a:ext cx="8229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🎨 美術設計重點（Art / UIUX）</a:t>
            </a:r>
            <a:endParaRPr/>
          </a:p>
        </p:txBody>
      </p:sp>
      <p:sp>
        <p:nvSpPr>
          <p:cNvPr id="616" name="Google Shape;616;p31"/>
          <p:cNvSpPr/>
          <p:nvPr/>
        </p:nvSpPr>
        <p:spPr>
          <a:xfrm>
            <a:off x="4691785" y="2971795"/>
            <a:ext cx="4068600" cy="1627200"/>
          </a:xfrm>
          <a:prstGeom prst="roundRect">
            <a:avLst>
              <a:gd fmla="val 4000" name="adj"/>
            </a:avLst>
          </a:prstGeom>
          <a:solidFill>
            <a:srgbClr val="0B1F35"/>
          </a:solidFill>
          <a:ln cap="flat" cmpd="sng" w="127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31"/>
          <p:cNvSpPr txBox="1"/>
          <p:nvPr/>
        </p:nvSpPr>
        <p:spPr>
          <a:xfrm>
            <a:off x="4806085" y="3154675"/>
            <a:ext cx="548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⚡</a:t>
            </a:r>
            <a:endParaRPr/>
          </a:p>
        </p:txBody>
      </p:sp>
      <p:sp>
        <p:nvSpPr>
          <p:cNvPr id="618" name="Google Shape;618;p31"/>
          <p:cNvSpPr txBox="1"/>
          <p:nvPr/>
        </p:nvSpPr>
        <p:spPr>
          <a:xfrm>
            <a:off x="5441785" y="3154675"/>
            <a:ext cx="3198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UIUX 建議</a:t>
            </a:r>
            <a:endParaRPr b="1" sz="1500">
              <a:solidFill>
                <a:srgbClr val="FFD1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31"/>
          <p:cNvSpPr txBox="1"/>
          <p:nvPr/>
        </p:nvSpPr>
        <p:spPr>
          <a:xfrm>
            <a:off x="5441785" y="3571795"/>
            <a:ext cx="3198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BBCFE0"/>
                </a:solidFill>
                <a:latin typeface="Calibri"/>
                <a:ea typeface="Calibri"/>
                <a:cs typeface="Calibri"/>
                <a:sym typeface="Calibri"/>
              </a:rPr>
              <a:t>倍數置中放大飄字，暖色＋震動</a:t>
            </a:r>
            <a:endParaRPr sz="1200">
              <a:solidFill>
                <a:srgbClr val="BBCFE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20" name="Google Shape;620;p31"/>
          <p:cNvGrpSpPr/>
          <p:nvPr/>
        </p:nvGrpSpPr>
        <p:grpSpPr>
          <a:xfrm>
            <a:off x="365760" y="2971800"/>
            <a:ext cx="4068600" cy="1627200"/>
            <a:chOff x="365760" y="2971800"/>
            <a:chExt cx="4068600" cy="1627200"/>
          </a:xfrm>
        </p:grpSpPr>
        <p:sp>
          <p:nvSpPr>
            <p:cNvPr id="621" name="Google Shape;621;p31"/>
            <p:cNvSpPr/>
            <p:nvPr/>
          </p:nvSpPr>
          <p:spPr>
            <a:xfrm>
              <a:off x="365760" y="2971800"/>
              <a:ext cx="4068600" cy="1627200"/>
            </a:xfrm>
            <a:prstGeom prst="roundRect">
              <a:avLst>
                <a:gd fmla="val 4000" name="adj"/>
              </a:avLst>
            </a:prstGeom>
            <a:solidFill>
              <a:srgbClr val="0B1F35"/>
            </a:solidFill>
            <a:ln cap="flat" cmpd="sng" w="12700">
              <a:solidFill>
                <a:srgbClr val="0A305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2" name="Google Shape;622;p31"/>
            <p:cNvSpPr txBox="1"/>
            <p:nvPr/>
          </p:nvSpPr>
          <p:spPr>
            <a:xfrm>
              <a:off x="480060" y="3154680"/>
              <a:ext cx="5487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🃏</a:t>
              </a:r>
              <a:endParaRPr/>
            </a:p>
          </p:txBody>
        </p:sp>
        <p:sp>
          <p:nvSpPr>
            <p:cNvPr id="623" name="Google Shape;623;p31"/>
            <p:cNvSpPr txBox="1"/>
            <p:nvPr/>
          </p:nvSpPr>
          <p:spPr>
            <a:xfrm>
              <a:off x="1115760" y="3154680"/>
              <a:ext cx="31986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FFD166"/>
                  </a:solidFill>
                  <a:latin typeface="Calibri"/>
                  <a:ea typeface="Calibri"/>
                  <a:cs typeface="Calibri"/>
                  <a:sym typeface="Calibri"/>
                </a:rPr>
                <a:t>UIUX 沿用</a:t>
              </a:r>
              <a:endParaRPr/>
            </a:p>
          </p:txBody>
        </p:sp>
        <p:sp>
          <p:nvSpPr>
            <p:cNvPr id="624" name="Google Shape;624;p31"/>
            <p:cNvSpPr txBox="1"/>
            <p:nvPr/>
          </p:nvSpPr>
          <p:spPr>
            <a:xfrm>
              <a:off x="1115760" y="3571800"/>
              <a:ext cx="31986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BBCFE0"/>
                  </a:solidFill>
                  <a:latin typeface="Calibri"/>
                  <a:ea typeface="Calibri"/>
                  <a:cs typeface="Calibri"/>
                  <a:sym typeface="Calibri"/>
                </a:rPr>
                <a:t>Buy／Bet・Tumble・賠付表保留</a:t>
              </a:r>
              <a:endParaRPr/>
            </a:p>
          </p:txBody>
        </p:sp>
      </p:grpSp>
      <p:grpSp>
        <p:nvGrpSpPr>
          <p:cNvPr id="625" name="Google Shape;625;p31"/>
          <p:cNvGrpSpPr/>
          <p:nvPr/>
        </p:nvGrpSpPr>
        <p:grpSpPr>
          <a:xfrm>
            <a:off x="365760" y="1147675"/>
            <a:ext cx="4068600" cy="1627200"/>
            <a:chOff x="365760" y="1147675"/>
            <a:chExt cx="4068600" cy="1627200"/>
          </a:xfrm>
        </p:grpSpPr>
        <p:sp>
          <p:nvSpPr>
            <p:cNvPr id="626" name="Google Shape;626;p31"/>
            <p:cNvSpPr/>
            <p:nvPr/>
          </p:nvSpPr>
          <p:spPr>
            <a:xfrm>
              <a:off x="365760" y="1147675"/>
              <a:ext cx="4068600" cy="1627200"/>
            </a:xfrm>
            <a:prstGeom prst="roundRect">
              <a:avLst>
                <a:gd fmla="val 4000" name="adj"/>
              </a:avLst>
            </a:prstGeom>
            <a:solidFill>
              <a:srgbClr val="0B1F35"/>
            </a:solidFill>
            <a:ln cap="flat" cmpd="sng" w="12700">
              <a:solidFill>
                <a:srgbClr val="0A305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7" name="Google Shape;627;p31"/>
            <p:cNvSpPr txBox="1"/>
            <p:nvPr/>
          </p:nvSpPr>
          <p:spPr>
            <a:xfrm>
              <a:off x="480060" y="1330555"/>
              <a:ext cx="5487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💎</a:t>
              </a:r>
              <a:endParaRPr/>
            </a:p>
          </p:txBody>
        </p:sp>
        <p:sp>
          <p:nvSpPr>
            <p:cNvPr id="628" name="Google Shape;628;p31"/>
            <p:cNvSpPr txBox="1"/>
            <p:nvPr/>
          </p:nvSpPr>
          <p:spPr>
            <a:xfrm>
              <a:off x="1115760" y="1330555"/>
              <a:ext cx="31986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FFD166"/>
                  </a:solidFill>
                  <a:latin typeface="Calibri"/>
                  <a:ea typeface="Calibri"/>
                  <a:cs typeface="Calibri"/>
                  <a:sym typeface="Calibri"/>
                </a:rPr>
                <a:t>宙斯主視覺</a:t>
              </a:r>
              <a:endParaRPr/>
            </a:p>
          </p:txBody>
        </p:sp>
        <p:sp>
          <p:nvSpPr>
            <p:cNvPr id="629" name="Google Shape;629;p31"/>
            <p:cNvSpPr txBox="1"/>
            <p:nvPr/>
          </p:nvSpPr>
          <p:spPr>
            <a:xfrm>
              <a:off x="1115760" y="1747675"/>
              <a:ext cx="31986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BBCFE0"/>
                  </a:solidFill>
                  <a:latin typeface="Calibri"/>
                  <a:ea typeface="Calibri"/>
                  <a:cs typeface="Calibri"/>
                  <a:sym typeface="Calibri"/>
                </a:rPr>
                <a:t>右側宙斯沿用；撒倍數時舉手</a:t>
              </a:r>
              <a:endParaRPr/>
            </a:p>
          </p:txBody>
        </p:sp>
      </p:grpSp>
      <p:sp>
        <p:nvSpPr>
          <p:cNvPr id="630" name="Google Shape;630;p31"/>
          <p:cNvSpPr txBox="1"/>
          <p:nvPr/>
        </p:nvSpPr>
        <p:spPr>
          <a:xfrm>
            <a:off x="457200" y="4773240"/>
            <a:ext cx="8229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Jumbo Games  ｜  Super Bang Bang  ｜  RTP 9</a:t>
            </a: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.0%</a:t>
            </a:r>
            <a:endParaRPr/>
          </a:p>
        </p:txBody>
      </p:sp>
      <p:sp>
        <p:nvSpPr>
          <p:cNvPr id="631" name="Google Shape;631;p3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632" name="Google Shape;632;p31"/>
          <p:cNvGrpSpPr/>
          <p:nvPr/>
        </p:nvGrpSpPr>
        <p:grpSpPr>
          <a:xfrm>
            <a:off x="4691785" y="1147675"/>
            <a:ext cx="4068600" cy="1627200"/>
            <a:chOff x="365760" y="1147675"/>
            <a:chExt cx="4068600" cy="1627200"/>
          </a:xfrm>
        </p:grpSpPr>
        <p:sp>
          <p:nvSpPr>
            <p:cNvPr id="633" name="Google Shape;633;p31"/>
            <p:cNvSpPr/>
            <p:nvPr/>
          </p:nvSpPr>
          <p:spPr>
            <a:xfrm>
              <a:off x="365760" y="1147675"/>
              <a:ext cx="4068600" cy="1627200"/>
            </a:xfrm>
            <a:prstGeom prst="roundRect">
              <a:avLst>
                <a:gd fmla="val 4000" name="adj"/>
              </a:avLst>
            </a:prstGeom>
            <a:solidFill>
              <a:srgbClr val="0B1F35"/>
            </a:solidFill>
            <a:ln cap="flat" cmpd="sng" w="12700">
              <a:solidFill>
                <a:srgbClr val="0A305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4" name="Google Shape;634;p31"/>
            <p:cNvSpPr txBox="1"/>
            <p:nvPr/>
          </p:nvSpPr>
          <p:spPr>
            <a:xfrm>
              <a:off x="480060" y="1330555"/>
              <a:ext cx="5487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💎</a:t>
              </a:r>
              <a:endParaRPr/>
            </a:p>
          </p:txBody>
        </p:sp>
        <p:sp>
          <p:nvSpPr>
            <p:cNvPr id="635" name="Google Shape;635;p31"/>
            <p:cNvSpPr txBox="1"/>
            <p:nvPr/>
          </p:nvSpPr>
          <p:spPr>
            <a:xfrm>
              <a:off x="1115760" y="1330555"/>
              <a:ext cx="31986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FFD166"/>
                  </a:solidFill>
                  <a:latin typeface="Calibri"/>
                  <a:ea typeface="Calibri"/>
                  <a:cs typeface="Calibri"/>
                  <a:sym typeface="Calibri"/>
                </a:rPr>
                <a:t>倍數演出分級</a:t>
              </a:r>
              <a:endParaRPr b="1" sz="1500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6" name="Google Shape;636;p31"/>
            <p:cNvSpPr txBox="1"/>
            <p:nvPr/>
          </p:nvSpPr>
          <p:spPr>
            <a:xfrm>
              <a:off x="1115760" y="1747675"/>
              <a:ext cx="31986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BBCFE0"/>
                  </a:solidFill>
                  <a:latin typeface="Calibri"/>
                  <a:ea typeface="Calibri"/>
                  <a:cs typeface="Calibri"/>
                  <a:sym typeface="Calibri"/>
                </a:rPr>
                <a:t>大倍數改集氣／慢舉手＋畫面震動</a:t>
              </a:r>
              <a:endParaRPr/>
            </a:p>
          </p:txBody>
        </p:sp>
      </p:grpSp>
      <p:pic>
        <p:nvPicPr>
          <p:cNvPr id="637" name="Google Shape;637;p31" title="art_boar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