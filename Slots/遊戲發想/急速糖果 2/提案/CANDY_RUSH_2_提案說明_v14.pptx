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封面" id="{ec26a1f3-b01d-3d56-a674-08d2ba099ad7}">
          <p14:sldIdLst>
            <p14:sldId id="256"/>
          </p14:sldIdLst>
        </p14:section>
        <p14:section name="01 遊戲概述" id="{8a4ed11c-1ce7-0a6f-1cdb-3b777d9f0b09}">
          <p14:sldIdLst>
            <p14:sldId id="257"/>
          </p14:sldIdLst>
        </p14:section>
        <p14:section name="02 遊戲規格一覽" id="{76133f08-f33e-e09e-9d32-c4c283cabad1}">
          <p14:sldIdLst>
            <p14:sldId id="258"/>
          </p14:sldIdLst>
        </p14:section>
        <p14:section name="03 符號說明與賠付" id="{1fd6cef6-2535-9257-db05-ab02b2cde3f8}">
          <p14:sldIdLst>
            <p14:sldId id="259"/>
            <p14:sldId id="260"/>
          </p14:sldIdLst>
        </p14:section>
        <p14:section name="04 核心玩法" id="{a4b70d55-8826-68cd-02bd-4124131b9794}">
          <p14:sldIdLst>
            <p14:sldId id="261"/>
            <p14:sldId id="262"/>
            <p14:sldId id="263"/>
            <p14:sldId id="264"/>
          </p14:sldIdLst>
        </p14:section>
        <p14:section name="05 免費遊戲" id="{a735deac-a9f0-7fcd-e3e3-538cd5dc8a72}">
          <p14:sldIdLst>
            <p14:sldId id="265"/>
          </p14:sldIdLst>
        </p14:section>
        <p14:section name="06 遊戲流程圖" id="{2a4868a2-57e2-83f8-9785-62816bb48942}">
          <p14:sldIdLst>
            <p14:sldId id="266"/>
          </p14:sldIdLst>
        </p14:section>
        <p14:section name="07 特殊押注" id="{5c62031d-4301-dee8-90e7-0b102e1f2057}">
          <p14:sldIdLst>
            <p14:sldId id="267"/>
            <p14:sldId id="268"/>
          </p14:sldIdLst>
        </p14:section>
        <p14:section name="08 與競品差異對照" id="{3571701b-b042-7fd3-0742-8e0e5418a380}">
          <p14:sldIdLst>
            <p14:sldId id="269"/>
            <p14:sldId id="270"/>
          </p14:sldIdLst>
        </p14:section>
        <p14:section name="Q&amp;A" id="{6517ed51-d27f-1d6e-9dc4-964a4dfb19a4}">
          <p14:sldIdLst>
            <p14:sldId id="27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image" Target="../media/COVER-image-1.png"/><Relationship Id="rId2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Logo" descr="C:\Users\rhinshen\AppData\Local\Temp\claude\c--Users-rhinshen-Mine----------\01b2ad50-d879-4095-9426-5c3ba6ea1a55\scratchpad\deck\assets\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27168" y="640080"/>
            <a:ext cx="1737360" cy="1737360"/>
          </a:xfrm>
          <a:prstGeom prst="rect">
            <a:avLst/>
          </a:prstGeom>
        </p:spPr>
      </p:pic>
      <p:sp>
        <p:nvSpPr>
          <p:cNvPr id="3" name="CoverTitle"/>
          <p:cNvSpPr txBox="1"/>
          <p:nvPr/>
        </p:nvSpPr>
        <p:spPr>
          <a:xfrm>
            <a:off x="0" y="2468880"/>
            <a:ext cx="1219169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F4CE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CANDY RUSH 2</a:t>
            </a:r>
            <a:endParaRPr lang="en-US" sz="5600" dirty="0"/>
          </a:p>
        </p:txBody>
      </p:sp>
      <p:sp>
        <p:nvSpPr>
          <p:cNvPr id="4" name="Text 1"/>
          <p:cNvSpPr txBox="1"/>
          <p:nvPr/>
        </p:nvSpPr>
        <p:spPr>
          <a:xfrm>
            <a:off x="0" y="3456432"/>
            <a:ext cx="1219169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急 速 糖 果 2</a:t>
            </a:r>
            <a:endParaRPr lang="en-US" sz="2400" dirty="0"/>
          </a:p>
        </p:txBody>
      </p:sp>
      <p:sp>
        <p:nvSpPr>
          <p:cNvPr id="5" name="Text 2"/>
          <p:cNvSpPr txBox="1"/>
          <p:nvPr/>
        </p:nvSpPr>
        <p:spPr>
          <a:xfrm>
            <a:off x="0" y="4005072"/>
            <a:ext cx="121916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E3A72F"/>
                </a:solidFill>
              </a:rPr>
              <a:t>✦   ✦   ✦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3082900" y="4572000"/>
            <a:ext cx="1874520" cy="402336"/>
          </a:xfrm>
          <a:prstGeom prst="roundRect">
            <a:avLst>
              <a:gd name="adj" fmla="val 50000"/>
            </a:avLst>
          </a:prstGeom>
          <a:solidFill>
            <a:srgbClr val="A3215E"/>
          </a:solidFill>
          <a:ln w="6350">
            <a:solidFill>
              <a:srgbClr val="A3215E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3082900" y="4572000"/>
            <a:ext cx="1874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5×5 群集消除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5158588" y="4572000"/>
            <a:ext cx="1874520" cy="402336"/>
          </a:xfrm>
          <a:prstGeom prst="roundRect">
            <a:avLst>
              <a:gd name="adj" fmla="val 50000"/>
            </a:avLst>
          </a:prstGeom>
          <a:solidFill>
            <a:srgbClr val="A3215E"/>
          </a:solidFill>
          <a:ln w="6350">
            <a:solidFill>
              <a:srgbClr val="A3215E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 txBox="1"/>
          <p:nvPr/>
        </p:nvSpPr>
        <p:spPr>
          <a:xfrm>
            <a:off x="5158588" y="4572000"/>
            <a:ext cx="1874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全盤倍數加總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7234276" y="4572000"/>
            <a:ext cx="1874520" cy="402336"/>
          </a:xfrm>
          <a:prstGeom prst="roundRect">
            <a:avLst>
              <a:gd name="adj" fmla="val 50000"/>
            </a:avLst>
          </a:prstGeom>
          <a:solidFill>
            <a:srgbClr val="A3215E"/>
          </a:solidFill>
          <a:ln w="6350">
            <a:solidFill>
              <a:srgbClr val="A3215E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 txBox="1"/>
          <p:nvPr/>
        </p:nvSpPr>
        <p:spPr>
          <a:xfrm>
            <a:off x="7234276" y="4572000"/>
            <a:ext cx="18745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同符號連帶消除</a:t>
            </a:r>
            <a:endParaRPr lang="en-US" sz="13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640080" y="38404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spc="200" kern="0" dirty="0">
                <a:solidFill>
                  <a:srgbClr val="E3A7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OVERVIEW</a:t>
            </a:r>
            <a:endParaRPr lang="en-US" sz="1250" dirty="0"/>
          </a:p>
        </p:txBody>
      </p:sp>
      <p:sp>
        <p:nvSpPr>
          <p:cNvPr id="3" name="Title"/>
          <p:cNvSpPr txBox="1"/>
          <p:nvPr/>
        </p:nvSpPr>
        <p:spPr>
          <a:xfrm>
            <a:off x="640080" y="713232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D0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遊戲概述</a:t>
            </a:r>
            <a:endParaRPr lang="en-US" sz="3000" dirty="0"/>
          </a:p>
        </p:txBody>
      </p:sp>
      <p:sp>
        <p:nvSpPr>
          <p:cNvPr id="4" name="PageNo"/>
          <p:cNvSpPr txBox="1"/>
          <p:nvPr/>
        </p:nvSpPr>
        <p:spPr>
          <a:xfrm>
            <a:off x="10728655" y="566928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i="1" dirty="0">
                <a:solidFill>
                  <a:srgbClr val="E3A7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00200"/>
            <a:ext cx="6492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D81B6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5×5 群集消除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103120"/>
            <a:ext cx="6492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3B1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每次消除讓底板</a:t>
            </a:r>
            <a:pPr indent="0" marL="0">
              <a:buNone/>
            </a:pPr>
            <a:r>
              <a:rPr lang="en-US" sz="1400" b="1" dirty="0">
                <a:solidFill>
                  <a:srgbClr val="D81B6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倍數 +1</a:t>
            </a:r>
            <a:pPr indent="0" marL="0">
              <a:buNone/>
            </a:pPr>
            <a:r>
              <a:rPr lang="en-US" sz="1400" dirty="0">
                <a:solidFill>
                  <a:srgbClr val="3B1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，任何位置中獎都乘上</a:t>
            </a:r>
            <a:pPr indent="0" marL="0">
              <a:buNone/>
            </a:pPr>
            <a:r>
              <a:rPr lang="en-US" sz="1400" b="1" dirty="0">
                <a:solidFill>
                  <a:srgbClr val="D81B6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全盤倍數加總</a:t>
            </a:r>
            <a:pPr indent="0" marL="0">
              <a:buNone/>
            </a:pPr>
            <a:r>
              <a:rPr lang="en-US" sz="1400" dirty="0">
                <a:solidFill>
                  <a:srgbClr val="3B1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；同符號</a:t>
            </a:r>
            <a:pPr indent="0" marL="0">
              <a:buNone/>
            </a:pPr>
            <a:r>
              <a:rPr lang="en-US" sz="1400" b="1" dirty="0">
                <a:solidFill>
                  <a:srgbClr val="D81B6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連帶消除</a:t>
            </a:r>
            <a:pPr indent="0" marL="0">
              <a:buNone/>
            </a:pPr>
            <a:r>
              <a:rPr lang="en-US" sz="1400" dirty="0">
                <a:solidFill>
                  <a:srgbClr val="3B1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讓連消更深。</a:t>
            </a:r>
            <a:endParaRPr lang="en-US" sz="1400" dirty="0"/>
          </a:p>
        </p:txBody>
      </p:sp>
      <p:sp>
        <p:nvSpPr>
          <p:cNvPr id="7" name="StatCard"/>
          <p:cNvSpPr/>
          <p:nvPr/>
        </p:nvSpPr>
        <p:spPr>
          <a:xfrm>
            <a:off x="640080" y="3154680"/>
            <a:ext cx="2011680" cy="1188720"/>
          </a:xfrm>
          <a:prstGeom prst="roundRect">
            <a:avLst>
              <a:gd name="adj" fmla="val 7692"/>
            </a:avLst>
          </a:prstGeom>
          <a:solidFill>
            <a:srgbClr val="5B1446"/>
          </a:solidFill>
          <a:ln w="15875">
            <a:solidFill>
              <a:srgbClr val="E3A72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40080" y="3297326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4CE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5×5</a:t>
            </a:r>
            <a:endParaRPr lang="en-US" sz="28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3867912"/>
            <a:ext cx="20116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盤面 25 格</a:t>
            </a:r>
            <a:endParaRPr lang="en-US" sz="1300" dirty="0"/>
          </a:p>
        </p:txBody>
      </p:sp>
      <p:sp>
        <p:nvSpPr>
          <p:cNvPr id="10" name="StatCard"/>
          <p:cNvSpPr/>
          <p:nvPr/>
        </p:nvSpPr>
        <p:spPr>
          <a:xfrm>
            <a:off x="2880360" y="3154680"/>
            <a:ext cx="2011680" cy="1188720"/>
          </a:xfrm>
          <a:prstGeom prst="roundRect">
            <a:avLst>
              <a:gd name="adj" fmla="val 7692"/>
            </a:avLst>
          </a:prstGeom>
          <a:solidFill>
            <a:srgbClr val="5B1446"/>
          </a:solidFill>
          <a:ln w="15875">
            <a:solidFill>
              <a:srgbClr val="E3A72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2880360" y="3297326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4CE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Σ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2880360" y="3867912"/>
            <a:ext cx="20116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全盤倍數加總</a:t>
            </a:r>
            <a:endParaRPr lang="en-US" sz="1300" dirty="0"/>
          </a:p>
        </p:txBody>
      </p:sp>
      <p:sp>
        <p:nvSpPr>
          <p:cNvPr id="13" name="StatCard"/>
          <p:cNvSpPr/>
          <p:nvPr/>
        </p:nvSpPr>
        <p:spPr>
          <a:xfrm>
            <a:off x="5120640" y="3154680"/>
            <a:ext cx="2011680" cy="1188720"/>
          </a:xfrm>
          <a:prstGeom prst="roundRect">
            <a:avLst>
              <a:gd name="adj" fmla="val 7692"/>
            </a:avLst>
          </a:prstGeom>
          <a:solidFill>
            <a:srgbClr val="5B1446"/>
          </a:solidFill>
          <a:ln w="15875">
            <a:solidFill>
              <a:srgbClr val="E3A72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5120640" y="3297326"/>
            <a:ext cx="2011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4CE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+1</a:t>
            </a:r>
            <a:endParaRPr lang="en-US" sz="2800" dirty="0"/>
          </a:p>
        </p:txBody>
      </p:sp>
      <p:sp>
        <p:nvSpPr>
          <p:cNvPr id="15" name="Text 13"/>
          <p:cNvSpPr txBox="1"/>
          <p:nvPr/>
        </p:nvSpPr>
        <p:spPr>
          <a:xfrm>
            <a:off x="5120640" y="3867912"/>
            <a:ext cx="201168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每消倍數成長</a:t>
            </a:r>
            <a:endParaRPr lang="en-US" sz="1300" dirty="0"/>
          </a:p>
        </p:txBody>
      </p:sp>
      <p:sp>
        <p:nvSpPr>
          <p:cNvPr id="16" name="LightCard"/>
          <p:cNvSpPr/>
          <p:nvPr/>
        </p:nvSpPr>
        <p:spPr>
          <a:xfrm>
            <a:off x="640080" y="4709160"/>
            <a:ext cx="6492240" cy="1051560"/>
          </a:xfrm>
          <a:prstGeom prst="roundRect">
            <a:avLst>
              <a:gd name="adj" fmla="val 6957"/>
            </a:avLst>
          </a:prstGeom>
          <a:solidFill>
            <a:srgbClr val="FFF4F8"/>
          </a:solidFill>
          <a:ln w="9525">
            <a:solidFill>
              <a:srgbClr val="EBC46F"/>
            </a:solidFill>
            <a:prstDash val="solid"/>
          </a:ln>
        </p:spPr>
        <p:txBody>
          <a:bodyPr/>
          <a:p/>
        </p:txBody>
      </p:sp>
      <p:pic>
        <p:nvPicPr>
          <p:cNvPr id="17" name="Image 0" descr="C:\Users\rhinshen\AppData\Local\Temp\claude\c--Users-rhinshen-Mine----------\01b2ad50-d879-4095-9426-5c3ba6ea1a55\scratchpad\deck\assets\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8680" y="4846320"/>
            <a:ext cx="777240" cy="777240"/>
          </a:xfrm>
          <a:prstGeom prst="rect">
            <a:avLst/>
          </a:prstGeom>
        </p:spPr>
      </p:pic>
      <p:sp>
        <p:nvSpPr>
          <p:cNvPr id="18" name="Text 15"/>
          <p:cNvSpPr txBox="1"/>
          <p:nvPr/>
        </p:nvSpPr>
        <p:spPr>
          <a:xfrm>
            <a:off x="1874520" y="4709160"/>
            <a:ext cx="5120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81B6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位置倍數</a:t>
            </a:r>
            <a:pPr indent="0" marL="0">
              <a:buNone/>
            </a:pPr>
            <a:r>
              <a:rPr lang="en-US" sz="1400" dirty="0">
                <a:solidFill>
                  <a:srgbClr val="3B1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黏在格位、只增不減，連消越長、</a:t>
            </a:r>
            <a:pPr indent="0" marL="0">
              <a:buNone/>
            </a:pPr>
            <a:r>
              <a:rPr lang="en-US" sz="1400" b="1" dirty="0">
                <a:solidFill>
                  <a:srgbClr val="D81B6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全盤倍數</a:t>
            </a:r>
            <a:pPr indent="0" marL="0">
              <a:buNone/>
            </a:pPr>
            <a:r>
              <a:rPr lang="en-US" sz="1400" dirty="0">
                <a:solidFill>
                  <a:srgbClr val="3B1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越滾越大。</a:t>
            </a:r>
            <a:endParaRPr lang="en-US" sz="1400" dirty="0"/>
          </a:p>
        </p:txBody>
      </p:sp>
      <p:sp>
        <p:nvSpPr>
          <p:cNvPr id="19" name="ShotFrame"/>
          <p:cNvSpPr/>
          <p:nvPr/>
        </p:nvSpPr>
        <p:spPr>
          <a:xfrm>
            <a:off x="7388352" y="1261872"/>
            <a:ext cx="4324619" cy="5020056"/>
          </a:xfrm>
          <a:prstGeom prst="roundRect">
            <a:avLst>
              <a:gd name="adj" fmla="val 1692"/>
            </a:avLst>
          </a:prstGeom>
          <a:solidFill>
            <a:srgbClr val="E3A72F"/>
          </a:solidFill>
          <a:ln w="6350">
            <a:solidFill>
              <a:srgbClr val="E3A72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pic>
        <p:nvPicPr>
          <p:cNvPr id="20" name="DemoShot" descr="C:\Users\rhinshen\AppData\Local\Temp\claude\c--Users-rhinshen-Mine----------\01b2ad50-d879-4095-9426-5c3ba6ea1a55\scratchpad\deck\shots\nb_fin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2360" y="1325880"/>
            <a:ext cx="4196603" cy="4892040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7086600" y="6327648"/>
            <a:ext cx="4928123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6A7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demo 畫面：一般押注六段連消後的倍數分布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640080" y="38404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spc="200" kern="0" dirty="0">
                <a:solidFill>
                  <a:srgbClr val="E3A7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GAME SPEC</a:t>
            </a:r>
            <a:endParaRPr lang="en-US" sz="1250" dirty="0"/>
          </a:p>
        </p:txBody>
      </p:sp>
      <p:sp>
        <p:nvSpPr>
          <p:cNvPr id="3" name="Title"/>
          <p:cNvSpPr txBox="1"/>
          <p:nvPr/>
        </p:nvSpPr>
        <p:spPr>
          <a:xfrm>
            <a:off x="640080" y="713232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D0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遊戲規格一覽</a:t>
            </a:r>
            <a:endParaRPr lang="en-US" sz="3000" dirty="0"/>
          </a:p>
        </p:txBody>
      </p:sp>
      <p:sp>
        <p:nvSpPr>
          <p:cNvPr id="4" name="PageNo"/>
          <p:cNvSpPr txBox="1"/>
          <p:nvPr/>
        </p:nvSpPr>
        <p:spPr>
          <a:xfrm>
            <a:off x="10728655" y="566928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i="1" dirty="0">
                <a:solidFill>
                  <a:srgbClr val="E3A7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300" dirty="0"/>
          </a:p>
        </p:txBody>
      </p:sp>
      <p:sp>
        <p:nvSpPr>
          <p:cNvPr id="5" name="StatCard"/>
          <p:cNvSpPr/>
          <p:nvPr/>
        </p:nvSpPr>
        <p:spPr>
          <a:xfrm>
            <a:off x="640080" y="1508760"/>
            <a:ext cx="2560320" cy="1188720"/>
          </a:xfrm>
          <a:prstGeom prst="roundRect">
            <a:avLst>
              <a:gd name="adj" fmla="val 7692"/>
            </a:avLst>
          </a:prstGeom>
          <a:solidFill>
            <a:srgbClr val="5B1446"/>
          </a:solidFill>
          <a:ln w="15875">
            <a:solidFill>
              <a:srgbClr val="E3A72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40080" y="1651406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4CE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Cluster</a:t>
            </a:r>
            <a:endParaRPr lang="en-US" sz="28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221992"/>
            <a:ext cx="2560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群集中獎</a:t>
            </a:r>
            <a:endParaRPr lang="en-US" sz="1300" dirty="0"/>
          </a:p>
        </p:txBody>
      </p:sp>
      <p:sp>
        <p:nvSpPr>
          <p:cNvPr id="8" name="StatCard"/>
          <p:cNvSpPr/>
          <p:nvPr/>
        </p:nvSpPr>
        <p:spPr>
          <a:xfrm>
            <a:off x="3419856" y="1508760"/>
            <a:ext cx="2560320" cy="1188720"/>
          </a:xfrm>
          <a:prstGeom prst="roundRect">
            <a:avLst>
              <a:gd name="adj" fmla="val 7692"/>
            </a:avLst>
          </a:prstGeom>
          <a:solidFill>
            <a:srgbClr val="5B1446"/>
          </a:solidFill>
          <a:ln w="15875">
            <a:solidFill>
              <a:srgbClr val="E3A72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3419856" y="1651406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4CE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 × 5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3419856" y="2221992"/>
            <a:ext cx="2560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盤面 25 格</a:t>
            </a:r>
            <a:endParaRPr lang="en-US" sz="1300" dirty="0"/>
          </a:p>
        </p:txBody>
      </p:sp>
      <p:sp>
        <p:nvSpPr>
          <p:cNvPr id="11" name="StatCard"/>
          <p:cNvSpPr/>
          <p:nvPr/>
        </p:nvSpPr>
        <p:spPr>
          <a:xfrm>
            <a:off x="6199632" y="1508760"/>
            <a:ext cx="2560320" cy="1188720"/>
          </a:xfrm>
          <a:prstGeom prst="roundRect">
            <a:avLst>
              <a:gd name="adj" fmla="val 7692"/>
            </a:avLst>
          </a:prstGeom>
          <a:solidFill>
            <a:srgbClr val="5B1446"/>
          </a:solidFill>
          <a:ln w="15875">
            <a:solidFill>
              <a:srgbClr val="E3A72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6199632" y="1651406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4CE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10~20 *</a:t>
            </a:r>
            <a:endParaRPr lang="en-US" sz="2800" dirty="0"/>
          </a:p>
        </p:txBody>
      </p:sp>
      <p:sp>
        <p:nvSpPr>
          <p:cNvPr id="13" name="Text 11"/>
          <p:cNvSpPr txBox="1"/>
          <p:nvPr/>
        </p:nvSpPr>
        <p:spPr>
          <a:xfrm>
            <a:off x="6199632" y="2221992"/>
            <a:ext cx="2560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免費遊戲局數</a:t>
            </a:r>
            <a:endParaRPr lang="en-US" sz="1300" dirty="0"/>
          </a:p>
        </p:txBody>
      </p:sp>
      <p:sp>
        <p:nvSpPr>
          <p:cNvPr id="14" name="StatCard"/>
          <p:cNvSpPr/>
          <p:nvPr/>
        </p:nvSpPr>
        <p:spPr>
          <a:xfrm>
            <a:off x="8979408" y="1508760"/>
            <a:ext cx="2560320" cy="1188720"/>
          </a:xfrm>
          <a:prstGeom prst="roundRect">
            <a:avLst>
              <a:gd name="adj" fmla="val 7692"/>
            </a:avLst>
          </a:prstGeom>
          <a:solidFill>
            <a:srgbClr val="5B1446"/>
          </a:solidFill>
          <a:ln w="15875">
            <a:solidFill>
              <a:srgbClr val="E3A72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8979408" y="1651406"/>
            <a:ext cx="25603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4CE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800" dirty="0"/>
          </a:p>
        </p:txBody>
      </p:sp>
      <p:sp>
        <p:nvSpPr>
          <p:cNvPr id="16" name="Text 14"/>
          <p:cNvSpPr txBox="1"/>
          <p:nvPr/>
        </p:nvSpPr>
        <p:spPr>
          <a:xfrm>
            <a:off x="8979408" y="2221992"/>
            <a:ext cx="256032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押注選項</a:t>
            </a:r>
            <a:endParaRPr lang="en-US" sz="1300" dirty="0"/>
          </a:p>
        </p:txBody>
      </p:sp>
      <p:graphicFrame>
        <p:nvGraphicFramePr>
          <p:cNvPr id="4" name="Spec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063240"/>
          <a:ext cx="10899648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840480"/>
                <a:gridCol w="1463040"/>
                <a:gridCol w="4133088"/>
              </a:tblGrid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4CE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144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4CE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規格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144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4CE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144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4CE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規格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1446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5B144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遊戲類型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B1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Cluster Pay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5B144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符號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B1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一般符號 6 種 · Scatter 1 種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5B144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盤面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B1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 × 5（25 格）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5B144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免費遊戲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B1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3~5 Scatter → 10~20 局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8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5B144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中獎條件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D81B6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上下左右相連 4 個以上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EE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5B144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押注選項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B1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Normal · Extra Bet 10× · Buy Feature 100× *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Footnote"/>
          <p:cNvSpPr txBox="1"/>
          <p:nvPr/>
        </p:nvSpPr>
        <p:spPr>
          <a:xfrm>
            <a:off x="640080" y="6327648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A7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依 game_rule.md v0.3（規則基底 H022 糖果轟炸 1000，賠率採 Sugar Rush）；* 為待確認數值。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640080" y="38404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spc="200" kern="0" dirty="0">
                <a:solidFill>
                  <a:srgbClr val="E3A7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SYMBOLS</a:t>
            </a:r>
            <a:endParaRPr lang="en-US" sz="1250" dirty="0"/>
          </a:p>
        </p:txBody>
      </p:sp>
      <p:sp>
        <p:nvSpPr>
          <p:cNvPr id="3" name="Title"/>
          <p:cNvSpPr txBox="1"/>
          <p:nvPr/>
        </p:nvSpPr>
        <p:spPr>
          <a:xfrm>
            <a:off x="640080" y="713232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D0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符號說明與賠付</a:t>
            </a:r>
            <a:endParaRPr lang="en-US" sz="3000" dirty="0"/>
          </a:p>
        </p:txBody>
      </p:sp>
      <p:sp>
        <p:nvSpPr>
          <p:cNvPr id="4" name="PageNo"/>
          <p:cNvSpPr txBox="1"/>
          <p:nvPr/>
        </p:nvSpPr>
        <p:spPr>
          <a:xfrm>
            <a:off x="10728655" y="566928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i="1" dirty="0">
                <a:solidFill>
                  <a:srgbClr val="E3A7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300" dirty="0"/>
          </a:p>
        </p:txBody>
      </p:sp>
      <p:sp>
        <p:nvSpPr>
          <p:cNvPr id="5" name="LightCard"/>
          <p:cNvSpPr/>
          <p:nvPr/>
        </p:nvSpPr>
        <p:spPr>
          <a:xfrm>
            <a:off x="640080" y="1508760"/>
            <a:ext cx="5074920" cy="1188720"/>
          </a:xfrm>
          <a:prstGeom prst="roundRect">
            <a:avLst>
              <a:gd name="adj" fmla="val 6154"/>
            </a:avLst>
          </a:prstGeom>
          <a:solidFill>
            <a:srgbClr val="FFF4F8"/>
          </a:solidFill>
          <a:ln w="9525">
            <a:solidFill>
              <a:srgbClr val="EBC46F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868680" y="160020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81B6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一般符號（6）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868680" y="1965960"/>
            <a:ext cx="603504" cy="603504"/>
          </a:xfrm>
          <a:prstGeom prst="roundRect">
            <a:avLst>
              <a:gd name="adj" fmla="val 15152"/>
            </a:avLst>
          </a:prstGeom>
          <a:solidFill>
            <a:srgbClr val="47202A"/>
          </a:solidFill>
          <a:ln w="25400">
            <a:solidFill>
              <a:srgbClr val="9C5664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868680" y="196596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F4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M1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655064" y="1965960"/>
            <a:ext cx="603504" cy="603504"/>
          </a:xfrm>
          <a:prstGeom prst="roundRect">
            <a:avLst>
              <a:gd name="adj" fmla="val 15152"/>
            </a:avLst>
          </a:prstGeom>
          <a:solidFill>
            <a:srgbClr val="302354"/>
          </a:solidFill>
          <a:ln w="25400">
            <a:solidFill>
              <a:srgbClr val="7C68B8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1655064" y="196596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F4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M2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2441448" y="1965960"/>
            <a:ext cx="603504" cy="603504"/>
          </a:xfrm>
          <a:prstGeom prst="roundRect">
            <a:avLst>
              <a:gd name="adj" fmla="val 15152"/>
            </a:avLst>
          </a:prstGeom>
          <a:solidFill>
            <a:srgbClr val="183C30"/>
          </a:solidFill>
          <a:ln w="25400">
            <a:solidFill>
              <a:srgbClr val="4F957D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2441448" y="196596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F4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M3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227832" y="1965960"/>
            <a:ext cx="603504" cy="603504"/>
          </a:xfrm>
          <a:prstGeom prst="roundRect">
            <a:avLst>
              <a:gd name="adj" fmla="val 15152"/>
            </a:avLst>
          </a:prstGeom>
          <a:solidFill>
            <a:srgbClr val="1C3459"/>
          </a:solidFill>
          <a:ln w="25400">
            <a:solidFill>
              <a:srgbClr val="5A85BF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3227832" y="196596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F4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M4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4014216" y="1965960"/>
            <a:ext cx="603504" cy="603504"/>
          </a:xfrm>
          <a:prstGeom prst="roundRect">
            <a:avLst>
              <a:gd name="adj" fmla="val 15152"/>
            </a:avLst>
          </a:prstGeom>
          <a:solidFill>
            <a:srgbClr val="163B43"/>
          </a:solidFill>
          <a:ln w="25400">
            <a:solidFill>
              <a:srgbClr val="4A959D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4014216" y="196596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F4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M5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4800600" y="1965960"/>
            <a:ext cx="603504" cy="603504"/>
          </a:xfrm>
          <a:prstGeom prst="roundRect">
            <a:avLst>
              <a:gd name="adj" fmla="val 15152"/>
            </a:avLst>
          </a:prstGeom>
          <a:solidFill>
            <a:srgbClr val="46243E"/>
          </a:solidFill>
          <a:ln w="25400">
            <a:solidFill>
              <a:srgbClr val="A0628F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4800600" y="196596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F4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M6</a:t>
            </a:r>
            <a:endParaRPr lang="en-US" sz="1400" dirty="0"/>
          </a:p>
        </p:txBody>
      </p:sp>
      <p:sp>
        <p:nvSpPr>
          <p:cNvPr id="19" name="LightCard"/>
          <p:cNvSpPr/>
          <p:nvPr/>
        </p:nvSpPr>
        <p:spPr>
          <a:xfrm>
            <a:off x="5943600" y="1508760"/>
            <a:ext cx="5699455" cy="1188720"/>
          </a:xfrm>
          <a:prstGeom prst="roundRect">
            <a:avLst>
              <a:gd name="adj" fmla="val 6154"/>
            </a:avLst>
          </a:prstGeom>
          <a:solidFill>
            <a:srgbClr val="FFF4F8"/>
          </a:solidFill>
          <a:ln w="9525">
            <a:solidFill>
              <a:srgbClr val="EBC46F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6172200" y="1600200"/>
            <a:ext cx="2743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81B6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特殊符號（1）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172200" y="1965960"/>
            <a:ext cx="603504" cy="603504"/>
          </a:xfrm>
          <a:prstGeom prst="roundRect">
            <a:avLst>
              <a:gd name="adj" fmla="val 15152"/>
            </a:avLst>
          </a:prstGeom>
          <a:solidFill>
            <a:srgbClr val="E08A1E"/>
          </a:solidFill>
          <a:ln w="25400">
            <a:solidFill>
              <a:srgbClr val="FFC46B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 txBox="1"/>
          <p:nvPr/>
        </p:nvSpPr>
        <p:spPr>
          <a:xfrm>
            <a:off x="6172200" y="196596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F4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C1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949440" y="1938528"/>
            <a:ext cx="451073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B1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Scatter：3 個以上觸發 </a:t>
            </a:r>
            <a:pPr indent="0" marL="0">
              <a:buNone/>
            </a:pPr>
            <a:r>
              <a:rPr lang="en-US" sz="1250" b="1" dirty="0">
                <a:solidFill>
                  <a:srgbClr val="D81B6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免費遊戲</a:t>
            </a:r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3B1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同一輪最多 1 顆、不參與消除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640080" y="2880360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0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一般符號賠付（× Bet，依相連數量）</a:t>
            </a:r>
            <a:endParaRPr lang="en-US" sz="1400" dirty="0"/>
          </a:p>
        </p:txBody>
      </p:sp>
      <p:graphicFrame>
        <p:nvGraphicFramePr>
          <p:cNvPr id="5" name="Pay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273552"/>
          <a:ext cx="10899648" cy="914400"/>
        </p:xfrm>
        <a:graphic>
          <a:graphicData uri="http://schemas.openxmlformats.org/drawingml/2006/table">
            <a:tbl>
              <a:tblPr/>
              <a:tblGrid>
                <a:gridCol w="1207008"/>
                <a:gridCol w="881116"/>
                <a:gridCol w="881116"/>
                <a:gridCol w="881116"/>
                <a:gridCol w="881116"/>
                <a:gridCol w="881116"/>
                <a:gridCol w="881116"/>
                <a:gridCol w="881116"/>
              </a:tblGrid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4CE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符號 \ 相連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14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4CE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14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4CE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14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4CE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14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4CE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7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81B60"/>
                      </a:solidFill>
                    </a:lnR>
                    <a:lnT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14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4CE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8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28575" cap="flat" cmpd="sng" algn="ctr">
                      <a:solidFill>
                        <a:srgbClr val="D81B60"/>
                      </a:solidFill>
                    </a:lnL>
                    <a:lnR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D81B60"/>
                      </a:solidFill>
                    </a:lnT>
                    <a:lnB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E10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4CE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9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8575" cap="flat" cmpd="sng" algn="ctr">
                      <a:solidFill>
                        <a:srgbClr val="D81B60"/>
                      </a:solidFill>
                    </a:lnT>
                    <a:lnB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E10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4CE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10+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81B60"/>
                      </a:solidFill>
                    </a:lnR>
                    <a:lnT w="28575" cap="flat" cmpd="sng" algn="ctr">
                      <a:solidFill>
                        <a:srgbClr val="D81B60"/>
                      </a:solidFill>
                    </a:lnT>
                    <a:lnB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E104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B144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M1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B1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B1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1.5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B1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1.75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B1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81B60"/>
                      </a:solidFill>
                    </a:lnR>
                    <a:lnT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B1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7.5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28575" cap="flat" cmpd="sng" algn="ctr">
                      <a:solidFill>
                        <a:srgbClr val="D81B60"/>
                      </a:solidFill>
                    </a:lnL>
                    <a:lnR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B1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35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B1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150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81B60"/>
                      </a:solidFill>
                    </a:lnR>
                    <a:lnT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F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B144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M2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B1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0.75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B1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B1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1.25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B1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1.5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81B60"/>
                      </a:solidFill>
                    </a:lnR>
                    <a:lnT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B1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28575" cap="flat" cmpd="sng" algn="ctr">
                      <a:solidFill>
                        <a:srgbClr val="D81B60"/>
                      </a:solidFill>
                    </a:lnL>
                    <a:lnR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B1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25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B1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100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81B60"/>
                      </a:solidFill>
                    </a:lnR>
                    <a:lnT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F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B144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M3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B1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0.5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B1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0.75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B1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B1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1.25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81B60"/>
                      </a:solidFill>
                    </a:lnR>
                    <a:lnT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B1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4.5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28575" cap="flat" cmpd="sng" algn="ctr">
                      <a:solidFill>
                        <a:srgbClr val="D81B60"/>
                      </a:solidFill>
                    </a:lnL>
                    <a:lnR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B1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15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B1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60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81B60"/>
                      </a:solidFill>
                    </a:lnR>
                    <a:lnT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F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B144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M4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B1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0.4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B1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0.5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B1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0.75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B1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81B60"/>
                      </a:solidFill>
                    </a:lnR>
                    <a:lnT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B1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3.5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28575" cap="flat" cmpd="sng" algn="ctr">
                      <a:solidFill>
                        <a:srgbClr val="D81B60"/>
                      </a:solidFill>
                    </a:lnL>
                    <a:lnR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B1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12.5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B1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40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81B60"/>
                      </a:solidFill>
                    </a:lnR>
                    <a:lnT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F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B144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M5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B1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0.3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B1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0.4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B1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0.5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B1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0.75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81B60"/>
                      </a:solidFill>
                    </a:lnR>
                    <a:lnT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B1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2.5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28575" cap="flat" cmpd="sng" algn="ctr">
                      <a:solidFill>
                        <a:srgbClr val="D81B60"/>
                      </a:solidFill>
                    </a:lnL>
                    <a:lnR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B1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B1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30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81B60"/>
                      </a:solidFill>
                    </a:lnR>
                    <a:lnT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1F6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B144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M6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B1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0.25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B1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0.3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B1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0.4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B1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0.5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81B60"/>
                      </a:solidFill>
                    </a:lnR>
                    <a:lnT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B1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1.5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28575" cap="flat" cmpd="sng" algn="ctr">
                      <a:solidFill>
                        <a:srgbClr val="D81B60"/>
                      </a:solidFill>
                    </a:lnL>
                    <a:lnR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D81B60"/>
                      </a:solidFill>
                    </a:lnB>
                    <a:solidFill>
                      <a:srgbClr val="FF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B1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7.5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D81B60"/>
                      </a:solidFill>
                    </a:lnB>
                    <a:solidFill>
                      <a:srgbClr val="FFF1F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B1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25</a:t>
                      </a:r>
                      <a:endParaRPr lang="en-US" sz="120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D81B60"/>
                      </a:solidFill>
                    </a:lnR>
                    <a:lnT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8575" cap="flat" cmpd="sng" algn="ctr">
                      <a:solidFill>
                        <a:srgbClr val="D81B60"/>
                      </a:solidFill>
                    </a:lnB>
                    <a:solidFill>
                      <a:srgbClr val="FFF1F6"/>
                    </a:solidFill>
                  </a:tcPr>
                </a:tc>
              </a:tr>
            </a:tbl>
          </a:graphicData>
        </a:graphic>
      </p:graphicFrame>
      <p:sp>
        <p:nvSpPr>
          <p:cNvPr id="26" name="Footnote"/>
          <p:cNvSpPr txBox="1"/>
          <p:nvPr/>
        </p:nvSpPr>
        <p:spPr>
          <a:xfrm>
            <a:off x="640080" y="6327648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A7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賠率值採 Sugar Rush 賠率表，4~7 連各檔連線數 -1，8／9／10+ 為自訂爆炸區　·　實際獎金 = 群集賠率 × Bet × 全盤倍數和（0 視為 1）</a:t>
            </a:r>
            <a:endParaRPr lang="en-US" sz="1100" dirty="0"/>
          </a:p>
        </p:txBody>
      </p:sp>
      <p:sp>
        <p:nvSpPr>
          <p:cNvPr id="27" name="TextBox 26"/>
          <p:cNvSpPr txBox="1"/>
          <p:nvPr/>
        </p:nvSpPr>
        <p:spPr>
          <a:xfrm>
            <a:off x="5371552" y="2953552"/>
            <a:ext cx="2643348" cy="28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D81B60"/>
                </a:solidFill>
                <a:latin typeface="Noto Sans TC"/>
              </a:rPr>
              <a:t>爆炸區 ▼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640080" y="38404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spc="200" kern="0" dirty="0">
                <a:solidFill>
                  <a:srgbClr val="E3A7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ART REQUIREMENT</a:t>
            </a:r>
            <a:endParaRPr lang="en-US" sz="1250" dirty="0"/>
          </a:p>
        </p:txBody>
      </p:sp>
      <p:sp>
        <p:nvSpPr>
          <p:cNvPr id="3" name="Title"/>
          <p:cNvSpPr txBox="1"/>
          <p:nvPr/>
        </p:nvSpPr>
        <p:spPr>
          <a:xfrm>
            <a:off x="640080" y="713232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D0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符號與美術需求</a:t>
            </a:r>
            <a:endParaRPr lang="en-US" sz="3000" dirty="0"/>
          </a:p>
        </p:txBody>
      </p:sp>
      <p:sp>
        <p:nvSpPr>
          <p:cNvPr id="4" name="PageNo"/>
          <p:cNvSpPr txBox="1"/>
          <p:nvPr/>
        </p:nvSpPr>
        <p:spPr>
          <a:xfrm>
            <a:off x="10728655" y="566928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i="1" dirty="0">
                <a:solidFill>
                  <a:srgbClr val="E3A7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50876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B1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一般符號 6 種 + 特殊符號 1 種</a:t>
            </a:r>
            <a:pPr indent="0" marL="0">
              <a:buNone/>
            </a:pPr>
            <a:r>
              <a:rPr lang="en-US" sz="1400" dirty="0">
                <a:solidFill>
                  <a:srgbClr val="3B1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 · 美術風格參考待定（糖果主題，正式符號待美術）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057400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0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一般符號（6）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2487168"/>
            <a:ext cx="1097280" cy="1097280"/>
          </a:xfrm>
          <a:prstGeom prst="roundRect">
            <a:avLst>
              <a:gd name="adj" fmla="val 8333"/>
            </a:avLst>
          </a:prstGeom>
          <a:solidFill>
            <a:srgbClr val="47202A"/>
          </a:solidFill>
          <a:ln w="25400">
            <a:solidFill>
              <a:srgbClr val="9C5664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640080" y="2487168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8F4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M1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63931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B1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sym_M1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121408" y="2487168"/>
            <a:ext cx="1097280" cy="1097280"/>
          </a:xfrm>
          <a:prstGeom prst="roundRect">
            <a:avLst>
              <a:gd name="adj" fmla="val 8333"/>
            </a:avLst>
          </a:prstGeom>
          <a:solidFill>
            <a:srgbClr val="302354"/>
          </a:solidFill>
          <a:ln w="25400">
            <a:solidFill>
              <a:srgbClr val="7C68B8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2121408" y="2487168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8F4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M2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1938528" y="363931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B1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sym_M2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602736" y="2487168"/>
            <a:ext cx="1097280" cy="1097280"/>
          </a:xfrm>
          <a:prstGeom prst="roundRect">
            <a:avLst>
              <a:gd name="adj" fmla="val 8333"/>
            </a:avLst>
          </a:prstGeom>
          <a:solidFill>
            <a:srgbClr val="183C30"/>
          </a:solidFill>
          <a:ln w="25400">
            <a:solidFill>
              <a:srgbClr val="4F957D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3602736" y="2487168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8F4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M3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3419856" y="363931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B1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sym_M3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084064" y="2487168"/>
            <a:ext cx="1097280" cy="1097280"/>
          </a:xfrm>
          <a:prstGeom prst="roundRect">
            <a:avLst>
              <a:gd name="adj" fmla="val 8333"/>
            </a:avLst>
          </a:prstGeom>
          <a:solidFill>
            <a:srgbClr val="1C3459"/>
          </a:solidFill>
          <a:ln w="25400">
            <a:solidFill>
              <a:srgbClr val="5A85B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5084064" y="2487168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8F4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M4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4901184" y="363931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B1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sym_M4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565392" y="2487168"/>
            <a:ext cx="1097280" cy="1097280"/>
          </a:xfrm>
          <a:prstGeom prst="roundRect">
            <a:avLst>
              <a:gd name="adj" fmla="val 8333"/>
            </a:avLst>
          </a:prstGeom>
          <a:solidFill>
            <a:srgbClr val="163B43"/>
          </a:solidFill>
          <a:ln w="25400">
            <a:solidFill>
              <a:srgbClr val="4A959D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6565392" y="2487168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8F4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M5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6382512" y="363931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B1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sym_M5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046720" y="2487168"/>
            <a:ext cx="1097280" cy="1097280"/>
          </a:xfrm>
          <a:prstGeom prst="roundRect">
            <a:avLst>
              <a:gd name="adj" fmla="val 8333"/>
            </a:avLst>
          </a:prstGeom>
          <a:solidFill>
            <a:srgbClr val="46243E"/>
          </a:solidFill>
          <a:ln w="25400">
            <a:solidFill>
              <a:srgbClr val="A0628F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8046720" y="2487168"/>
            <a:ext cx="1097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E8F4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M6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7863840" y="3639312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3B1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sym_M6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640080" y="4315968"/>
            <a:ext cx="4572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D0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特殊符號與演出標記（4）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40080" y="4709160"/>
            <a:ext cx="868680" cy="868680"/>
          </a:xfrm>
          <a:prstGeom prst="roundRect">
            <a:avLst>
              <a:gd name="adj" fmla="val 10526"/>
            </a:avLst>
          </a:prstGeom>
          <a:solidFill>
            <a:srgbClr val="E08A1E"/>
          </a:solidFill>
          <a:ln w="25400">
            <a:solidFill>
              <a:srgbClr val="FFC46B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 txBox="1"/>
          <p:nvPr/>
        </p:nvSpPr>
        <p:spPr>
          <a:xfrm>
            <a:off x="640080" y="470916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F4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C1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1645920" y="4709160"/>
            <a:ext cx="1600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B1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Scatter · sym_C1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3337560" y="4709160"/>
            <a:ext cx="868680" cy="868680"/>
          </a:xfrm>
          <a:prstGeom prst="roundRect">
            <a:avLst>
              <a:gd name="adj" fmla="val 10526"/>
            </a:avLst>
          </a:prstGeom>
          <a:solidFill>
            <a:srgbClr val="46243E"/>
          </a:solidFill>
          <a:ln w="25400">
            <a:solidFill>
              <a:srgbClr val="A0628F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 txBox="1"/>
          <p:nvPr/>
        </p:nvSpPr>
        <p:spPr>
          <a:xfrm>
            <a:off x="3337560" y="470916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F4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M6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3631082" y="5280660"/>
            <a:ext cx="538582" cy="260604"/>
          </a:xfrm>
          <a:prstGeom prst="roundRect">
            <a:avLst>
              <a:gd name="adj" fmla="val 17544"/>
            </a:avLst>
          </a:prstGeom>
          <a:solidFill>
            <a:srgbClr val="FFB347"/>
          </a:solidFill>
          <a:ln w="6350">
            <a:solidFill>
              <a:srgbClr val="FFB347"/>
            </a:solidFill>
            <a:prstDash val="solid"/>
          </a:ln>
        </p:spPr>
        <p:txBody>
          <a:bodyPr/>
          <a:p/>
        </p:txBody>
      </p:sp>
      <p:sp>
        <p:nvSpPr>
          <p:cNvPr id="32" name="Text 30"/>
          <p:cNvSpPr txBox="1"/>
          <p:nvPr/>
        </p:nvSpPr>
        <p:spPr>
          <a:xfrm>
            <a:off x="3631082" y="5280660"/>
            <a:ext cx="538582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A0A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x3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4343400" y="4709160"/>
            <a:ext cx="1600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B1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位置倍數徽章</a:t>
            </a:r>
            <a:endParaRPr lang="en-US" sz="1150" dirty="0"/>
          </a:p>
        </p:txBody>
      </p:sp>
      <p:sp>
        <p:nvSpPr>
          <p:cNvPr id="34" name="Shape 32"/>
          <p:cNvSpPr/>
          <p:nvPr/>
        </p:nvSpPr>
        <p:spPr>
          <a:xfrm>
            <a:off x="6035040" y="4709160"/>
            <a:ext cx="868680" cy="868680"/>
          </a:xfrm>
          <a:prstGeom prst="roundRect">
            <a:avLst>
              <a:gd name="adj" fmla="val 10526"/>
            </a:avLst>
          </a:prstGeom>
          <a:solidFill>
            <a:srgbClr val="183C30"/>
          </a:solidFill>
          <a:ln w="25400">
            <a:solidFill>
              <a:srgbClr val="4F957D"/>
            </a:solidFill>
            <a:prstDash val="solid"/>
          </a:ln>
        </p:spPr>
        <p:txBody>
          <a:bodyPr/>
          <a:p/>
        </p:txBody>
      </p:sp>
      <p:sp>
        <p:nvSpPr>
          <p:cNvPr id="35" name="Text 33"/>
          <p:cNvSpPr txBox="1"/>
          <p:nvPr/>
        </p:nvSpPr>
        <p:spPr>
          <a:xfrm>
            <a:off x="6035040" y="470916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F4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M3</a:t>
            </a:r>
            <a:endParaRPr lang="en-US" sz="1400" dirty="0"/>
          </a:p>
        </p:txBody>
      </p:sp>
      <p:sp>
        <p:nvSpPr>
          <p:cNvPr id="36" name="Shape 34"/>
          <p:cNvSpPr/>
          <p:nvPr/>
        </p:nvSpPr>
        <p:spPr>
          <a:xfrm>
            <a:off x="6328562" y="5280660"/>
            <a:ext cx="538582" cy="260604"/>
          </a:xfrm>
          <a:prstGeom prst="roundRect">
            <a:avLst>
              <a:gd name="adj" fmla="val 17544"/>
            </a:avLst>
          </a:prstGeom>
          <a:solidFill>
            <a:srgbClr val="C13CF0"/>
          </a:solidFill>
          <a:ln w="6350">
            <a:solidFill>
              <a:srgbClr val="C13CF0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 txBox="1"/>
          <p:nvPr/>
        </p:nvSpPr>
        <p:spPr>
          <a:xfrm>
            <a:off x="6328562" y="5280660"/>
            <a:ext cx="538582" cy="2606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x50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7040880" y="4709160"/>
            <a:ext cx="1600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B1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Extra Bet 底板</a:t>
            </a:r>
            <a:endParaRPr lang="en-US" sz="1150" dirty="0"/>
          </a:p>
        </p:txBody>
      </p:sp>
      <p:sp>
        <p:nvSpPr>
          <p:cNvPr id="39" name="Shape 37"/>
          <p:cNvSpPr/>
          <p:nvPr/>
        </p:nvSpPr>
        <p:spPr>
          <a:xfrm>
            <a:off x="8732520" y="4709160"/>
            <a:ext cx="868680" cy="868680"/>
          </a:xfrm>
          <a:prstGeom prst="roundRect">
            <a:avLst>
              <a:gd name="adj" fmla="val 10526"/>
            </a:avLst>
          </a:prstGeom>
          <a:solidFill>
            <a:srgbClr val="46243E"/>
          </a:solidFill>
          <a:ln w="25400">
            <a:solidFill>
              <a:srgbClr val="FFD84A"/>
            </a:solidFill>
            <a:prstDash val="solid"/>
          </a:ln>
        </p:spPr>
        <p:txBody>
          <a:bodyPr/>
          <a:p/>
        </p:txBody>
      </p:sp>
      <p:sp>
        <p:nvSpPr>
          <p:cNvPr id="40" name="Text 38"/>
          <p:cNvSpPr txBox="1"/>
          <p:nvPr/>
        </p:nvSpPr>
        <p:spPr>
          <a:xfrm>
            <a:off x="8732520" y="4709160"/>
            <a:ext cx="868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E8F4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M6</a:t>
            </a:r>
            <a:endParaRPr lang="en-US" sz="1400" dirty="0"/>
          </a:p>
        </p:txBody>
      </p:sp>
      <p:sp>
        <p:nvSpPr>
          <p:cNvPr id="41" name="Text 39"/>
          <p:cNvSpPr txBox="1"/>
          <p:nvPr/>
        </p:nvSpPr>
        <p:spPr>
          <a:xfrm>
            <a:off x="9738360" y="4709160"/>
            <a:ext cx="1600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B1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計分群集金框</a:t>
            </a:r>
            <a:endParaRPr lang="en-US" sz="1150" dirty="0"/>
          </a:p>
        </p:txBody>
      </p:sp>
      <p:sp>
        <p:nvSpPr>
          <p:cNvPr id="42" name="Footnote"/>
          <p:cNvSpPr txBox="1"/>
          <p:nvPr/>
        </p:nvSpPr>
        <p:spPr>
          <a:xfrm>
            <a:off x="640080" y="598932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A7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＊ 目前 demo 以代號＋色框呈現（佔位）。另需：場景 / Loading / 大廳 Icon、全盤倍數和收集演出、總贏分演出。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640080" y="38404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spc="200" kern="0" dirty="0">
                <a:solidFill>
                  <a:srgbClr val="E3A7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GAMEPLAY</a:t>
            </a:r>
            <a:endParaRPr lang="en-US" sz="1250" dirty="0"/>
          </a:p>
        </p:txBody>
      </p:sp>
      <p:sp>
        <p:nvSpPr>
          <p:cNvPr id="3" name="Title"/>
          <p:cNvSpPr txBox="1"/>
          <p:nvPr/>
        </p:nvSpPr>
        <p:spPr>
          <a:xfrm>
            <a:off x="640080" y="713232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D0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核心玩法</a:t>
            </a:r>
            <a:endParaRPr lang="en-US" sz="3000" dirty="0"/>
          </a:p>
        </p:txBody>
      </p:sp>
      <p:sp>
        <p:nvSpPr>
          <p:cNvPr id="4" name="PageNo"/>
          <p:cNvSpPr txBox="1"/>
          <p:nvPr/>
        </p:nvSpPr>
        <p:spPr>
          <a:xfrm>
            <a:off x="10728655" y="566928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i="1" dirty="0">
                <a:solidFill>
                  <a:srgbClr val="E3A7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300" dirty="0"/>
          </a:p>
        </p:txBody>
      </p:sp>
      <p:sp>
        <p:nvSpPr>
          <p:cNvPr id="5" name="LightCard"/>
          <p:cNvSpPr/>
          <p:nvPr/>
        </p:nvSpPr>
        <p:spPr>
          <a:xfrm>
            <a:off x="640080" y="1572768"/>
            <a:ext cx="6492240" cy="950976"/>
          </a:xfrm>
          <a:prstGeom prst="roundRect">
            <a:avLst>
              <a:gd name="adj" fmla="val 7692"/>
            </a:avLst>
          </a:prstGeom>
          <a:solidFill>
            <a:srgbClr val="FFF4F8"/>
          </a:solidFill>
          <a:ln w="9525">
            <a:solidFill>
              <a:srgbClr val="EBC46F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68680" y="1764792"/>
            <a:ext cx="566928" cy="566928"/>
          </a:xfrm>
          <a:prstGeom prst="ellipse">
            <a:avLst/>
          </a:prstGeom>
          <a:solidFill>
            <a:srgbClr val="E3A72F"/>
          </a:solidFill>
          <a:ln w="6350">
            <a:solidFill>
              <a:srgbClr val="E3A72F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868680" y="17647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D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1691640" y="1682496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81B6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群集中獎 Cluster Pay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1691640" y="2075688"/>
            <a:ext cx="5303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B1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上下左右相連 4 個以上同符號</a:t>
            </a:r>
            <a:endParaRPr lang="en-US" sz="1300" dirty="0"/>
          </a:p>
        </p:txBody>
      </p:sp>
      <p:sp>
        <p:nvSpPr>
          <p:cNvPr id="10" name="LightCard"/>
          <p:cNvSpPr/>
          <p:nvPr/>
        </p:nvSpPr>
        <p:spPr>
          <a:xfrm>
            <a:off x="640080" y="2670048"/>
            <a:ext cx="6492240" cy="950976"/>
          </a:xfrm>
          <a:prstGeom prst="roundRect">
            <a:avLst>
              <a:gd name="adj" fmla="val 7692"/>
            </a:avLst>
          </a:prstGeom>
          <a:solidFill>
            <a:srgbClr val="FFF4F8"/>
          </a:solidFill>
          <a:ln w="9525">
            <a:solidFill>
              <a:srgbClr val="EBC46F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868680" y="2862072"/>
            <a:ext cx="566928" cy="566928"/>
          </a:xfrm>
          <a:prstGeom prst="ellipse">
            <a:avLst/>
          </a:prstGeom>
          <a:solidFill>
            <a:srgbClr val="E3A72F"/>
          </a:solidFill>
          <a:ln w="6350">
            <a:solidFill>
              <a:srgbClr val="E3A72F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868680" y="286207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D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691640" y="2779776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81B6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Cascade 掉落補牌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691640" y="3172968"/>
            <a:ext cx="5303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B1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消除 → 上方落下 → 新符號補入 → 重判</a:t>
            </a:r>
            <a:endParaRPr lang="en-US" sz="1300" dirty="0"/>
          </a:p>
        </p:txBody>
      </p:sp>
      <p:sp>
        <p:nvSpPr>
          <p:cNvPr id="15" name="LightCard"/>
          <p:cNvSpPr/>
          <p:nvPr/>
        </p:nvSpPr>
        <p:spPr>
          <a:xfrm>
            <a:off x="640080" y="3767328"/>
            <a:ext cx="6492240" cy="950976"/>
          </a:xfrm>
          <a:prstGeom prst="roundRect">
            <a:avLst>
              <a:gd name="adj" fmla="val 7692"/>
            </a:avLst>
          </a:prstGeom>
          <a:solidFill>
            <a:srgbClr val="FFF4F8"/>
          </a:solidFill>
          <a:ln w="9525">
            <a:solidFill>
              <a:srgbClr val="EBC46F"/>
            </a:solidFill>
            <a:prstDash val="solid"/>
          </a:ln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868680" y="3959352"/>
            <a:ext cx="566928" cy="566928"/>
          </a:xfrm>
          <a:prstGeom prst="ellipse">
            <a:avLst/>
          </a:prstGeom>
          <a:solidFill>
            <a:srgbClr val="E3A72F"/>
          </a:solidFill>
          <a:ln w="6350">
            <a:solidFill>
              <a:srgbClr val="E3A72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868680" y="39593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D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1691640" y="3877056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81B6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位置倍數 · 全盤加總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691640" y="4270248"/>
            <a:ext cx="5303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B1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每消 +1 · 得分 × 全盤倍數和</a:t>
            </a:r>
            <a:endParaRPr lang="en-US" sz="1300" dirty="0"/>
          </a:p>
        </p:txBody>
      </p:sp>
      <p:sp>
        <p:nvSpPr>
          <p:cNvPr id="20" name="LightCard"/>
          <p:cNvSpPr/>
          <p:nvPr/>
        </p:nvSpPr>
        <p:spPr>
          <a:xfrm>
            <a:off x="640080" y="4864608"/>
            <a:ext cx="6492240" cy="950976"/>
          </a:xfrm>
          <a:prstGeom prst="roundRect">
            <a:avLst>
              <a:gd name="adj" fmla="val 7692"/>
            </a:avLst>
          </a:prstGeom>
          <a:solidFill>
            <a:srgbClr val="FFF4F8"/>
          </a:solidFill>
          <a:ln w="9525">
            <a:solidFill>
              <a:srgbClr val="EBC46F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868680" y="5056632"/>
            <a:ext cx="566928" cy="566928"/>
          </a:xfrm>
          <a:prstGeom prst="ellipse">
            <a:avLst/>
          </a:prstGeom>
          <a:solidFill>
            <a:srgbClr val="E3A72F"/>
          </a:solidFill>
          <a:ln w="6350">
            <a:solidFill>
              <a:srgbClr val="E3A72F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 txBox="1"/>
          <p:nvPr/>
        </p:nvSpPr>
        <p:spPr>
          <a:xfrm>
            <a:off x="868680" y="505663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D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 txBox="1"/>
          <p:nvPr/>
        </p:nvSpPr>
        <p:spPr>
          <a:xfrm>
            <a:off x="1691640" y="4974336"/>
            <a:ext cx="5303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81B6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同符號連帶消除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1691640" y="5367528"/>
            <a:ext cx="5303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B1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中獎時全盤同符號一起消（只算相連那組）</a:t>
            </a:r>
            <a:endParaRPr lang="en-US" sz="1300" dirty="0"/>
          </a:p>
        </p:txBody>
      </p:sp>
      <p:sp>
        <p:nvSpPr>
          <p:cNvPr id="25" name="ShotFrame"/>
          <p:cNvSpPr/>
          <p:nvPr/>
        </p:nvSpPr>
        <p:spPr>
          <a:xfrm>
            <a:off x="7525512" y="1261872"/>
            <a:ext cx="4285398" cy="4974336"/>
          </a:xfrm>
          <a:prstGeom prst="roundRect">
            <a:avLst>
              <a:gd name="adj" fmla="val 1707"/>
            </a:avLst>
          </a:prstGeom>
          <a:solidFill>
            <a:srgbClr val="E3A72F"/>
          </a:solidFill>
          <a:ln w="6350">
            <a:solidFill>
              <a:srgbClr val="E3A72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pic>
        <p:nvPicPr>
          <p:cNvPr id="26" name="DemoShot" descr="C:\Users\rhinshen\AppData\Local\Temp\claude\c--Users-rhinshen-Mine----------\01b2ad50-d879-4095-9426-5c3ba6ea1a55\scratchpad\deck\shots\nb_c1_w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89520" y="1325880"/>
            <a:ext cx="4157382" cy="4846320"/>
          </a:xfrm>
          <a:prstGeom prst="rect">
            <a:avLst/>
          </a:prstGeom>
        </p:spPr>
      </p:pic>
      <p:sp>
        <p:nvSpPr>
          <p:cNvPr id="27" name="Text 24"/>
          <p:cNvSpPr txBox="1"/>
          <p:nvPr/>
        </p:nvSpPr>
        <p:spPr>
          <a:xfrm>
            <a:off x="7223760" y="6281928"/>
            <a:ext cx="488890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6A7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金框＝計分群集 M6×5　未框亮起＝連帶消除 3 格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640080" y="38404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spc="200" kern="0" dirty="0">
                <a:solidFill>
                  <a:srgbClr val="E3A7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GAMEPLAY</a:t>
            </a:r>
            <a:endParaRPr lang="en-US" sz="1250" dirty="0"/>
          </a:p>
        </p:txBody>
      </p:sp>
      <p:sp>
        <p:nvSpPr>
          <p:cNvPr id="3" name="Title"/>
          <p:cNvSpPr txBox="1"/>
          <p:nvPr/>
        </p:nvSpPr>
        <p:spPr>
          <a:xfrm>
            <a:off x="640080" y="713232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D0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位置倍數畫面示意</a:t>
            </a:r>
            <a:endParaRPr lang="en-US" sz="3000" dirty="0"/>
          </a:p>
        </p:txBody>
      </p:sp>
      <p:sp>
        <p:nvSpPr>
          <p:cNvPr id="4" name="PageNo"/>
          <p:cNvSpPr txBox="1"/>
          <p:nvPr/>
        </p:nvSpPr>
        <p:spPr>
          <a:xfrm>
            <a:off x="10728655" y="566928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i="1" dirty="0">
                <a:solidFill>
                  <a:srgbClr val="E3A7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300" dirty="0"/>
          </a:p>
        </p:txBody>
      </p:sp>
      <p:sp>
        <p:nvSpPr>
          <p:cNvPr id="5" name="ShotFrame"/>
          <p:cNvSpPr/>
          <p:nvPr/>
        </p:nvSpPr>
        <p:spPr>
          <a:xfrm>
            <a:off x="640080" y="1536192"/>
            <a:ext cx="4569900" cy="4334256"/>
          </a:xfrm>
          <a:prstGeom prst="roundRect">
            <a:avLst>
              <a:gd name="adj" fmla="val 1688"/>
            </a:avLst>
          </a:prstGeom>
          <a:solidFill>
            <a:srgbClr val="E3A72F"/>
          </a:solidFill>
          <a:ln w="6350">
            <a:solidFill>
              <a:srgbClr val="E3A72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pic>
        <p:nvPicPr>
          <p:cNvPr id="6" name="DemoShot" descr="C:\Users\rhinshen\AppData\Local\Temp\claude\c--Users-rhinshen-Mine----------\01b2ad50-d879-4095-9426-5c3ba6ea1a55\scratchpad\deck\shots\mult_mo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600200"/>
            <a:ext cx="4441884" cy="42062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349240" y="1463040"/>
            <a:ext cx="629381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B1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一句話：消除過的格子掛上</a:t>
            </a:r>
            <a:pPr indent="0" marL="0">
              <a:buNone/>
            </a:pPr>
            <a:r>
              <a:rPr lang="en-US" sz="1500" b="1" dirty="0">
                <a:solidFill>
                  <a:srgbClr val="D81B6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倍數徽章</a:t>
            </a:r>
            <a:pPr indent="0" marL="0">
              <a:buNone/>
            </a:pPr>
            <a:r>
              <a:rPr lang="en-US" sz="1500" dirty="0">
                <a:solidFill>
                  <a:srgbClr val="3B1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，盤面下方即時顯示</a:t>
            </a:r>
            <a:pPr indent="0" marL="0">
              <a:buNone/>
            </a:pPr>
            <a:r>
              <a:rPr lang="en-US" sz="1500" b="1" dirty="0">
                <a:solidFill>
                  <a:srgbClr val="D81B6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「全盤倍數和」</a:t>
            </a:r>
            <a:pPr indent="0" marL="0">
              <a:buNone/>
            </a:pPr>
            <a:r>
              <a:rPr lang="en-US" sz="1500" dirty="0">
                <a:solidFill>
                  <a:srgbClr val="3B1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。</a:t>
            </a:r>
            <a:endParaRPr lang="en-US" sz="1500" dirty="0"/>
          </a:p>
        </p:txBody>
      </p:sp>
      <p:sp>
        <p:nvSpPr>
          <p:cNvPr id="8" name="LightCard"/>
          <p:cNvSpPr/>
          <p:nvPr/>
        </p:nvSpPr>
        <p:spPr>
          <a:xfrm>
            <a:off x="5349240" y="2148840"/>
            <a:ext cx="6293815" cy="1170432"/>
          </a:xfrm>
          <a:prstGeom prst="roundRect">
            <a:avLst>
              <a:gd name="adj" fmla="val 6250"/>
            </a:avLst>
          </a:prstGeom>
          <a:solidFill>
            <a:srgbClr val="FFF4F8"/>
          </a:solidFill>
          <a:ln w="9525">
            <a:solidFill>
              <a:srgbClr val="EBC46F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5550408" y="2450592"/>
            <a:ext cx="566928" cy="566928"/>
          </a:xfrm>
          <a:prstGeom prst="ellipse">
            <a:avLst/>
          </a:prstGeom>
          <a:solidFill>
            <a:srgbClr val="E3A72F"/>
          </a:solidFill>
          <a:ln w="6350">
            <a:solidFill>
              <a:srgbClr val="E3A72F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 txBox="1"/>
          <p:nvPr/>
        </p:nvSpPr>
        <p:spPr>
          <a:xfrm>
            <a:off x="5550408" y="245059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D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6309360" y="2276856"/>
            <a:ext cx="51508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1B6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倍數徽章貼在格位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6309360" y="2660904"/>
            <a:ext cx="51508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B1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格子每以群集成員消除一次 +1，徽章固定在格子右下角；符號掉落時徽章不跟著走。</a:t>
            </a:r>
            <a:endParaRPr lang="en-US" sz="1250" dirty="0"/>
          </a:p>
        </p:txBody>
      </p:sp>
      <p:sp>
        <p:nvSpPr>
          <p:cNvPr id="13" name="LightCard"/>
          <p:cNvSpPr/>
          <p:nvPr/>
        </p:nvSpPr>
        <p:spPr>
          <a:xfrm>
            <a:off x="5349240" y="3474720"/>
            <a:ext cx="6293815" cy="1170432"/>
          </a:xfrm>
          <a:prstGeom prst="roundRect">
            <a:avLst>
              <a:gd name="adj" fmla="val 6250"/>
            </a:avLst>
          </a:prstGeom>
          <a:solidFill>
            <a:srgbClr val="FFF4F8"/>
          </a:solidFill>
          <a:ln w="9525">
            <a:solidFill>
              <a:srgbClr val="EBC46F"/>
            </a:solidFill>
            <a:prstDash val="solid"/>
          </a:ln>
        </p:spPr>
        <p:txBody>
          <a:bodyPr/>
          <a:p/>
        </p:txBody>
      </p:sp>
      <p:sp>
        <p:nvSpPr>
          <p:cNvPr id="14" name="Shape 11"/>
          <p:cNvSpPr/>
          <p:nvPr/>
        </p:nvSpPr>
        <p:spPr>
          <a:xfrm>
            <a:off x="5550408" y="3776472"/>
            <a:ext cx="566928" cy="566928"/>
          </a:xfrm>
          <a:prstGeom prst="ellipse">
            <a:avLst/>
          </a:prstGeom>
          <a:solidFill>
            <a:srgbClr val="E3A72F"/>
          </a:solidFill>
          <a:ln w="6350">
            <a:solidFill>
              <a:srgbClr val="E3A72F"/>
            </a:solidFill>
            <a:prstDash val="solid"/>
          </a:ln>
        </p:spPr>
        <p:txBody>
          <a:bodyPr/>
          <a:p/>
        </p:txBody>
      </p:sp>
      <p:sp>
        <p:nvSpPr>
          <p:cNvPr id="15" name="Text 12"/>
          <p:cNvSpPr txBox="1"/>
          <p:nvPr/>
        </p:nvSpPr>
        <p:spPr>
          <a:xfrm>
            <a:off x="5550408" y="377647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D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6309360" y="3602736"/>
            <a:ext cx="51508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1B6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全盤倍數和</a:t>
            </a:r>
            <a:endParaRPr lang="en-US" sz="1500" dirty="0"/>
          </a:p>
        </p:txBody>
      </p:sp>
      <p:sp>
        <p:nvSpPr>
          <p:cNvPr id="17" name="Text 14"/>
          <p:cNvSpPr txBox="1"/>
          <p:nvPr/>
        </p:nvSpPr>
        <p:spPr>
          <a:xfrm>
            <a:off x="6309360" y="3986784"/>
            <a:ext cx="51508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B1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取代原本盤面下方的提示橫幅，顯示所有徽章加總（本例 1,272），千分位加逗號；每段得分都乘這個數。</a:t>
            </a:r>
            <a:endParaRPr lang="en-US" sz="1250" dirty="0"/>
          </a:p>
        </p:txBody>
      </p:sp>
      <p:sp>
        <p:nvSpPr>
          <p:cNvPr id="18" name="LightCard"/>
          <p:cNvSpPr/>
          <p:nvPr/>
        </p:nvSpPr>
        <p:spPr>
          <a:xfrm>
            <a:off x="5349240" y="4800600"/>
            <a:ext cx="6293815" cy="1170432"/>
          </a:xfrm>
          <a:prstGeom prst="roundRect">
            <a:avLst>
              <a:gd name="adj" fmla="val 6250"/>
            </a:avLst>
          </a:prstGeom>
          <a:solidFill>
            <a:srgbClr val="FFF4F8"/>
          </a:solidFill>
          <a:ln w="9525">
            <a:solidFill>
              <a:srgbClr val="EBC46F"/>
            </a:solidFill>
            <a:prstDash val="solid"/>
          </a:ln>
        </p:spPr>
        <p:txBody>
          <a:bodyPr/>
          <a:p/>
        </p:txBody>
      </p:sp>
      <p:sp>
        <p:nvSpPr>
          <p:cNvPr id="19" name="Shape 16"/>
          <p:cNvSpPr/>
          <p:nvPr/>
        </p:nvSpPr>
        <p:spPr>
          <a:xfrm>
            <a:off x="5550408" y="5102352"/>
            <a:ext cx="566928" cy="566928"/>
          </a:xfrm>
          <a:prstGeom prst="ellipse">
            <a:avLst/>
          </a:prstGeom>
          <a:solidFill>
            <a:srgbClr val="E3A72F"/>
          </a:solidFill>
          <a:ln w="6350">
            <a:solidFill>
              <a:srgbClr val="E3A72F"/>
            </a:solidFill>
            <a:prstDash val="solid"/>
          </a:ln>
        </p:spPr>
        <p:txBody>
          <a:bodyPr/>
          <a:p/>
        </p:txBody>
      </p:sp>
      <p:sp>
        <p:nvSpPr>
          <p:cNvPr id="20" name="Text 17"/>
          <p:cNvSpPr txBox="1"/>
          <p:nvPr/>
        </p:nvSpPr>
        <p:spPr>
          <a:xfrm>
            <a:off x="5550408" y="510235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D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6309360" y="4928616"/>
            <a:ext cx="51508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1B6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徽章分級＋自動加寬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6309360" y="5312664"/>
            <a:ext cx="51508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B1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1~2 金、3~9 橘、10~99 桃紅、100+ 紫。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3B1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3、4 位數時徽章往左加寬、字級縮一級，不超出格子。</a:t>
            </a:r>
            <a:endParaRPr lang="en-US" sz="1250" dirty="0"/>
          </a:p>
        </p:txBody>
      </p:sp>
      <p:sp>
        <p:nvSpPr>
          <p:cNvPr id="23" name="Footnote"/>
          <p:cNvSpPr txBox="1"/>
          <p:nvPr/>
        </p:nvSpPr>
        <p:spPr>
          <a:xfrm>
            <a:off x="640080" y="6327648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A7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畫面取自糖果轟炸 1000 實機截圖（裁成 5×5），倍數徽章與全盤倍數和為疊加示意（x50、x20 為 Extra Bet 底板）；正式美術待定。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640080" y="38404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spc="200" kern="0" dirty="0">
                <a:solidFill>
                  <a:srgbClr val="E3A7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GAMEPLAY</a:t>
            </a:r>
            <a:endParaRPr lang="en-US" sz="1250" dirty="0"/>
          </a:p>
        </p:txBody>
      </p:sp>
      <p:sp>
        <p:nvSpPr>
          <p:cNvPr id="3" name="Title"/>
          <p:cNvSpPr txBox="1"/>
          <p:nvPr/>
        </p:nvSpPr>
        <p:spPr>
          <a:xfrm>
            <a:off x="640080" y="713232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D0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底板與倍數：全盤加總</a:t>
            </a:r>
            <a:endParaRPr lang="en-US" sz="3000" dirty="0"/>
          </a:p>
        </p:txBody>
      </p:sp>
      <p:sp>
        <p:nvSpPr>
          <p:cNvPr id="4" name="PageNo"/>
          <p:cNvSpPr txBox="1"/>
          <p:nvPr/>
        </p:nvSpPr>
        <p:spPr>
          <a:xfrm>
            <a:off x="10728655" y="566928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i="1" dirty="0">
                <a:solidFill>
                  <a:srgbClr val="E3A7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63040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B1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一句話：</a:t>
            </a:r>
            <a:pPr indent="0" marL="0">
              <a:buNone/>
            </a:pPr>
            <a:r>
              <a:rPr lang="en-US" sz="1500" b="1" dirty="0">
                <a:solidFill>
                  <a:srgbClr val="D81B6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每格消除一次倍數 +1</a:t>
            </a:r>
            <a:pPr indent="0" marL="0">
              <a:buNone/>
            </a:pPr>
            <a:r>
              <a:rPr lang="en-US" sz="1500" dirty="0">
                <a:solidFill>
                  <a:srgbClr val="3B1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，任何位置中獎都乘</a:t>
            </a:r>
            <a:pPr indent="0" marL="0">
              <a:buNone/>
            </a:pPr>
            <a:r>
              <a:rPr lang="en-US" sz="1500" b="1" dirty="0">
                <a:solidFill>
                  <a:srgbClr val="D81B6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「全盤倍數加總」</a:t>
            </a:r>
            <a:pPr indent="0" marL="0">
              <a:buNone/>
            </a:pPr>
            <a:r>
              <a:rPr lang="en-US" sz="1500" dirty="0">
                <a:solidFill>
                  <a:srgbClr val="3B1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，連消越長滾越大。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2011680"/>
            <a:ext cx="3310128" cy="4114800"/>
          </a:xfrm>
          <a:prstGeom prst="roundRect">
            <a:avLst>
              <a:gd name="adj" fmla="val 2210"/>
            </a:avLst>
          </a:prstGeom>
          <a:solidFill>
            <a:srgbClr val="FFF4F8"/>
          </a:solidFill>
          <a:ln w="15875">
            <a:solidFill>
              <a:srgbClr val="E3A72F"/>
            </a:solidFill>
            <a:prstDash val="solid"/>
          </a:ln>
        </p:spPr>
        <p:txBody>
          <a:bodyPr/>
          <a:p/>
        </p:txBody>
      </p:sp>
      <p:pic>
        <p:nvPicPr>
          <p:cNvPr id="7" name="Image 0" descr="C:\Users\rhinshen\AppData\Local\Temp\claude\c--Users-rhinshen-Mine----------\01b2ad50-d879-4095-9426-5c3ba6ea1a55\scratchpad\deck\shots\nb_c1_w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16578" y="2194560"/>
            <a:ext cx="2157132" cy="25146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40080" y="4828032"/>
            <a:ext cx="3310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81B6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第一次消除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731520" y="5212080"/>
            <a:ext cx="3127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B1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底板還沒有倍數 → ×1 計分</a:t>
            </a:r>
            <a:endParaRPr lang="en-US" sz="1250" dirty="0"/>
          </a:p>
        </p:txBody>
      </p:sp>
      <p:sp>
        <p:nvSpPr>
          <p:cNvPr id="10" name="Text 7"/>
          <p:cNvSpPr txBox="1"/>
          <p:nvPr/>
        </p:nvSpPr>
        <p:spPr>
          <a:xfrm>
            <a:off x="731520" y="5504688"/>
            <a:ext cx="3127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D0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M6×5 = +0.30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4023360" y="4023360"/>
            <a:ext cx="338328" cy="0"/>
          </a:xfrm>
          <a:prstGeom prst="line">
            <a:avLst/>
          </a:prstGeom>
          <a:noFill/>
          <a:ln w="19050">
            <a:solidFill>
              <a:srgbClr val="E3A72F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4434840" y="2011680"/>
            <a:ext cx="3310128" cy="4114800"/>
          </a:xfrm>
          <a:prstGeom prst="roundRect">
            <a:avLst>
              <a:gd name="adj" fmla="val 2210"/>
            </a:avLst>
          </a:prstGeom>
          <a:solidFill>
            <a:srgbClr val="FFF4F8"/>
          </a:solidFill>
          <a:ln w="15875">
            <a:solidFill>
              <a:srgbClr val="E3A72F"/>
            </a:solidFill>
            <a:prstDash val="solid"/>
          </a:ln>
        </p:spPr>
        <p:txBody>
          <a:bodyPr/>
          <a:p/>
        </p:txBody>
      </p:sp>
      <p:pic>
        <p:nvPicPr>
          <p:cNvPr id="13" name="Image 1" descr="C:\Users\rhinshen\AppData\Local\Temp\claude\c--Users-rhinshen-Mine----------\01b2ad50-d879-4095-9426-5c3ba6ea1a55\scratchpad\deck\shots\nb_c1_dro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1338" y="2194560"/>
            <a:ext cx="2157132" cy="251460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434840" y="4828032"/>
            <a:ext cx="3310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81B6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消除後 +1</a:t>
            </a:r>
            <a:endParaRPr lang="en-US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4526280" y="5212080"/>
            <a:ext cx="3127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B1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群集 5 格倍數 +1、黏在格位</a:t>
            </a:r>
            <a:endParaRPr lang="en-US" sz="1250" dirty="0"/>
          </a:p>
        </p:txBody>
      </p:sp>
      <p:sp>
        <p:nvSpPr>
          <p:cNvPr id="16" name="Text 12"/>
          <p:cNvSpPr txBox="1"/>
          <p:nvPr/>
        </p:nvSpPr>
        <p:spPr>
          <a:xfrm>
            <a:off x="4526280" y="5504688"/>
            <a:ext cx="3127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D0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全盤重新加總 = 5</a:t>
            </a:r>
            <a:endParaRPr lang="en-US" sz="1250" dirty="0"/>
          </a:p>
        </p:txBody>
      </p:sp>
      <p:sp>
        <p:nvSpPr>
          <p:cNvPr id="17" name="Shape 13"/>
          <p:cNvSpPr/>
          <p:nvPr/>
        </p:nvSpPr>
        <p:spPr>
          <a:xfrm>
            <a:off x="7818120" y="4023360"/>
            <a:ext cx="338328" cy="0"/>
          </a:xfrm>
          <a:prstGeom prst="line">
            <a:avLst/>
          </a:prstGeom>
          <a:noFill/>
          <a:ln w="19050">
            <a:solidFill>
              <a:srgbClr val="E3A72F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8" name="Shape 14"/>
          <p:cNvSpPr/>
          <p:nvPr/>
        </p:nvSpPr>
        <p:spPr>
          <a:xfrm>
            <a:off x="8229600" y="2011680"/>
            <a:ext cx="3310128" cy="4114800"/>
          </a:xfrm>
          <a:prstGeom prst="roundRect">
            <a:avLst>
              <a:gd name="adj" fmla="val 2210"/>
            </a:avLst>
          </a:prstGeom>
          <a:solidFill>
            <a:srgbClr val="FFF4F8"/>
          </a:solidFill>
          <a:ln w="15875">
            <a:solidFill>
              <a:srgbClr val="E3A72F"/>
            </a:solidFill>
            <a:prstDash val="solid"/>
          </a:ln>
        </p:spPr>
        <p:txBody>
          <a:bodyPr/>
          <a:p/>
        </p:txBody>
      </p:sp>
      <p:pic>
        <p:nvPicPr>
          <p:cNvPr id="19" name="Image 2" descr="C:\Users\rhinshen\AppData\Local\Temp\claude\c--Users-rhinshen-Mine----------\01b2ad50-d879-4095-9426-5c3ba6ea1a55\scratchpad\deck\shots\nb_c2_wi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06098" y="2194560"/>
            <a:ext cx="2157132" cy="251460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8229600" y="4828032"/>
            <a:ext cx="33101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D81B6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第 2 消</a:t>
            </a:r>
            <a:endParaRPr lang="en-US" sz="1500" dirty="0"/>
          </a:p>
        </p:txBody>
      </p:sp>
      <p:sp>
        <p:nvSpPr>
          <p:cNvPr id="21" name="Text 16"/>
          <p:cNvSpPr txBox="1"/>
          <p:nvPr/>
        </p:nvSpPr>
        <p:spPr>
          <a:xfrm>
            <a:off x="8321040" y="5212080"/>
            <a:ext cx="3127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B1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乘上累積的全盤倍數和</a:t>
            </a:r>
            <a:endParaRPr lang="en-US" sz="1250" dirty="0"/>
          </a:p>
        </p:txBody>
      </p:sp>
      <p:sp>
        <p:nvSpPr>
          <p:cNvPr id="22" name="Text 17"/>
          <p:cNvSpPr txBox="1"/>
          <p:nvPr/>
        </p:nvSpPr>
        <p:spPr>
          <a:xfrm>
            <a:off x="8321040" y="5504688"/>
            <a:ext cx="312724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D0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×5 → M4×5 = +2.50</a:t>
            </a:r>
            <a:endParaRPr lang="en-US" sz="1250" dirty="0"/>
          </a:p>
        </p:txBody>
      </p:sp>
      <p:sp>
        <p:nvSpPr>
          <p:cNvPr id="23" name="Footnote"/>
          <p:cNvSpPr txBox="1"/>
          <p:nvPr/>
        </p:nvSpPr>
        <p:spPr>
          <a:xfrm>
            <a:off x="640080" y="6291072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A7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倍數只增不減；BG 每局歸零、FG 整場保留。連帶消除的格子不加倍數。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640080" y="38404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spc="200" kern="0" dirty="0">
                <a:solidFill>
                  <a:srgbClr val="E3A7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CORE GAMEPLAY</a:t>
            </a:r>
            <a:endParaRPr lang="en-US" sz="1250" dirty="0"/>
          </a:p>
        </p:txBody>
      </p:sp>
      <p:sp>
        <p:nvSpPr>
          <p:cNvPr id="3" name="Title"/>
          <p:cNvSpPr txBox="1"/>
          <p:nvPr/>
        </p:nvSpPr>
        <p:spPr>
          <a:xfrm>
            <a:off x="640080" y="713232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D0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同符號連帶消除</a:t>
            </a:r>
            <a:endParaRPr lang="en-US" sz="3000" dirty="0"/>
          </a:p>
        </p:txBody>
      </p:sp>
      <p:sp>
        <p:nvSpPr>
          <p:cNvPr id="4" name="PageNo"/>
          <p:cNvSpPr txBox="1"/>
          <p:nvPr/>
        </p:nvSpPr>
        <p:spPr>
          <a:xfrm>
            <a:off x="10728655" y="566928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i="1" dirty="0">
                <a:solidFill>
                  <a:srgbClr val="E3A7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63040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B1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一句話：</a:t>
            </a:r>
            <a:pPr indent="0" marL="0">
              <a:buNone/>
            </a:pPr>
            <a:r>
              <a:rPr lang="en-US" sz="1500" b="1" dirty="0">
                <a:solidFill>
                  <a:srgbClr val="D81B6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 顆相連成立時，盤面上所有同符號一起消掉</a:t>
            </a:r>
            <a:pPr indent="0" marL="0">
              <a:buNone/>
            </a:pPr>
            <a:r>
              <a:rPr lang="en-US" sz="1500" dirty="0">
                <a:solidFill>
                  <a:srgbClr val="3B1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，但只以 N 顆相連的那組計分。</a:t>
            </a:r>
            <a:endParaRPr lang="en-US" sz="1500" dirty="0"/>
          </a:p>
        </p:txBody>
      </p:sp>
      <p:sp>
        <p:nvSpPr>
          <p:cNvPr id="6" name="LightCard"/>
          <p:cNvSpPr/>
          <p:nvPr/>
        </p:nvSpPr>
        <p:spPr>
          <a:xfrm>
            <a:off x="640080" y="2103120"/>
            <a:ext cx="4800600" cy="1097280"/>
          </a:xfrm>
          <a:prstGeom prst="roundRect">
            <a:avLst>
              <a:gd name="adj" fmla="val 6667"/>
            </a:avLst>
          </a:prstGeom>
          <a:solidFill>
            <a:srgbClr val="FFF4F8"/>
          </a:solidFill>
          <a:ln w="9525">
            <a:solidFill>
              <a:srgbClr val="EBC46F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841248" y="2368296"/>
            <a:ext cx="566928" cy="566928"/>
          </a:xfrm>
          <a:prstGeom prst="ellipse">
            <a:avLst/>
          </a:prstGeom>
          <a:solidFill>
            <a:srgbClr val="E3A72F"/>
          </a:solidFill>
          <a:ln w="6350">
            <a:solidFill>
              <a:srgbClr val="E3A72F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841248" y="236829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D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1600200" y="2231136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1B6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計分只算相連那組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600200" y="2606040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B1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其餘 3 顆 M6 連帶消除，只以 M6×5 計分</a:t>
            </a:r>
            <a:endParaRPr lang="en-US" sz="1250" dirty="0"/>
          </a:p>
        </p:txBody>
      </p:sp>
      <p:sp>
        <p:nvSpPr>
          <p:cNvPr id="11" name="LightCard"/>
          <p:cNvSpPr/>
          <p:nvPr/>
        </p:nvSpPr>
        <p:spPr>
          <a:xfrm>
            <a:off x="640080" y="3364992"/>
            <a:ext cx="4800600" cy="1097280"/>
          </a:xfrm>
          <a:prstGeom prst="roundRect">
            <a:avLst>
              <a:gd name="adj" fmla="val 6667"/>
            </a:avLst>
          </a:prstGeom>
          <a:solidFill>
            <a:srgbClr val="FFF4F8"/>
          </a:solidFill>
          <a:ln w="9525">
            <a:solidFill>
              <a:srgbClr val="EBC46F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841248" y="3630168"/>
            <a:ext cx="566928" cy="566928"/>
          </a:xfrm>
          <a:prstGeom prst="ellipse">
            <a:avLst/>
          </a:prstGeom>
          <a:solidFill>
            <a:srgbClr val="E3A72F"/>
          </a:solidFill>
          <a:ln w="6350">
            <a:solidFill>
              <a:srgbClr val="E3A72F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841248" y="363016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D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1600200" y="3493008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1B6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同符號多組各自計分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600200" y="3867912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B1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M6×4 與 M6×5 同時成立 → 兩組都算分</a:t>
            </a:r>
            <a:endParaRPr lang="en-US" sz="1250" dirty="0"/>
          </a:p>
        </p:txBody>
      </p:sp>
      <p:sp>
        <p:nvSpPr>
          <p:cNvPr id="16" name="LightCard"/>
          <p:cNvSpPr/>
          <p:nvPr/>
        </p:nvSpPr>
        <p:spPr>
          <a:xfrm>
            <a:off x="640080" y="4626864"/>
            <a:ext cx="4800600" cy="1097280"/>
          </a:xfrm>
          <a:prstGeom prst="roundRect">
            <a:avLst>
              <a:gd name="adj" fmla="val 6667"/>
            </a:avLst>
          </a:prstGeom>
          <a:solidFill>
            <a:srgbClr val="FFF4F8"/>
          </a:solidFill>
          <a:ln w="9525">
            <a:solidFill>
              <a:srgbClr val="EBC46F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841248" y="4892040"/>
            <a:ext cx="566928" cy="566928"/>
          </a:xfrm>
          <a:prstGeom prst="ellipse">
            <a:avLst/>
          </a:prstGeom>
          <a:solidFill>
            <a:srgbClr val="E3A72F"/>
          </a:solidFill>
          <a:ln w="6350">
            <a:solidFill>
              <a:srgbClr val="E3A72F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841248" y="489204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D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1600200" y="475488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1B6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連帶格不計分、不加倍數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600200" y="5129784"/>
            <a:ext cx="3703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B1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只參與消除與掉落；倍數只加在相連的格子</a:t>
            </a:r>
            <a:endParaRPr lang="en-US" sz="1250" dirty="0"/>
          </a:p>
        </p:txBody>
      </p:sp>
      <p:sp>
        <p:nvSpPr>
          <p:cNvPr id="21" name="ShotFrame"/>
          <p:cNvSpPr/>
          <p:nvPr/>
        </p:nvSpPr>
        <p:spPr>
          <a:xfrm>
            <a:off x="5742432" y="2039112"/>
            <a:ext cx="2951898" cy="3419856"/>
          </a:xfrm>
          <a:prstGeom prst="roundRect">
            <a:avLst>
              <a:gd name="adj" fmla="val 2478"/>
            </a:avLst>
          </a:prstGeom>
          <a:solidFill>
            <a:srgbClr val="E3A72F"/>
          </a:solidFill>
          <a:ln w="6350">
            <a:solidFill>
              <a:srgbClr val="E3A72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pic>
        <p:nvPicPr>
          <p:cNvPr id="22" name="DemoShot" descr="C:\Users\rhinshen\AppData\Local\Temp\claude\c--Users-rhinshen-Mine----------\01b2ad50-d879-4095-9426-5c3ba6ea1a55\scratchpad\deck\shots\nb_c1_w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06440" y="2103120"/>
            <a:ext cx="2823882" cy="3291840"/>
          </a:xfrm>
          <a:prstGeom prst="rect">
            <a:avLst/>
          </a:prstGeom>
        </p:spPr>
      </p:pic>
      <p:sp>
        <p:nvSpPr>
          <p:cNvPr id="23" name="Text 20"/>
          <p:cNvSpPr txBox="1"/>
          <p:nvPr/>
        </p:nvSpPr>
        <p:spPr>
          <a:xfrm>
            <a:off x="5440680" y="5504688"/>
            <a:ext cx="355540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6A7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M6×5 計分（金框）＋連帶 3 格</a:t>
            </a:r>
            <a:endParaRPr lang="en-US" sz="1150" dirty="0"/>
          </a:p>
        </p:txBody>
      </p:sp>
      <p:sp>
        <p:nvSpPr>
          <p:cNvPr id="24" name="ShotFrame"/>
          <p:cNvSpPr/>
          <p:nvPr/>
        </p:nvSpPr>
        <p:spPr>
          <a:xfrm>
            <a:off x="8787384" y="2039112"/>
            <a:ext cx="2951898" cy="3419856"/>
          </a:xfrm>
          <a:prstGeom prst="roundRect">
            <a:avLst>
              <a:gd name="adj" fmla="val 2478"/>
            </a:avLst>
          </a:prstGeom>
          <a:solidFill>
            <a:srgbClr val="E3A72F"/>
          </a:solidFill>
          <a:ln w="6350">
            <a:solidFill>
              <a:srgbClr val="E3A72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pic>
        <p:nvPicPr>
          <p:cNvPr id="25" name="DemoShot" descr="C:\Users\rhinshen\AppData\Local\Temp\claude\c--Users-rhinshen-Mine----------\01b2ad50-d879-4095-9426-5c3ba6ea1a55\scratchpad\deck\shots\two_cluster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51392" y="2103120"/>
            <a:ext cx="2823882" cy="3291840"/>
          </a:xfrm>
          <a:prstGeom prst="rect">
            <a:avLst/>
          </a:prstGeom>
        </p:spPr>
      </p:pic>
      <p:sp>
        <p:nvSpPr>
          <p:cNvPr id="26" name="Text 22"/>
          <p:cNvSpPr txBox="1"/>
          <p:nvPr/>
        </p:nvSpPr>
        <p:spPr>
          <a:xfrm>
            <a:off x="8485632" y="5504688"/>
            <a:ext cx="355540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6A7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M6×4＋M6×5 兩組計分 = +0.55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640080" y="38404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spc="200" kern="0" dirty="0">
                <a:solidFill>
                  <a:srgbClr val="E3A7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FREE GAME</a:t>
            </a:r>
            <a:endParaRPr lang="en-US" sz="1250" dirty="0"/>
          </a:p>
        </p:txBody>
      </p:sp>
      <p:sp>
        <p:nvSpPr>
          <p:cNvPr id="3" name="Title"/>
          <p:cNvSpPr txBox="1"/>
          <p:nvPr/>
        </p:nvSpPr>
        <p:spPr>
          <a:xfrm>
            <a:off x="640080" y="713232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D0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免費遊戲</a:t>
            </a:r>
            <a:endParaRPr lang="en-US" sz="3000" dirty="0"/>
          </a:p>
        </p:txBody>
      </p:sp>
      <p:sp>
        <p:nvSpPr>
          <p:cNvPr id="4" name="PageNo"/>
          <p:cNvSpPr txBox="1"/>
          <p:nvPr/>
        </p:nvSpPr>
        <p:spPr>
          <a:xfrm>
            <a:off x="10728655" y="566928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i="1" dirty="0">
                <a:solidFill>
                  <a:srgbClr val="E3A7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05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554480"/>
            <a:ext cx="6675120" cy="1325880"/>
          </a:xfrm>
          <a:prstGeom prst="roundRect">
            <a:avLst>
              <a:gd name="adj" fmla="val 6897"/>
            </a:avLst>
          </a:prstGeom>
          <a:solidFill>
            <a:srgbClr val="5B1446"/>
          </a:solidFill>
          <a:ln w="15875">
            <a:solidFill>
              <a:srgbClr val="E3A72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914400" y="1664208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4CE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底板倍數累積不重置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148840"/>
            <a:ext cx="621792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FG 開始時全盤歸零，之後位置倍數整場保留、跨局持續累加，全盤倍數和越滾越大，是大獎的主要來源。</a:t>
            </a:r>
            <a:endParaRPr lang="en-US" sz="1350" dirty="0"/>
          </a:p>
        </p:txBody>
      </p:sp>
      <p:sp>
        <p:nvSpPr>
          <p:cNvPr id="8" name="LightCard"/>
          <p:cNvSpPr/>
          <p:nvPr/>
        </p:nvSpPr>
        <p:spPr>
          <a:xfrm>
            <a:off x="640080" y="3108960"/>
            <a:ext cx="3291840" cy="1280160"/>
          </a:xfrm>
          <a:prstGeom prst="roundRect">
            <a:avLst>
              <a:gd name="adj" fmla="val 5714"/>
            </a:avLst>
          </a:prstGeom>
          <a:solidFill>
            <a:srgbClr val="FFF4F8"/>
          </a:solidFill>
          <a:ln w="9525">
            <a:solidFill>
              <a:srgbClr val="EBC46F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868680" y="3236976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1B6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觸發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3621024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0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3 / 4 / 5 Scatter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868680" y="393192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B1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10 / 15 / 20 局</a:t>
            </a:r>
            <a:endParaRPr lang="en-US" sz="1250" dirty="0"/>
          </a:p>
        </p:txBody>
      </p:sp>
      <p:sp>
        <p:nvSpPr>
          <p:cNvPr id="12" name="LightCard"/>
          <p:cNvSpPr/>
          <p:nvPr/>
        </p:nvSpPr>
        <p:spPr>
          <a:xfrm>
            <a:off x="4023360" y="3108960"/>
            <a:ext cx="3291840" cy="1280160"/>
          </a:xfrm>
          <a:prstGeom prst="roundRect">
            <a:avLst>
              <a:gd name="adj" fmla="val 5714"/>
            </a:avLst>
          </a:prstGeom>
          <a:solidFill>
            <a:srgbClr val="FFF4F8"/>
          </a:solidFill>
          <a:ln w="9525">
            <a:solidFill>
              <a:srgbClr val="EBC46F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4251960" y="3236976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1B6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加局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4251960" y="3621024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D0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FG 內再出現 3+ Scatter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251960" y="3931920"/>
            <a:ext cx="28346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3B1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依同表追加局數，總局數上限 50 *</a:t>
            </a:r>
            <a:endParaRPr lang="en-US" sz="1250" dirty="0"/>
          </a:p>
        </p:txBody>
      </p:sp>
      <p:sp>
        <p:nvSpPr>
          <p:cNvPr id="16" name="LightCard"/>
          <p:cNvSpPr/>
          <p:nvPr/>
        </p:nvSpPr>
        <p:spPr>
          <a:xfrm>
            <a:off x="640080" y="4572000"/>
            <a:ext cx="6675120" cy="1280160"/>
          </a:xfrm>
          <a:prstGeom prst="roundRect">
            <a:avLst>
              <a:gd name="adj" fmla="val 5714"/>
            </a:avLst>
          </a:prstGeom>
          <a:solidFill>
            <a:srgbClr val="FFF4F8"/>
          </a:solidFill>
          <a:ln w="9525">
            <a:solidFill>
              <a:srgbClr val="EBC46F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868680" y="4700016"/>
            <a:ext cx="6217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1B6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其餘規則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868680" y="5102352"/>
            <a:ext cx="6217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B1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群集、連帶消除、掉落與計分方式與 BG 相同；FG 使用專用輪帶與掉落權重。</a:t>
            </a:r>
            <a:endParaRPr lang="en-US" sz="1250" dirty="0"/>
          </a:p>
        </p:txBody>
      </p:sp>
      <p:sp>
        <p:nvSpPr>
          <p:cNvPr id="19" name="ShotFrame"/>
          <p:cNvSpPr/>
          <p:nvPr/>
        </p:nvSpPr>
        <p:spPr>
          <a:xfrm>
            <a:off x="7571232" y="1399032"/>
            <a:ext cx="4167737" cy="4837176"/>
          </a:xfrm>
          <a:prstGeom prst="roundRect">
            <a:avLst>
              <a:gd name="adj" fmla="val 1755"/>
            </a:avLst>
          </a:prstGeom>
          <a:solidFill>
            <a:srgbClr val="E3A72F"/>
          </a:solidFill>
          <a:ln w="6350">
            <a:solidFill>
              <a:srgbClr val="E3A72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pic>
        <p:nvPicPr>
          <p:cNvPr id="20" name="DemoShot" descr="C:\Users\rhinshen\AppData\Local\Temp\claude\c--Users-rhinshen-Mine----------\01b2ad50-d879-4095-9426-5c3ba6ea1a55\scratchpad\deck\shots\fg_spin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5240" y="1463040"/>
            <a:ext cx="4039721" cy="4709160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7269480" y="6281928"/>
            <a:ext cx="4771241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6A7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FG 第 4 局：全盤倍數和累積到 39</a:t>
            </a:r>
            <a:endParaRPr lang="en-US" sz="1150" dirty="0"/>
          </a:p>
        </p:txBody>
      </p:sp>
      <p:sp>
        <p:nvSpPr>
          <p:cNvPr id="22" name="Footnote"/>
          <p:cNvSpPr txBox="1"/>
          <p:nvPr/>
        </p:nvSpPr>
        <p:spPr>
          <a:xfrm>
            <a:off x="640080" y="635508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A7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* 為待確認數值；5×5 每軸最多 1 顆 Scatter，全盤最多 5 顆，故只有 3／4／5 三檔。</a:t>
            </a:r>
            <a:endParaRPr lang="en-US" sz="11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640080" y="38404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spc="200" kern="0" dirty="0">
                <a:solidFill>
                  <a:srgbClr val="E3A7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GAME FLOW</a:t>
            </a:r>
            <a:endParaRPr lang="en-US" sz="1250" dirty="0"/>
          </a:p>
        </p:txBody>
      </p:sp>
      <p:sp>
        <p:nvSpPr>
          <p:cNvPr id="3" name="Title"/>
          <p:cNvSpPr txBox="1"/>
          <p:nvPr/>
        </p:nvSpPr>
        <p:spPr>
          <a:xfrm>
            <a:off x="640080" y="713232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D0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遊戲流程圖</a:t>
            </a:r>
            <a:endParaRPr lang="en-US" sz="3000" dirty="0"/>
          </a:p>
        </p:txBody>
      </p:sp>
      <p:sp>
        <p:nvSpPr>
          <p:cNvPr id="4" name="PageNo"/>
          <p:cNvSpPr txBox="1"/>
          <p:nvPr/>
        </p:nvSpPr>
        <p:spPr>
          <a:xfrm>
            <a:off x="10728655" y="566928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i="1" dirty="0">
                <a:solidFill>
                  <a:srgbClr val="E3A7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06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63040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B1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一句話：每段消除都是</a:t>
            </a:r>
            <a:pPr indent="0" marL="0">
              <a:buNone/>
            </a:pPr>
            <a:r>
              <a:rPr lang="en-US" sz="1500" b="1" dirty="0">
                <a:solidFill>
                  <a:srgbClr val="D81B6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「先計分、後 +1」</a:t>
            </a:r>
            <a:pPr indent="0" marL="0">
              <a:buNone/>
            </a:pPr>
            <a:r>
              <a:rPr lang="en-US" sz="1500" dirty="0">
                <a:solidFill>
                  <a:srgbClr val="3B1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，而且</a:t>
            </a:r>
            <a:pPr indent="0" marL="0">
              <a:buNone/>
            </a:pPr>
            <a:r>
              <a:rPr lang="en-US" sz="1500" b="1" dirty="0">
                <a:solidFill>
                  <a:srgbClr val="D81B6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只有相連那組的格子加倍數</a:t>
            </a:r>
            <a:pPr indent="0" marL="0">
              <a:buNone/>
            </a:pPr>
            <a:r>
              <a:rPr lang="en-US" sz="1500" dirty="0">
                <a:solidFill>
                  <a:srgbClr val="3B1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。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2240280"/>
            <a:ext cx="1965960" cy="1051560"/>
          </a:xfrm>
          <a:prstGeom prst="roundRect">
            <a:avLst>
              <a:gd name="adj" fmla="val 6957"/>
            </a:avLst>
          </a:prstGeom>
          <a:solidFill>
            <a:srgbClr val="FDF0D0"/>
          </a:solidFill>
          <a:ln w="9525">
            <a:solidFill>
              <a:srgbClr val="E8C98A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640080" y="2368296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D0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① 判定群集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13232" y="2770632"/>
            <a:ext cx="18196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B1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相連 4+？沒有 → 本局結算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633472" y="2766060"/>
            <a:ext cx="219456" cy="0"/>
          </a:xfrm>
          <a:prstGeom prst="line">
            <a:avLst/>
          </a:prstGeom>
          <a:noFill/>
          <a:ln w="19050">
            <a:solidFill>
              <a:srgbClr val="E3A72F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2880360" y="2240280"/>
            <a:ext cx="1965960" cy="1051560"/>
          </a:xfrm>
          <a:prstGeom prst="roundRect">
            <a:avLst>
              <a:gd name="adj" fmla="val 6957"/>
            </a:avLst>
          </a:prstGeom>
          <a:solidFill>
            <a:srgbClr val="DFF2E1"/>
          </a:solidFill>
          <a:ln w="9525">
            <a:solidFill>
              <a:srgbClr val="E8C98A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2880360" y="2368296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D0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② 計分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2953512" y="2770632"/>
            <a:ext cx="18196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B1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賠率 × Bet × 全盤倍數和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4873752" y="2766060"/>
            <a:ext cx="219456" cy="0"/>
          </a:xfrm>
          <a:prstGeom prst="line">
            <a:avLst/>
          </a:prstGeom>
          <a:noFill/>
          <a:ln w="19050">
            <a:solidFill>
              <a:srgbClr val="E3A72F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5120640" y="2240280"/>
            <a:ext cx="1965960" cy="1051560"/>
          </a:xfrm>
          <a:prstGeom prst="roundRect">
            <a:avLst>
              <a:gd name="adj" fmla="val 6957"/>
            </a:avLst>
          </a:prstGeom>
          <a:solidFill>
            <a:srgbClr val="DCE8F7"/>
          </a:solidFill>
          <a:ln w="9525">
            <a:solidFill>
              <a:srgbClr val="E8C98A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5120640" y="2368296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D0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③ 消除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5193792" y="2770632"/>
            <a:ext cx="18196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B1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群集格 ＋ 全盤同符號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7114032" y="2766060"/>
            <a:ext cx="219456" cy="0"/>
          </a:xfrm>
          <a:prstGeom prst="line">
            <a:avLst/>
          </a:prstGeom>
          <a:noFill/>
          <a:ln w="19050">
            <a:solidFill>
              <a:srgbClr val="E3A72F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7360920" y="2240280"/>
            <a:ext cx="1965960" cy="1051560"/>
          </a:xfrm>
          <a:prstGeom prst="roundRect">
            <a:avLst>
              <a:gd name="adj" fmla="val 6957"/>
            </a:avLst>
          </a:prstGeom>
          <a:solidFill>
            <a:srgbClr val="FADCE8"/>
          </a:solidFill>
          <a:ln w="9525">
            <a:solidFill>
              <a:srgbClr val="E8C98A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7360920" y="2368296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D0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④ 倍數 +1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7434072" y="2770632"/>
            <a:ext cx="18196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B1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只加群集格，連帶格不加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9354312" y="2766060"/>
            <a:ext cx="219456" cy="0"/>
          </a:xfrm>
          <a:prstGeom prst="line">
            <a:avLst/>
          </a:prstGeom>
          <a:noFill/>
          <a:ln w="19050">
            <a:solidFill>
              <a:srgbClr val="E3A72F"/>
            </a:solidFill>
            <a:prstDash val="solid"/>
            <a:tailEnd type="triangle"/>
          </a:ln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9601200" y="2240280"/>
            <a:ext cx="1965960" cy="1051560"/>
          </a:xfrm>
          <a:prstGeom prst="roundRect">
            <a:avLst>
              <a:gd name="adj" fmla="val 6957"/>
            </a:avLst>
          </a:prstGeom>
          <a:solidFill>
            <a:srgbClr val="E6E0F5"/>
          </a:solidFill>
          <a:ln w="9525">
            <a:solidFill>
              <a:srgbClr val="E8C98A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 txBox="1"/>
          <p:nvPr/>
        </p:nvSpPr>
        <p:spPr>
          <a:xfrm>
            <a:off x="9601200" y="2368296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D0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⑤ 掉落補牌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9674352" y="2770632"/>
            <a:ext cx="18196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dirty="0">
                <a:solidFill>
                  <a:srgbClr val="3B1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符號落下，倍數留在原格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10584180" y="3291840"/>
            <a:ext cx="0" cy="320040"/>
          </a:xfrm>
          <a:prstGeom prst="line">
            <a:avLst/>
          </a:prstGeom>
          <a:noFill/>
          <a:ln w="15875">
            <a:solidFill>
              <a:srgbClr val="D81B60"/>
            </a:solidFill>
            <a:prstDash val="solid"/>
          </a:ln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1623060" y="3611880"/>
            <a:ext cx="8961120" cy="0"/>
          </a:xfrm>
          <a:prstGeom prst="line">
            <a:avLst/>
          </a:prstGeom>
          <a:noFill/>
          <a:ln w="15875">
            <a:solidFill>
              <a:srgbClr val="D81B60"/>
            </a:solidFill>
            <a:prstDash val="solid"/>
          </a:ln>
        </p:spPr>
        <p:txBody>
          <a:bodyPr/>
          <a:p/>
        </p:txBody>
      </p:sp>
      <p:sp>
        <p:nvSpPr>
          <p:cNvPr id="27" name="Shape 25"/>
          <p:cNvSpPr/>
          <p:nvPr/>
        </p:nvSpPr>
        <p:spPr>
          <a:xfrm>
            <a:off x="1623060" y="3291840"/>
            <a:ext cx="0" cy="320040"/>
          </a:xfrm>
          <a:prstGeom prst="line">
            <a:avLst/>
          </a:prstGeom>
          <a:noFill/>
          <a:ln w="15875">
            <a:solidFill>
              <a:srgbClr val="D81B60"/>
            </a:solidFill>
            <a:prstDash val="solid"/>
            <a:headEnd type="triangle"/>
          </a:ln>
        </p:spPr>
        <p:txBody>
          <a:bodyPr/>
          <a:p/>
        </p:txBody>
      </p:sp>
      <p:sp>
        <p:nvSpPr>
          <p:cNvPr id="28" name="Text 26"/>
          <p:cNvSpPr txBox="1"/>
          <p:nvPr/>
        </p:nvSpPr>
        <p:spPr>
          <a:xfrm>
            <a:off x="4640580" y="365760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81B6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有新群集 → 回到 ① 再判定</a:t>
            </a:r>
            <a:endParaRPr lang="en-US" sz="1200" dirty="0"/>
          </a:p>
        </p:txBody>
      </p:sp>
      <p:sp>
        <p:nvSpPr>
          <p:cNvPr id="29" name="LightCard"/>
          <p:cNvSpPr/>
          <p:nvPr/>
        </p:nvSpPr>
        <p:spPr>
          <a:xfrm>
            <a:off x="640080" y="4206240"/>
            <a:ext cx="3493008" cy="1600200"/>
          </a:xfrm>
          <a:prstGeom prst="roundRect">
            <a:avLst>
              <a:gd name="adj" fmla="val 4571"/>
            </a:avLst>
          </a:prstGeom>
          <a:solidFill>
            <a:srgbClr val="FFF4F8"/>
          </a:solidFill>
          <a:ln w="9525">
            <a:solidFill>
              <a:srgbClr val="EBC46F"/>
            </a:solidFill>
            <a:prstDash val="solid"/>
          </a:ln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841248" y="4389120"/>
            <a:ext cx="457200" cy="457200"/>
          </a:xfrm>
          <a:prstGeom prst="ellipse">
            <a:avLst/>
          </a:prstGeom>
          <a:solidFill>
            <a:srgbClr val="E3A72F"/>
          </a:solidFill>
          <a:ln w="6350">
            <a:solidFill>
              <a:srgbClr val="E3A72F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 txBox="1"/>
          <p:nvPr/>
        </p:nvSpPr>
        <p:spPr>
          <a:xfrm>
            <a:off x="841248" y="4389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D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32" name="Text 30"/>
          <p:cNvSpPr txBox="1"/>
          <p:nvPr/>
        </p:nvSpPr>
        <p:spPr>
          <a:xfrm>
            <a:off x="1417320" y="4425696"/>
            <a:ext cx="25786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1B6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先計分、後 +1</a:t>
            </a:r>
            <a:endParaRPr lang="en-US" sz="1500" dirty="0"/>
          </a:p>
        </p:txBody>
      </p:sp>
      <p:sp>
        <p:nvSpPr>
          <p:cNvPr id="33" name="Text 31"/>
          <p:cNvSpPr txBox="1"/>
          <p:nvPr/>
        </p:nvSpPr>
        <p:spPr>
          <a:xfrm>
            <a:off x="868680" y="4956048"/>
            <a:ext cx="30358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B1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一般押注第一次消除時全盤倍數和還是 0 → 以 ×1 計分（Extra Bet 開場即有底板，不適用）；倍數從第二段才開始發揮。</a:t>
            </a:r>
            <a:endParaRPr lang="en-US" sz="1250" dirty="0"/>
          </a:p>
        </p:txBody>
      </p:sp>
      <p:sp>
        <p:nvSpPr>
          <p:cNvPr id="34" name="LightCard"/>
          <p:cNvSpPr/>
          <p:nvPr/>
        </p:nvSpPr>
        <p:spPr>
          <a:xfrm>
            <a:off x="4343400" y="4206240"/>
            <a:ext cx="3493008" cy="1600200"/>
          </a:xfrm>
          <a:prstGeom prst="roundRect">
            <a:avLst>
              <a:gd name="adj" fmla="val 4571"/>
            </a:avLst>
          </a:prstGeom>
          <a:solidFill>
            <a:srgbClr val="FFF4F8"/>
          </a:solidFill>
          <a:ln w="9525">
            <a:solidFill>
              <a:srgbClr val="EBC46F"/>
            </a:solidFill>
            <a:prstDash val="solid"/>
          </a:ln>
        </p:spPr>
        <p:txBody>
          <a:bodyPr/>
          <a:p/>
        </p:txBody>
      </p:sp>
      <p:sp>
        <p:nvSpPr>
          <p:cNvPr id="35" name="Shape 33"/>
          <p:cNvSpPr/>
          <p:nvPr/>
        </p:nvSpPr>
        <p:spPr>
          <a:xfrm>
            <a:off x="4544568" y="4389120"/>
            <a:ext cx="457200" cy="457200"/>
          </a:xfrm>
          <a:prstGeom prst="ellipse">
            <a:avLst/>
          </a:prstGeom>
          <a:solidFill>
            <a:srgbClr val="E3A72F"/>
          </a:solidFill>
          <a:ln w="6350">
            <a:solidFill>
              <a:srgbClr val="E3A72F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 txBox="1"/>
          <p:nvPr/>
        </p:nvSpPr>
        <p:spPr>
          <a:xfrm>
            <a:off x="4544568" y="4389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D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37" name="Text 35"/>
          <p:cNvSpPr txBox="1"/>
          <p:nvPr/>
        </p:nvSpPr>
        <p:spPr>
          <a:xfrm>
            <a:off x="5120640" y="4425696"/>
            <a:ext cx="25786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1B6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連帶格不加倍數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4572000" y="4956048"/>
            <a:ext cx="30358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B1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同符號連帶消除的格子只參與消除與掉落，不計分、不 +1。</a:t>
            </a:r>
            <a:endParaRPr lang="en-US" sz="1250" dirty="0"/>
          </a:p>
        </p:txBody>
      </p:sp>
      <p:sp>
        <p:nvSpPr>
          <p:cNvPr id="39" name="LightCard"/>
          <p:cNvSpPr/>
          <p:nvPr/>
        </p:nvSpPr>
        <p:spPr>
          <a:xfrm>
            <a:off x="8046720" y="4206240"/>
            <a:ext cx="3493008" cy="1600200"/>
          </a:xfrm>
          <a:prstGeom prst="roundRect">
            <a:avLst>
              <a:gd name="adj" fmla="val 4571"/>
            </a:avLst>
          </a:prstGeom>
          <a:solidFill>
            <a:srgbClr val="FFF4F8"/>
          </a:solidFill>
          <a:ln w="9525">
            <a:solidFill>
              <a:srgbClr val="EBC46F"/>
            </a:solidFill>
            <a:prstDash val="solid"/>
          </a:ln>
        </p:spPr>
        <p:txBody>
          <a:bodyPr/>
          <a:p/>
        </p:txBody>
      </p:sp>
      <p:sp>
        <p:nvSpPr>
          <p:cNvPr id="40" name="Shape 38"/>
          <p:cNvSpPr/>
          <p:nvPr/>
        </p:nvSpPr>
        <p:spPr>
          <a:xfrm>
            <a:off x="8247888" y="4389120"/>
            <a:ext cx="457200" cy="457200"/>
          </a:xfrm>
          <a:prstGeom prst="ellipse">
            <a:avLst/>
          </a:prstGeom>
          <a:solidFill>
            <a:srgbClr val="E3A72F"/>
          </a:solidFill>
          <a:ln w="6350">
            <a:solidFill>
              <a:srgbClr val="E3A72F"/>
            </a:solidFill>
            <a:prstDash val="solid"/>
          </a:ln>
        </p:spPr>
        <p:txBody>
          <a:bodyPr/>
          <a:p/>
        </p:txBody>
      </p:sp>
      <p:sp>
        <p:nvSpPr>
          <p:cNvPr id="41" name="Text 39"/>
          <p:cNvSpPr txBox="1"/>
          <p:nvPr/>
        </p:nvSpPr>
        <p:spPr>
          <a:xfrm>
            <a:off x="8247888" y="43891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D0A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42" name="Text 40"/>
          <p:cNvSpPr txBox="1"/>
          <p:nvPr/>
        </p:nvSpPr>
        <p:spPr>
          <a:xfrm>
            <a:off x="8823960" y="4425696"/>
            <a:ext cx="25786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1B6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倍數黏在格位</a:t>
            </a:r>
            <a:endParaRPr lang="en-US" sz="1500" dirty="0"/>
          </a:p>
        </p:txBody>
      </p:sp>
      <p:sp>
        <p:nvSpPr>
          <p:cNvPr id="43" name="Text 41"/>
          <p:cNvSpPr txBox="1"/>
          <p:nvPr/>
        </p:nvSpPr>
        <p:spPr>
          <a:xfrm>
            <a:off x="8275320" y="4956048"/>
            <a:ext cx="30358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B1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符號掉落後倍數留在原位置，新落下的符號直接吃到該格倍數。</a:t>
            </a:r>
            <a:endParaRPr lang="en-US" sz="1250" dirty="0"/>
          </a:p>
        </p:txBody>
      </p:sp>
      <p:sp>
        <p:nvSpPr>
          <p:cNvPr id="44" name="Footnote"/>
          <p:cNvSpPr txBox="1"/>
          <p:nvPr/>
        </p:nvSpPr>
        <p:spPr>
          <a:xfrm>
            <a:off x="640080" y="6327648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A7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整局連消結束後，最終盤面 Scatter ≥ 3 觸發免費遊戲；FG 流程相同，只是倍數跨局保留。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640080" y="38404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spc="200" kern="0" dirty="0">
                <a:solidFill>
                  <a:srgbClr val="E3A7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SPECIAL BET</a:t>
            </a:r>
            <a:endParaRPr lang="en-US" sz="1250" dirty="0"/>
          </a:p>
        </p:txBody>
      </p:sp>
      <p:sp>
        <p:nvSpPr>
          <p:cNvPr id="3" name="Title"/>
          <p:cNvSpPr txBox="1"/>
          <p:nvPr/>
        </p:nvSpPr>
        <p:spPr>
          <a:xfrm>
            <a:off x="640080" y="713232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D0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特殊押注：Extra Bet</a:t>
            </a:r>
            <a:endParaRPr lang="en-US" sz="3000" dirty="0"/>
          </a:p>
        </p:txBody>
      </p:sp>
      <p:sp>
        <p:nvSpPr>
          <p:cNvPr id="4" name="PageNo"/>
          <p:cNvSpPr txBox="1"/>
          <p:nvPr/>
        </p:nvSpPr>
        <p:spPr>
          <a:xfrm>
            <a:off x="10728655" y="566928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i="1" dirty="0">
                <a:solidFill>
                  <a:srgbClr val="E3A7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63040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B1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一句話：花 10 倍押注，開場就在盤面隨機 3 格放上 ×5~×50 倍數底板，第一次消除就乘上去。</a:t>
            </a:r>
            <a:pPr indent="0" marL="0">
              <a:buNone/>
            </a:pPr>
            <a:r>
              <a:rPr lang="en-US" sz="1500" b="1" dirty="0">
                <a:solidFill>
                  <a:srgbClr val="D81B6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/>
            </a:r>
            <a:pPr indent="0" marL="0">
              <a:buNone/>
            </a:pPr>
            <a:r>
              <a:rPr lang="en-US" sz="1500" dirty="0">
                <a:solidFill>
                  <a:srgbClr val="3B1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/>
            </a:r>
            <a:pPr indent="0" marL="0">
              <a:buNone/>
            </a:pPr>
            <a:r>
              <a:rPr lang="en-US" sz="1500" b="1" dirty="0">
                <a:solidFill>
                  <a:srgbClr val="D81B6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/>
            </a:r>
            <a:pPr indent="0" marL="0">
              <a:buNone/>
            </a:pPr>
            <a:r>
              <a:rPr lang="en-US" sz="1500" dirty="0">
                <a:solidFill>
                  <a:srgbClr val="3B1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/>
            </a:r>
            <a:endParaRPr lang="en-US" sz="1500" dirty="0"/>
          </a:p>
        </p:txBody>
      </p:sp>
      <p:sp>
        <p:nvSpPr>
          <p:cNvPr id="6" name="ShotFrame"/>
          <p:cNvSpPr/>
          <p:nvPr/>
        </p:nvSpPr>
        <p:spPr>
          <a:xfrm>
            <a:off x="640080" y="2039112"/>
            <a:ext cx="3030340" cy="3511296"/>
          </a:xfrm>
          <a:prstGeom prst="roundRect">
            <a:avLst>
              <a:gd name="adj" fmla="val 2414"/>
            </a:avLst>
          </a:prstGeom>
          <a:solidFill>
            <a:srgbClr val="E3A72F"/>
          </a:solidFill>
          <a:ln w="6350">
            <a:solidFill>
              <a:srgbClr val="E3A72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pic>
        <p:nvPicPr>
          <p:cNvPr id="7" name="DemoShot" descr="C:\Users\rhinshen\AppData\Local\Temp\claude\c--Users-rhinshen-Mine----------\01b2ad50-d879-4095-9426-5c3ba6ea1a55\scratchpad\deck\shots\eb_init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2103120"/>
            <a:ext cx="2902324" cy="338328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338328" y="5596128"/>
            <a:ext cx="36338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6A7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開場 3 個底板 ×50、×20、×5 → 全盤和 75</a:t>
            </a:r>
            <a:endParaRPr lang="en-US" sz="1150" dirty="0"/>
          </a:p>
        </p:txBody>
      </p:sp>
      <p:sp>
        <p:nvSpPr>
          <p:cNvPr id="9" name="ShotFrame"/>
          <p:cNvSpPr/>
          <p:nvPr/>
        </p:nvSpPr>
        <p:spPr>
          <a:xfrm>
            <a:off x="3822192" y="2039112"/>
            <a:ext cx="3030340" cy="3511296"/>
          </a:xfrm>
          <a:prstGeom prst="roundRect">
            <a:avLst>
              <a:gd name="adj" fmla="val 2414"/>
            </a:avLst>
          </a:prstGeom>
          <a:solidFill>
            <a:srgbClr val="E3A72F"/>
          </a:solidFill>
          <a:ln w="6350">
            <a:solidFill>
              <a:srgbClr val="E3A72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pic>
        <p:nvPicPr>
          <p:cNvPr id="10" name="DemoShot" descr="C:\Users\rhinshen\AppData\Local\Temp\claude\c--Users-rhinshen-Mine----------\01b2ad50-d879-4095-9426-5c3ba6ea1a55\scratchpad\deck\shots\eb_c1_wi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86200" y="2103120"/>
            <a:ext cx="2902324" cy="3383280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3520440" y="5596128"/>
            <a:ext cx="36338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6A7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第一次消除 M6×7 × 75 = +37.5</a:t>
            </a:r>
            <a:endParaRPr lang="en-US" sz="1150" dirty="0"/>
          </a:p>
        </p:txBody>
      </p:sp>
      <p:graphicFrame>
        <p:nvGraphicFramePr>
          <p:cNvPr id="13" name="ExtraBet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086600" y="2103120"/>
          <a:ext cx="4544568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3310128"/>
              </a:tblGrid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4CE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144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4CE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設定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144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5B144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費用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B1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Bet × 10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5B144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底板個數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B1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固定 3 個（100%）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5B144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底板倍數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B1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×5 / ×6 / ×7 / ×8 / ×9 / ×10 / ×15 / ×20 / ×25 / ×30 / ×35 / ×40 / ×45 / ×50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5B144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倍數權重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B1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⏳ 待定（14 檔，暫以緩降佔位）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8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5B144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生效時機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B1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計入起始全盤和 → 第一次消除即生效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5B144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作用範圍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B1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只限該次 BG Spin；觸發的 FG 從 0 開始 *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8"/>
                    </a:solidFill>
                  </a:tcPr>
                </a:tc>
              </a:tr>
            </a:tbl>
          </a:graphicData>
        </a:graphic>
      </p:graphicFrame>
      <p:sp>
        <p:nvSpPr>
          <p:cNvPr id="13" name="Footnote"/>
          <p:cNvSpPr txBox="1"/>
          <p:nvPr/>
        </p:nvSpPr>
        <p:spPr>
          <a:xfrm>
            <a:off x="640080" y="6291072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A7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底板格之後以群集成員消除時照常 +1（例：20 → 21）；派彩仍以原始押注計算；* 為待確認數值。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640080" y="38404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spc="200" kern="0" dirty="0">
                <a:solidFill>
                  <a:srgbClr val="E3A7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SPECIAL BET</a:t>
            </a:r>
            <a:endParaRPr lang="en-US" sz="1250" dirty="0"/>
          </a:p>
        </p:txBody>
      </p:sp>
      <p:sp>
        <p:nvSpPr>
          <p:cNvPr id="3" name="Title"/>
          <p:cNvSpPr txBox="1"/>
          <p:nvPr/>
        </p:nvSpPr>
        <p:spPr>
          <a:xfrm>
            <a:off x="640080" y="713232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D0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特殊押注：Buy Feature</a:t>
            </a:r>
            <a:endParaRPr lang="en-US" sz="3000" dirty="0"/>
          </a:p>
        </p:txBody>
      </p:sp>
      <p:sp>
        <p:nvSpPr>
          <p:cNvPr id="4" name="PageNo"/>
          <p:cNvSpPr txBox="1"/>
          <p:nvPr/>
        </p:nvSpPr>
        <p:spPr>
          <a:xfrm>
            <a:off x="10728655" y="566928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i="1" dirty="0">
                <a:solidFill>
                  <a:srgbClr val="E3A7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07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63040"/>
            <a:ext cx="66751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B1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一句話：花 </a:t>
            </a:r>
            <a:pPr indent="0" marL="0">
              <a:buNone/>
            </a:pPr>
            <a:r>
              <a:rPr lang="en-US" sz="1500" b="1" dirty="0">
                <a:solidFill>
                  <a:srgbClr val="D81B6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100 倍*</a:t>
            </a:r>
            <a:pPr indent="0" marL="0">
              <a:buNone/>
            </a:pPr>
            <a:r>
              <a:rPr lang="en-US" sz="1500" dirty="0">
                <a:solidFill>
                  <a:srgbClr val="3B1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押注直接進入 </a:t>
            </a:r>
            <a:pPr indent="0" marL="0">
              <a:buNone/>
            </a:pPr>
            <a:r>
              <a:rPr lang="en-US" sz="1500" b="1" dirty="0">
                <a:solidFill>
                  <a:srgbClr val="D81B6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10 局免費遊戲</a:t>
            </a:r>
            <a:pPr indent="0" marL="0">
              <a:buNone/>
            </a:pPr>
            <a:r>
              <a:rPr lang="en-US" sz="1500" dirty="0">
                <a:solidFill>
                  <a:srgbClr val="3B1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，倍數同樣整場累積。</a:t>
            </a:r>
            <a:endParaRPr lang="en-US" sz="1500" dirty="0"/>
          </a:p>
        </p:txBody>
      </p:sp>
      <p:graphicFrame>
        <p:nvGraphicFramePr>
          <p:cNvPr id="14" name="BuyFeature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103120"/>
          <a:ext cx="667512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5120640"/>
              </a:tblGrid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4CE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1446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4CE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設定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1446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5B144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費用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B1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Bet × 100 *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5B144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進場方式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B1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直接進入 FG（等同 3 顆 Scatter）*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8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5B144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局數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B1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10 局，FG 內可加局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5B144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FG 規則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8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3B1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與自然觸發相同，倍數整場保留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8"/>
                    </a:solidFill>
                  </a:tcPr>
                </a:tc>
              </a:tr>
            </a:tbl>
          </a:graphicData>
        </a:graphic>
      </p:graphicFrame>
      <p:sp>
        <p:nvSpPr>
          <p:cNvPr id="7" name="ShotFrame"/>
          <p:cNvSpPr/>
          <p:nvPr/>
        </p:nvSpPr>
        <p:spPr>
          <a:xfrm>
            <a:off x="7754112" y="1399032"/>
            <a:ext cx="3932413" cy="4562856"/>
          </a:xfrm>
          <a:prstGeom prst="roundRect">
            <a:avLst>
              <a:gd name="adj" fmla="val 1860"/>
            </a:avLst>
          </a:prstGeom>
          <a:solidFill>
            <a:srgbClr val="E3A72F"/>
          </a:solidFill>
          <a:ln w="6350">
            <a:solidFill>
              <a:srgbClr val="E3A72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pic>
        <p:nvPicPr>
          <p:cNvPr id="8" name="DemoShot" descr="C:\Users\rhinshen\AppData\Local\Temp\claude\c--Users-rhinshen-Mine----------\01b2ad50-d879-4095-9426-5c3ba6ea1a55\scratchpad\deck\shots\bf_fg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18120" y="1463040"/>
            <a:ext cx="3804397" cy="443484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452360" y="6007608"/>
            <a:ext cx="4535917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6A7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Buy Feature 後 FG 第 2 局：全盤倍數和 20</a:t>
            </a:r>
            <a:endParaRPr lang="en-US" sz="1150" dirty="0"/>
          </a:p>
        </p:txBody>
      </p:sp>
      <p:sp>
        <p:nvSpPr>
          <p:cNvPr id="10" name="Footnote"/>
          <p:cNvSpPr txBox="1"/>
          <p:nvPr/>
        </p:nvSpPr>
        <p:spPr>
          <a:xfrm>
            <a:off x="640080" y="6355080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A7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* 為待確認數值；價格需依模擬定價。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640080" y="38404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spc="200" kern="0" dirty="0">
                <a:solidFill>
                  <a:srgbClr val="E3A7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VS. H022</a:t>
            </a:r>
            <a:endParaRPr lang="en-US" sz="1250" dirty="0"/>
          </a:p>
        </p:txBody>
      </p:sp>
      <p:sp>
        <p:nvSpPr>
          <p:cNvPr id="3" name="Title"/>
          <p:cNvSpPr txBox="1"/>
          <p:nvPr/>
        </p:nvSpPr>
        <p:spPr>
          <a:xfrm>
            <a:off x="640080" y="713232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D0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與糖果轟炸 1000 差異對照</a:t>
            </a:r>
            <a:endParaRPr lang="en-US" sz="3000" dirty="0"/>
          </a:p>
        </p:txBody>
      </p:sp>
      <p:sp>
        <p:nvSpPr>
          <p:cNvPr id="4" name="PageNo"/>
          <p:cNvSpPr txBox="1"/>
          <p:nvPr/>
        </p:nvSpPr>
        <p:spPr>
          <a:xfrm>
            <a:off x="10728655" y="566928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i="1" dirty="0">
                <a:solidFill>
                  <a:srgbClr val="E3A7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63040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B1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本作核心差異：把「群集內倍數翻倍」換成</a:t>
            </a:r>
            <a:pPr indent="0" marL="0">
              <a:buNone/>
            </a:pPr>
            <a:r>
              <a:rPr lang="en-US" sz="1500" b="1" dirty="0">
                <a:solidFill>
                  <a:srgbClr val="D81B6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「全盤倍數加總 ＋ 同符號連帶消除」</a:t>
            </a:r>
            <a:pPr indent="0" marL="0">
              <a:buNone/>
            </a:pPr>
            <a:r>
              <a:rPr lang="en-US" sz="1500" dirty="0">
                <a:solidFill>
                  <a:srgbClr val="3B1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，盤面縮為 5×5。</a:t>
            </a:r>
            <a:endParaRPr lang="en-US" sz="1500" dirty="0"/>
          </a:p>
        </p:txBody>
      </p:sp>
      <p:graphicFrame>
        <p:nvGraphicFramePr>
          <p:cNvPr id="15" name="Compare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011680"/>
          <a:ext cx="10899648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206240"/>
                <a:gridCol w="4590288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F4CE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項目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14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4CE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糖果轟炸 1000（H022）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B144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4CE6E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急速糖果 2（本作）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A3215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5B144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盤面 / 中獎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B1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7×7 · 相連 5+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B1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5×5 · 相連 4+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E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5B144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符號種類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B1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7 種 + Scatter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B1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6 種 + Scatter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E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5B144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賠率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B1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同 Sugar Rush（5～15+）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B1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4~7 連同 Sugar Rush（連線數 -1）；8/9/10+ 自訂爆炸區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E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5B144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Mega 符號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B1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有（轉換機制）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B1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移除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E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5B144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位置倍數成長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B1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第 2 次起翻倍（2 → 4 → … → 1024）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B1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每消 +1（1 → 2 → 3 …）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E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5B144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計分乘數範圍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B1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該群集內的位置倍數加總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B1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全盤 25 格倍數加總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E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5B144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同符號消除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B1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只消除群集本身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B1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全盤同符號一併消除（只算相連組）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E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5B144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Extra Bet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B1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無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5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B1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開場固定 3 個 ×5~×50 底板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EE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b="1" dirty="0">
                          <a:solidFill>
                            <a:srgbClr val="5B1446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FG 倍數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B1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跨局保留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3B1430"/>
                          </a:solidFill>
                          <a:latin typeface="Microsoft JhengHei" pitchFamily="34" charset="0"/>
                          <a:ea typeface="Microsoft JhengHei" pitchFamily="34" charset="-122"/>
                          <a:cs typeface="Microsoft JhengHei" pitchFamily="34" charset="-120"/>
                        </a:rPr>
                        <a:t>同左（底板倍數累積不重置）</a:t>
                      </a:r>
                      <a:endParaRPr lang="en-US" sz="1250" dirty="0">
                        <a:latin typeface="Microsoft JhengHei" charset="0"/>
                        <a:ea typeface="Microsoft JhengHei" charset="0"/>
                        <a:cs typeface="Microsoft JhengHei" charset="0"/>
                      </a:endParaRPr>
                    </a:p>
                  </a:txBody>
                  <a:tcPr marL="91440" marR="91440" marT="0" marB="0" anchor="ctr">
                    <a:lnL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3D9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3EE"/>
                    </a:solidFill>
                  </a:tcPr>
                </a:tc>
              </a:tr>
            </a:tbl>
          </a:graphicData>
        </a:graphic>
      </p:graphicFrame>
      <p:sp>
        <p:nvSpPr>
          <p:cNvPr id="7" name="Footnote"/>
          <p:cNvSpPr txBox="1"/>
          <p:nvPr/>
        </p:nvSpPr>
        <p:spPr>
          <a:xfrm>
            <a:off x="640080" y="6291072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A7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→ 倍數不再只看群集內，任何位置的消除都吃到全盤累積，越連消越滾雪球。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640080" y="38404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spc="200" kern="0" dirty="0">
                <a:solidFill>
                  <a:srgbClr val="E3A7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VS. H022</a:t>
            </a:r>
            <a:endParaRPr lang="en-US" sz="1250" dirty="0"/>
          </a:p>
        </p:txBody>
      </p:sp>
      <p:sp>
        <p:nvSpPr>
          <p:cNvPr id="3" name="Title"/>
          <p:cNvSpPr txBox="1"/>
          <p:nvPr/>
        </p:nvSpPr>
        <p:spPr>
          <a:xfrm>
            <a:off x="640080" y="713232"/>
            <a:ext cx="10058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3D0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相較競品的調整</a:t>
            </a:r>
            <a:endParaRPr lang="en-US" sz="3000" dirty="0"/>
          </a:p>
        </p:txBody>
      </p:sp>
      <p:sp>
        <p:nvSpPr>
          <p:cNvPr id="4" name="PageNo"/>
          <p:cNvSpPr txBox="1"/>
          <p:nvPr/>
        </p:nvSpPr>
        <p:spPr>
          <a:xfrm>
            <a:off x="10728655" y="566928"/>
            <a:ext cx="9144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i="1" dirty="0">
                <a:solidFill>
                  <a:srgbClr val="E3A72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08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463040"/>
            <a:ext cx="10881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B1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一句話：為了</a:t>
            </a:r>
            <a:pPr indent="0" marL="0">
              <a:buNone/>
            </a:pPr>
            <a:r>
              <a:rPr lang="en-US" sz="1500" b="1" dirty="0">
                <a:solidFill>
                  <a:srgbClr val="D81B6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手機畫面放得下、玩家看得清楚倍數</a:t>
            </a:r>
            <a:pPr indent="0" marL="0">
              <a:buNone/>
            </a:pPr>
            <a:r>
              <a:rPr lang="en-US" sz="1500" dirty="0">
                <a:solidFill>
                  <a:srgbClr val="3B1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，盤面縮成 5×5，符號種類與連線門檻一起調整。</a:t>
            </a:r>
            <a:endParaRPr lang="en-US" sz="1500" dirty="0"/>
          </a:p>
        </p:txBody>
      </p:sp>
      <p:sp>
        <p:nvSpPr>
          <p:cNvPr id="6" name="StatCard"/>
          <p:cNvSpPr/>
          <p:nvPr/>
        </p:nvSpPr>
        <p:spPr>
          <a:xfrm>
            <a:off x="640080" y="2103120"/>
            <a:ext cx="3493008" cy="1143000"/>
          </a:xfrm>
          <a:prstGeom prst="roundRect">
            <a:avLst>
              <a:gd name="adj" fmla="val 8000"/>
            </a:avLst>
          </a:prstGeom>
          <a:solidFill>
            <a:srgbClr val="5B1446"/>
          </a:solidFill>
          <a:ln w="15875">
            <a:solidFill>
              <a:srgbClr val="E3A72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640080" y="2240280"/>
            <a:ext cx="3493008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4CE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7×7 → 5×5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788920"/>
            <a:ext cx="349300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盤面</a:t>
            </a:r>
            <a:endParaRPr lang="en-US" sz="1300" dirty="0"/>
          </a:p>
        </p:txBody>
      </p:sp>
      <p:sp>
        <p:nvSpPr>
          <p:cNvPr id="9" name="LightCard"/>
          <p:cNvSpPr/>
          <p:nvPr/>
        </p:nvSpPr>
        <p:spPr>
          <a:xfrm>
            <a:off x="640080" y="3429000"/>
            <a:ext cx="3493008" cy="2057400"/>
          </a:xfrm>
          <a:prstGeom prst="roundRect">
            <a:avLst>
              <a:gd name="adj" fmla="val 3556"/>
            </a:avLst>
          </a:prstGeom>
          <a:solidFill>
            <a:srgbClr val="FFF4F8"/>
          </a:solidFill>
          <a:ln w="9525">
            <a:solidFill>
              <a:srgbClr val="EBC46F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914400" y="3584448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1B6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調整原因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4041648"/>
            <a:ext cx="299008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3B1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盤面太大，手機畫面放不下「符號＋倍數框」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3B1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盤面太大，玩家較難鎖定期待的高倍數位置</a:t>
            </a:r>
            <a:endParaRPr lang="en-US" sz="1300" dirty="0"/>
          </a:p>
        </p:txBody>
      </p:sp>
      <p:sp>
        <p:nvSpPr>
          <p:cNvPr id="12" name="StatCard"/>
          <p:cNvSpPr/>
          <p:nvPr/>
        </p:nvSpPr>
        <p:spPr>
          <a:xfrm>
            <a:off x="4343400" y="2103120"/>
            <a:ext cx="3493008" cy="1143000"/>
          </a:xfrm>
          <a:prstGeom prst="roundRect">
            <a:avLst>
              <a:gd name="adj" fmla="val 8000"/>
            </a:avLst>
          </a:prstGeom>
          <a:solidFill>
            <a:srgbClr val="5B1446"/>
          </a:solidFill>
          <a:ln w="15875">
            <a:solidFill>
              <a:srgbClr val="E3A72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4343400" y="2240280"/>
            <a:ext cx="3493008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4CE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7+1 → 6+1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4343400" y="2788920"/>
            <a:ext cx="349300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符號種類（一般＋SC）</a:t>
            </a:r>
            <a:endParaRPr lang="en-US" sz="1300" dirty="0"/>
          </a:p>
        </p:txBody>
      </p:sp>
      <p:sp>
        <p:nvSpPr>
          <p:cNvPr id="15" name="LightCard"/>
          <p:cNvSpPr/>
          <p:nvPr/>
        </p:nvSpPr>
        <p:spPr>
          <a:xfrm>
            <a:off x="4343400" y="3429000"/>
            <a:ext cx="3493008" cy="2057400"/>
          </a:xfrm>
          <a:prstGeom prst="roundRect">
            <a:avLst>
              <a:gd name="adj" fmla="val 3556"/>
            </a:avLst>
          </a:prstGeom>
          <a:solidFill>
            <a:srgbClr val="FFF4F8"/>
          </a:solidFill>
          <a:ln w="9525">
            <a:solidFill>
              <a:srgbClr val="EBC46F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4617720" y="3584448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1B6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調整原因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617720" y="4041648"/>
            <a:ext cx="299008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3B1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一般符號 7 種 → 6 種，移除最低分符號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3B1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Scatter 不變；配合 5×5 盤面一起調整</a:t>
            </a:r>
            <a:endParaRPr lang="en-US" sz="1300" dirty="0"/>
          </a:p>
        </p:txBody>
      </p:sp>
      <p:sp>
        <p:nvSpPr>
          <p:cNvPr id="18" name="StatCard"/>
          <p:cNvSpPr/>
          <p:nvPr/>
        </p:nvSpPr>
        <p:spPr>
          <a:xfrm>
            <a:off x="8046720" y="2103120"/>
            <a:ext cx="3493008" cy="1143000"/>
          </a:xfrm>
          <a:prstGeom prst="roundRect">
            <a:avLst>
              <a:gd name="adj" fmla="val 8000"/>
            </a:avLst>
          </a:prstGeom>
          <a:solidFill>
            <a:srgbClr val="5B1446"/>
          </a:solidFill>
          <a:ln w="15875">
            <a:solidFill>
              <a:srgbClr val="E3A72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8000"/>
              </a:srgbClr>
            </a:outerShdw>
          </a:effectLst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8046720" y="2240280"/>
            <a:ext cx="3493008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4CE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 連 → 4 連</a:t>
            </a:r>
            <a:endParaRPr lang="en-US" sz="2800" dirty="0"/>
          </a:p>
        </p:txBody>
      </p:sp>
      <p:sp>
        <p:nvSpPr>
          <p:cNvPr id="20" name="Text 18"/>
          <p:cNvSpPr txBox="1"/>
          <p:nvPr/>
        </p:nvSpPr>
        <p:spPr>
          <a:xfrm>
            <a:off x="8046720" y="2788920"/>
            <a:ext cx="3493008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群集成立門檻</a:t>
            </a:r>
            <a:endParaRPr lang="en-US" sz="1300" dirty="0"/>
          </a:p>
        </p:txBody>
      </p:sp>
      <p:sp>
        <p:nvSpPr>
          <p:cNvPr id="21" name="LightCard"/>
          <p:cNvSpPr/>
          <p:nvPr/>
        </p:nvSpPr>
        <p:spPr>
          <a:xfrm>
            <a:off x="8046720" y="3429000"/>
            <a:ext cx="3493008" cy="2057400"/>
          </a:xfrm>
          <a:prstGeom prst="roundRect">
            <a:avLst>
              <a:gd name="adj" fmla="val 3556"/>
            </a:avLst>
          </a:prstGeom>
          <a:solidFill>
            <a:srgbClr val="FFF4F8"/>
          </a:solidFill>
          <a:ln w="9525">
            <a:solidFill>
              <a:srgbClr val="EBC46F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 txBox="1"/>
          <p:nvPr/>
        </p:nvSpPr>
        <p:spPr>
          <a:xfrm>
            <a:off x="8321040" y="3584448"/>
            <a:ext cx="2944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D81B6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調整原因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8321040" y="4041648"/>
            <a:ext cx="299008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3B1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盤面變小，連帶下修成立群集的門檻
中獎頻率因此高於原本 7×7（待數學以正式權重確認）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3B143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/>
            </a:r>
            <a:endParaRPr lang="en-US" sz="1300" dirty="0"/>
          </a:p>
        </p:txBody>
      </p:sp>
      <p:sp>
        <p:nvSpPr>
          <p:cNvPr id="24" name="Footnote"/>
          <p:cNvSpPr txBox="1"/>
          <p:nvPr/>
        </p:nvSpPr>
        <p:spPr>
          <a:xfrm>
            <a:off x="640080" y="6291072"/>
            <a:ext cx="10881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8A6A7A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賠率值沿用 Sugar Rush，4~7 連各檔連線數 -1，8／9／10+ 為自訂爆炸區，由數學依新盤面重新調整權重。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rhinshen\AppData\Local\Temp\claude\c--Users-rhinshen-Mine----------\01b2ad50-d879-4095-9426-5c3ba6ea1a55\scratchpad\deck\assets\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685800"/>
            <a:ext cx="960120" cy="96012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1965960" y="731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4CE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CANDY RUSH 2 · 急速糖果 2</a:t>
            </a:r>
            <a:endParaRPr lang="en-US" sz="2200" dirty="0"/>
          </a:p>
        </p:txBody>
      </p:sp>
      <p:sp>
        <p:nvSpPr>
          <p:cNvPr id="4" name="Text 1"/>
          <p:cNvSpPr txBox="1"/>
          <p:nvPr/>
        </p:nvSpPr>
        <p:spPr>
          <a:xfrm>
            <a:off x="1965960" y="1207008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E3A72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依 game_rule.md v0.3 · JumboRD</a:t>
            </a:r>
            <a:endParaRPr lang="en-US" sz="1300" dirty="0"/>
          </a:p>
        </p:txBody>
      </p:sp>
      <p:sp>
        <p:nvSpPr>
          <p:cNvPr id="5" name="QA"/>
          <p:cNvSpPr txBox="1"/>
          <p:nvPr/>
        </p:nvSpPr>
        <p:spPr>
          <a:xfrm>
            <a:off x="7498080" y="2194560"/>
            <a:ext cx="40233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600" b="1" dirty="0">
                <a:solidFill>
                  <a:srgbClr val="F4CE6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 &amp; A</a:t>
            </a:r>
            <a:endParaRPr lang="en-US" sz="6600" dirty="0"/>
          </a:p>
        </p:txBody>
      </p:sp>
      <p:sp>
        <p:nvSpPr>
          <p:cNvPr id="6" name="Text 3"/>
          <p:cNvSpPr txBox="1"/>
          <p:nvPr/>
        </p:nvSpPr>
        <p:spPr>
          <a:xfrm>
            <a:off x="777240" y="2240280"/>
            <a:ext cx="6400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4CE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待確認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777240" y="2743200"/>
            <a:ext cx="67665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b="1" dirty="0">
                <a:solidFill>
                  <a:srgbClr val="F4CE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【數學】Extra Bet 底板權重（倍數值已定 14 檔；改版後每塊期望由 92 降為 8~22，10× 費用需重新評估）
【數學】Buy Feature 價格、最大贏分與目標 RTP
【PM】觸發的 FG 是否沿用 Extra Bet 底板
【美術】主題美術與符號正式名稱</a:t>
            </a:r>
            <a:pPr indent="0" marL="0">
              <a:spcAft>
                <a:spcPts val="800"/>
              </a:spcAft>
              <a:buNone/>
            </a:pPr>
            <a:r>
              <a:rPr lang="en-US" sz="1450" dirty="0">
                <a:solidFill>
                  <a:srgbClr val="FFF4F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/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b="1" dirty="0">
                <a:solidFill>
                  <a:srgbClr val="F4CE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/>
            </a:r>
            <a:pPr indent="0" marL="0">
              <a:spcAft>
                <a:spcPts val="800"/>
              </a:spcAft>
              <a:buNone/>
            </a:pPr>
            <a:r>
              <a:rPr lang="en-US" sz="1450" dirty="0">
                <a:solidFill>
                  <a:srgbClr val="FFF4F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/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b="1" dirty="0">
                <a:solidFill>
                  <a:srgbClr val="F4CE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/>
            </a:r>
            <a:pPr indent="0" marL="0">
              <a:spcAft>
                <a:spcPts val="800"/>
              </a:spcAft>
              <a:buNone/>
            </a:pPr>
            <a:r>
              <a:rPr lang="en-US" sz="1450" dirty="0">
                <a:solidFill>
                  <a:srgbClr val="FFF4F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/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b="1" dirty="0">
                <a:solidFill>
                  <a:srgbClr val="F4CE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/>
            </a:r>
            <a:pPr indent="0" marL="0">
              <a:spcAft>
                <a:spcPts val="800"/>
              </a:spcAft>
              <a:buNone/>
            </a:pPr>
            <a:r>
              <a:rPr lang="en-US" sz="1450" dirty="0">
                <a:solidFill>
                  <a:srgbClr val="FFF4F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/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b="1" dirty="0">
                <a:solidFill>
                  <a:srgbClr val="F4CE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/>
            </a:r>
            <a:pPr indent="0" marL="0">
              <a:spcAft>
                <a:spcPts val="800"/>
              </a:spcAft>
              <a:buNone/>
            </a:pPr>
            <a:r>
              <a:rPr lang="en-US" sz="1450" dirty="0">
                <a:solidFill>
                  <a:srgbClr val="FFF4F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/>
            </a:r>
            <a:endParaRPr lang="en-US" sz="14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50" b="1" dirty="0">
                <a:solidFill>
                  <a:srgbClr val="F4CE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/>
            </a:r>
            <a:pPr indent="0" marL="0">
              <a:spcAft>
                <a:spcPts val="800"/>
              </a:spcAft>
              <a:buNone/>
            </a:pPr>
            <a:r>
              <a:rPr lang="en-US" sz="1450" dirty="0">
                <a:solidFill>
                  <a:srgbClr val="FFF4F8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/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5989320"/>
            <a:ext cx="73152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4CE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※ 數值仍待數學調校，最終以認證版本為準。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andy Rush 2">
  <a:themeElements>
    <a:clrScheme name="Candy Rush 2">
      <a:dk1>
        <a:srgbClr val="3B1430"/>
      </a:dk1>
      <a:lt1>
        <a:srgbClr val="FFFFFF"/>
      </a:lt1>
      <a:dk2>
        <a:srgbClr val="3D0A2E"/>
      </a:dk2>
      <a:lt2>
        <a:srgbClr val="FFFDF7"/>
      </a:lt2>
      <a:accent1>
        <a:srgbClr val="5B1446"/>
      </a:accent1>
      <a:accent2>
        <a:srgbClr val="E3A72F"/>
      </a:accent2>
      <a:accent3>
        <a:srgbClr val="D81B60"/>
      </a:accent3>
      <a:accent4>
        <a:srgbClr val="A3215E"/>
      </a:accent4>
      <a:accent5>
        <a:srgbClr val="F4CE6E"/>
      </a:accent5>
      <a:accent6>
        <a:srgbClr val="8A6A7A"/>
      </a:accent6>
      <a:hlink>
        <a:srgbClr val="D81B60"/>
      </a:hlink>
      <a:folHlink>
        <a:srgbClr val="A3215E"/>
      </a:folHlink>
    </a:clrScheme>
    <a:fontScheme name="Candy Rush 2">
      <a:majorFont>
        <a:latin typeface="Microsoft Jheng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Jheng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CANDY RUSH 2 提案說明</dc:title>
  <dc:subject>PptxGenJS Presentation</dc:subject>
  <dc:creator>JumboRD</dc:creator>
  <cp:lastModifiedBy>JumboRD</cp:lastModifiedBy>
  <cp:revision>1</cp:revision>
  <dcterms:created xsi:type="dcterms:W3CDTF">2026-10-19T06:02:30Z</dcterms:created>
  <dcterms:modified xsi:type="dcterms:W3CDTF">2026-10-19T06:02:30Z</dcterms:modified>
</cp:coreProperties>
</file>