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CFD466E-5A57-7C9B-75A3-7EAC44A66ABB}">
          <p14:sldIdLst>
            <p14:sldId id="256"/>
          </p14:sldIdLst>
        </p14:section>
        <p14:section name="01 遊戲概述" id="{5168C4E7-7472-A887-6405-FDCEE00FC81E}">
          <p14:sldIdLst>
            <p14:sldId id="257"/>
          </p14:sldIdLst>
        </p14:section>
        <p14:section name="02 遊戲規格一覽" id="{1675B49D-7ACE-7C9F-9356-261826999A3F}">
          <p14:sldIdLst>
            <p14:sldId id="258"/>
          </p14:sldIdLst>
        </p14:section>
        <p14:section name="03 符號說明與賠付" id="{AC893045-6378-226A-9413-EAE4A6B03EF9}">
          <p14:sldIdLst>
            <p14:sldId id="259"/>
            <p14:sldId id="260"/>
          </p14:sldIdLst>
        </p14:section>
        <p14:section name="04 核心玩法" id="{60CBFC6D-BC29-975A-8DF8-603653E42C56}">
          <p14:sldIdLst>
            <p14:sldId id="261"/>
            <p14:sldId id="262"/>
            <p14:sldId id="263"/>
            <p14:sldId id="264"/>
          </p14:sldIdLst>
        </p14:section>
        <p14:section name="05 免費遊戲" id="{6EBCF26E-D755-C7CE-02A7-58C16599D576}">
          <p14:sldIdLst>
            <p14:sldId id="265"/>
          </p14:sldIdLst>
        </p14:section>
        <p14:section name="06 遊戲流程圖" id="{8C213584-39B4-507F-BF73-33051ADA306D}">
          <p14:sldIdLst>
            <p14:sldId id="266"/>
          </p14:sldIdLst>
        </p14:section>
        <p14:section name="07 特殊押注" id="{C5C98F5D-2CB2-C10F-086F-88B129030B5D}">
          <p14:sldIdLst>
            <p14:sldId id="267"/>
            <p14:sldId id="268"/>
          </p14:sldIdLst>
        </p14:section>
        <p14:section name="08 與競品差異對照" id="{A1DE1329-F26D-583A-BC00-8E4AD710BAC1}">
          <p14:sldIdLst>
            <p14:sldId id="269"/>
            <p14:sldId id="270"/>
          </p14:sldIdLst>
        </p14:section>
        <p14:section name="Q&amp;A" id="{EB2F7D28-B45E-FB01-178D-02C87E82FCC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57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9415" cy="5020056"/>
          </a:xfrm>
          <a:prstGeom prst="roundRect">
            <a:avLst>
              <a:gd name="adj" fmla="val 169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325880"/>
            <a:ext cx="4201399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3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畫面：一般押注六段連消後的倍數分布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10~20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押注選項</a:t>
            </a:r>
            <a:endParaRPr lang="en-US" sz="1300" dirty="0"/>
          </a:p>
        </p:txBody>
      </p:sp>
      <p:graphicFrame>
        <p:nvGraphicFramePr>
          <p:cNvPr id="17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899648" cy="26334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3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6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/ 4 / 5 Scatter → 10 / 15 / 20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81B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押注選項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0876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9C5664"/>
            </a:solidFill>
            <a:prstDash val="solid"/>
          </a:ln>
        </p:spPr>
      </p:sp>
      <p:pic>
        <p:nvPicPr>
          <p:cNvPr id="8" name="Sym_M1" descr="M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1978030"/>
            <a:ext cx="553029" cy="5530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655064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7C68B8"/>
            </a:solidFill>
            <a:prstDash val="solid"/>
          </a:ln>
        </p:spPr>
      </p:sp>
      <p:pic>
        <p:nvPicPr>
          <p:cNvPr id="11" name="Sym_M2" descr="M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733" y="1978030"/>
            <a:ext cx="553029" cy="55302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63624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441448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4F957D"/>
            </a:solidFill>
            <a:prstDash val="solid"/>
          </a:ln>
        </p:spPr>
      </p:sp>
      <p:pic>
        <p:nvPicPr>
          <p:cNvPr id="14" name="Sym_M3" descr="M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117" y="1978030"/>
            <a:ext cx="553029" cy="55302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350008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227832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5A85BF"/>
            </a:solidFill>
            <a:prstDash val="solid"/>
          </a:ln>
        </p:spPr>
      </p:sp>
      <p:pic>
        <p:nvPicPr>
          <p:cNvPr id="17" name="Sym_M4" descr="M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0501" y="1978030"/>
            <a:ext cx="553029" cy="55302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136392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014216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4A959D"/>
            </a:solidFill>
            <a:prstDash val="solid"/>
          </a:ln>
        </p:spPr>
      </p:sp>
      <p:pic>
        <p:nvPicPr>
          <p:cNvPr id="20" name="Sym_M5" descr="M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6885" y="1978030"/>
            <a:ext cx="553029" cy="55302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922776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800600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A0628F"/>
            </a:solidFill>
            <a:prstDash val="solid"/>
          </a:ln>
        </p:spPr>
      </p:sp>
      <p:pic>
        <p:nvPicPr>
          <p:cNvPr id="23" name="Sym_M6" descr="M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269" y="1978030"/>
            <a:ext cx="553029" cy="55302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709160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150" dirty="0"/>
          </a:p>
        </p:txBody>
      </p:sp>
      <p:sp>
        <p:nvSpPr>
          <p:cNvPr id="25" name="LightCard"/>
          <p:cNvSpPr/>
          <p:nvPr/>
        </p:nvSpPr>
        <p:spPr>
          <a:xfrm>
            <a:off x="5943600" y="1508760"/>
            <a:ext cx="5699455" cy="1463040"/>
          </a:xfrm>
          <a:prstGeom prst="roundRect">
            <a:avLst>
              <a:gd name="adj" fmla="val 500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172200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172200" y="19385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B1528"/>
          </a:solidFill>
          <a:ln w="25400">
            <a:solidFill>
              <a:srgbClr val="FFC46B"/>
            </a:solidFill>
            <a:prstDash val="solid"/>
          </a:ln>
        </p:spPr>
      </p:sp>
      <p:pic>
        <p:nvPicPr>
          <p:cNvPr id="28" name="Sym_C1" descr="C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4869" y="1978030"/>
            <a:ext cx="553029" cy="553029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080760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4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150" dirty="0"/>
          </a:p>
        </p:txBody>
      </p:sp>
      <p:sp>
        <p:nvSpPr>
          <p:cNvPr id="30" name="Text 21"/>
          <p:cNvSpPr txBox="1"/>
          <p:nvPr/>
        </p:nvSpPr>
        <p:spPr>
          <a:xfrm>
            <a:off x="6949440" y="1938528"/>
            <a:ext cx="45107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Scatter：3 個以上觸發 </a:t>
            </a: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同一輪最多 1 顆、不參與消除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640080" y="31272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一般符號賠付（× Bet，依相連數量）</a:t>
            </a:r>
            <a:endParaRPr lang="en-US" sz="1400" dirty="0"/>
          </a:p>
        </p:txBody>
      </p:sp>
      <p:graphicFrame>
        <p:nvGraphicFramePr>
          <p:cNvPr id="32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11296"/>
          <a:ext cx="10808208" cy="26883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 \ 相連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M6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4～7 連沿用 Sugar Rush（連線數 -1），8／9／10+ 為本作自訂爆炸區　·　實際獎金 = 群集賠率 × Bet × 全盤倍數和（0 視為 1）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6 種 + 特殊符號 1 種</a:t>
            </a: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C5664"/>
            </a:solidFill>
            <a:prstDash val="solid"/>
          </a:ln>
        </p:spPr>
      </p:sp>
      <p:pic>
        <p:nvPicPr>
          <p:cNvPr id="8" name="Sym_M1" descr="M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2553005"/>
            <a:ext cx="921715" cy="92171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C68B8"/>
            </a:solidFill>
            <a:prstDash val="solid"/>
          </a:ln>
        </p:spPr>
      </p:sp>
      <p:pic>
        <p:nvPicPr>
          <p:cNvPr id="11" name="Sym_M2" descr="M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190" y="2553005"/>
            <a:ext cx="921715" cy="9217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4F957D"/>
            </a:solidFill>
            <a:prstDash val="solid"/>
          </a:ln>
        </p:spPr>
      </p:sp>
      <p:pic>
        <p:nvPicPr>
          <p:cNvPr id="14" name="Sym_M3" descr="M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518" y="2553005"/>
            <a:ext cx="921715" cy="9217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5A85BF"/>
            </a:solidFill>
            <a:prstDash val="solid"/>
          </a:ln>
        </p:spPr>
      </p:sp>
      <p:pic>
        <p:nvPicPr>
          <p:cNvPr id="17" name="Sym_M4" descr="M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846" y="2553005"/>
            <a:ext cx="921715" cy="92171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4A959D"/>
            </a:solidFill>
            <a:prstDash val="solid"/>
          </a:ln>
        </p:spPr>
      </p:sp>
      <p:pic>
        <p:nvPicPr>
          <p:cNvPr id="20" name="Sym_M5" descr="M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174" y="2553005"/>
            <a:ext cx="921715" cy="92171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sym_M5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0628F"/>
            </a:solidFill>
            <a:prstDash val="solid"/>
          </a:ln>
        </p:spPr>
      </p:sp>
      <p:pic>
        <p:nvPicPr>
          <p:cNvPr id="23" name="Sym_M6" descr="M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4502" y="2553005"/>
            <a:ext cx="921715" cy="92171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sym_M6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FFC46B"/>
            </a:solidFill>
            <a:prstDash val="solid"/>
          </a:ln>
        </p:spPr>
      </p:sp>
      <p:pic>
        <p:nvPicPr>
          <p:cNvPr id="27" name="Sym_C1" descr="C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574" y="4761281"/>
            <a:ext cx="729691" cy="72969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A0628F"/>
            </a:solidFill>
            <a:prstDash val="solid"/>
          </a:ln>
        </p:spPr>
      </p:sp>
      <p:pic>
        <p:nvPicPr>
          <p:cNvPr id="30" name="Sym_M6" descr="M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7054" y="4761281"/>
            <a:ext cx="729691" cy="729691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4F957D"/>
            </a:solidFill>
            <a:prstDash val="solid"/>
          </a:ln>
        </p:spPr>
      </p:sp>
      <p:pic>
        <p:nvPicPr>
          <p:cNvPr id="35" name="Sym_M3" descr="M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534" y="4761281"/>
            <a:ext cx="729691" cy="729691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FFD84A"/>
            </a:solidFill>
            <a:prstDash val="solid"/>
          </a:ln>
        </p:spPr>
      </p:sp>
      <p:pic>
        <p:nvPicPr>
          <p:cNvPr id="40" name="Sym_M6" descr="M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2014" y="4761281"/>
            <a:ext cx="729691" cy="729691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計分群集金框</a:t>
            </a:r>
            <a:endParaRPr lang="en-US" sz="1150" dirty="0"/>
          </a:p>
        </p:txBody>
      </p:sp>
      <p:sp>
        <p:nvSpPr>
          <p:cNvPr id="4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目前符號圖為 demo 暫用素材，正式符號待美術。另需：場景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90150" cy="4974336"/>
          </a:xfrm>
          <a:prstGeom prst="roundRect">
            <a:avLst>
              <a:gd name="adj" fmla="val 170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25880"/>
            <a:ext cx="4162134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93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金框＝計分群集 M6×5　未框亮起＝連帶消除 3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5×5），倍數徽章與全盤倍數和為疊加示意（x250、x1000 為 3、4 位數顯示示意）；正式美術待定。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45" y="2194560"/>
            <a:ext cx="2159598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= +0.30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05" y="2194560"/>
            <a:ext cx="2159598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5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2_w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4865" y="2194560"/>
            <a:ext cx="2159598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2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×5 → M4×5 = +2.50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3 顆 M6 連帶消除，只以 M6×5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 與 M6×5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03120"/>
            <a:ext cx="2827110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計分（金框）＋連帶 3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2103120"/>
            <a:ext cx="2827110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M6×4＋M6×5 兩組計分 = +0.55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15 / 20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72353" cy="4837176"/>
          </a:xfrm>
          <a:prstGeom prst="roundRect">
            <a:avLst>
              <a:gd name="adj" fmla="val 175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463040"/>
            <a:ext cx="4044337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5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39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Scatter，觸發表只到 5 顆。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格放上 ×5~×50 倍數底板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103120"/>
            <a:ext cx="290564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3 個底板 ×15、×7、×6 → 全盤和 28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103120"/>
            <a:ext cx="290564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M6×7 × 28 = +14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358444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 3 個（100%）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×5～×10、×15～×50（共 14 檔）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待定（暫以緩降值）*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+1（例：15 → 16）；派彩仍以原始押注計算；*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6761" cy="4562856"/>
          </a:xfrm>
          <a:prstGeom prst="roundRect">
            <a:avLst>
              <a:gd name="adj" fmla="val 185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63040"/>
            <a:ext cx="3808745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402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20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4114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符號種類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4～7 連沿用、8／9／10+ 自訂爆炸區（4～10+）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開場固定 3 個 ×5~×50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kern="0" spc="20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相較競品的調整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一句話：為了</a:t>
            </a: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手機畫面放得下、玩家看得清楚倍數</a:t>
            </a: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，盤面縮成 5×5，符號種類與連線門檻一起調整。</a:t>
            </a:r>
            <a:endParaRPr lang="en-US" sz="1500" dirty="0"/>
          </a:p>
        </p:txBody>
      </p:sp>
      <p:sp>
        <p:nvSpPr>
          <p:cNvPr id="6" name="StatCard"/>
          <p:cNvSpPr/>
          <p:nvPr/>
        </p:nvSpPr>
        <p:spPr>
          <a:xfrm>
            <a:off x="64008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 → 5×5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</a:t>
            </a:r>
            <a:endParaRPr lang="en-US" sz="1300" dirty="0"/>
          </a:p>
        </p:txBody>
      </p:sp>
      <p:sp>
        <p:nvSpPr>
          <p:cNvPr id="9" name="LightCard"/>
          <p:cNvSpPr/>
          <p:nvPr/>
        </p:nvSpPr>
        <p:spPr>
          <a:xfrm>
            <a:off x="64008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盤面太大，手機畫面放不下「符號＋倍數框」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盤面太大，玩家較難鎖定期待的高倍數位置</a:t>
            </a:r>
            <a:endParaRPr lang="en-US" sz="1300" dirty="0"/>
          </a:p>
        </p:txBody>
      </p:sp>
      <p:sp>
        <p:nvSpPr>
          <p:cNvPr id="12" name="StatCard"/>
          <p:cNvSpPr/>
          <p:nvPr/>
        </p:nvSpPr>
        <p:spPr>
          <a:xfrm>
            <a:off x="434340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4340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7+1 → 6+1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符號種類（一般＋SC）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434340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7 種 → 6 種，移除最低分符號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不變；配合 5×5 盤面一起調整</a:t>
            </a:r>
            <a:endParaRPr lang="en-US" sz="1300" dirty="0"/>
          </a:p>
        </p:txBody>
      </p:sp>
      <p:sp>
        <p:nvSpPr>
          <p:cNvPr id="18" name="StatCard"/>
          <p:cNvSpPr/>
          <p:nvPr/>
        </p:nvSpPr>
        <p:spPr>
          <a:xfrm>
            <a:off x="804672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連 → 4 連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群集成立門檻</a:t>
            </a:r>
            <a:endParaRPr lang="en-US" sz="1300" dirty="0"/>
          </a:p>
        </p:txBody>
      </p:sp>
      <p:sp>
        <p:nvSpPr>
          <p:cNvPr id="21" name="LightCard"/>
          <p:cNvSpPr/>
          <p:nvPr/>
        </p:nvSpPr>
        <p:spPr>
          <a:xfrm>
            <a:off x="804672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盤面變小，連帶下修成立群集的門檻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讓消除難度與原本 7×7 的節奏相當</a:t>
            </a:r>
            <a:endParaRPr lang="en-US" sz="1300" dirty="0"/>
          </a:p>
        </p:txBody>
      </p:sp>
      <p:sp>
        <p:nvSpPr>
          <p:cNvPr id="24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賠率 4～7 連沿用 Sugar Rush（連線數 -1），8／9／10+ 為本作自訂爆炸區；權重由數學依新盤面重調。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底板倍數權重（目前為暫定緩降值）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1215</Words>
  <Application>Microsoft Office PowerPoint</Application>
  <PresentationFormat>寬螢幕</PresentationFormat>
  <Paragraphs>355</Paragraphs>
  <Slides>16</Slides>
  <Notes>16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Microsoft JhengHei</vt:lpstr>
      <vt:lpstr>Arial</vt:lpstr>
      <vt:lpstr>Calibri</vt:lpstr>
      <vt:lpstr>Georgia</vt:lpstr>
      <vt:lpstr>Candy Rush 2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宏羲 沈</cp:lastModifiedBy>
  <cp:revision>3</cp:revision>
  <dcterms:created xsi:type="dcterms:W3CDTF">2026-10-20T01:50:51Z</dcterms:created>
  <dcterms:modified xsi:type="dcterms:W3CDTF">2026-10-20T01:53:34Z</dcterms:modified>
</cp:coreProperties>
</file>