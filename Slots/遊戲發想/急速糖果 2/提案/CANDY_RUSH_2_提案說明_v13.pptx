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c26a1f3-b01d-3d56-a674-08d2ba099ad7}">
          <p14:sldIdLst>
            <p14:sldId id="256"/>
          </p14:sldIdLst>
        </p14:section>
        <p14:section name="01 遊戲概述" id="{8a4ed11c-1ce7-0a6f-1cdb-3b777d9f0b09}">
          <p14:sldIdLst>
            <p14:sldId id="257"/>
          </p14:sldIdLst>
        </p14:section>
        <p14:section name="02 遊戲規格一覽" id="{76133f08-f33e-e09e-9d32-c4c283cabad1}">
          <p14:sldIdLst>
            <p14:sldId id="258"/>
          </p14:sldIdLst>
        </p14:section>
        <p14:section name="03 符號說明與賠付" id="{1fd6cef6-2535-9257-db05-ab02b2cde3f8}">
          <p14:sldIdLst>
            <p14:sldId id="259"/>
            <p14:sldId id="260"/>
          </p14:sldIdLst>
        </p14:section>
        <p14:section name="04 核心玩法" id="{a4b70d55-8826-68cd-02bd-4124131b9794}">
          <p14:sldIdLst>
            <p14:sldId id="261"/>
            <p14:sldId id="262"/>
            <p14:sldId id="263"/>
            <p14:sldId id="264"/>
          </p14:sldIdLst>
        </p14:section>
        <p14:section name="05 免費遊戲" id="{a735deac-a9f0-7fcd-e3e3-538cd5dc8a72}">
          <p14:sldIdLst>
            <p14:sldId id="265"/>
          </p14:sldIdLst>
        </p14:section>
        <p14:section name="06 遊戲流程圖" id="{2a4868a2-57e2-83f8-9785-62816bb48942}">
          <p14:sldIdLst>
            <p14:sldId id="266"/>
          </p14:sldIdLst>
        </p14:section>
        <p14:section name="07 特殊押注" id="{5c62031d-4301-dee8-90e7-0b102e1f2057}">
          <p14:sldIdLst>
            <p14:sldId id="267"/>
            <p14:sldId id="268"/>
          </p14:sldIdLst>
        </p14:section>
        <p14:section name="08 與競品差異對照" id="{3571701b-b042-7fd3-0742-8e0e5418a380}">
          <p14:sldIdLst>
            <p14:sldId id="269"/>
            <p14:sldId id="270"/>
          </p14:sldIdLst>
        </p14:section>
        <p14:section name="Q&amp;A" id="{6517ed51-d27f-1d6e-9dc4-964a4dfb19a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4619" cy="5020056"/>
          </a:xfrm>
          <a:prstGeom prst="roundRect">
            <a:avLst>
              <a:gd name="adj" fmla="val 1692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6603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81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畫面：一般押注六段連消後的倍數分布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10~20 *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押注選項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6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3~5 Scatter → 10~20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81B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押注選項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1000，賠率採 Sugar Rush）；*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087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55064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655064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1448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441448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27832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227832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14216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014216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80060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19" name="LightCard"/>
          <p:cNvSpPr/>
          <p:nvPr/>
        </p:nvSpPr>
        <p:spPr>
          <a:xfrm>
            <a:off x="5943600" y="1508760"/>
            <a:ext cx="5699455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17220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17220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938528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Scatter：3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同一輪最多 1 顆、不參與消除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880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一般符號賠付（× Bet，依相連數量）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73552"/>
          <a:ext cx="10899648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881116"/>
                <a:gridCol w="881116"/>
                <a:gridCol w="881116"/>
                <a:gridCol w="881116"/>
                <a:gridCol w="881116"/>
                <a:gridCol w="881116"/>
                <a:gridCol w="881116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 \ 相連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10+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26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賠率值採 Sugar Rush 賠率表，4~7 連各檔連線數 -1，8／9／10+ 為自訂爆炸區　·　實際獎金 = 群集賠率 × Bet × 全盤倍數和（0 視為 1）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6 種 + 特殊符號 1 種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x50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FFD8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計分群集金框</a:t>
            </a:r>
            <a:endParaRPr lang="en-US" sz="1150" dirty="0"/>
          </a:p>
        </p:txBody>
      </p:sp>
      <p:sp>
        <p:nvSpPr>
          <p:cNvPr id="4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85398" cy="4974336"/>
          </a:xfrm>
          <a:prstGeom prst="roundRect">
            <a:avLst>
              <a:gd name="adj" fmla="val 170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57382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889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金框＝計分群集 M6×5　未框亮起＝連帶消除 3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5×5），倍數徽章與全盤倍數和為疊加示意（x50、x20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  <p:txBody>
          <a:bodyPr/>
          <a:p/>
        </p:txBody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578" y="2194560"/>
            <a:ext cx="215713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= +0.30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338" y="2194560"/>
            <a:ext cx="2157132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5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C:\Users\rhinshen\AppData\Local\Temp\claude\c--Users-rhinshen-Mine----------\01b2ad50-d879-4095-9426-5c3ba6ea1a55\scratchpad\deck\shots\nb_c2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098" y="2194560"/>
            <a:ext cx="215713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2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×5 → M4×5 = +2.50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3 顆 M6 連帶消除，只以 M6×5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 與 M6×5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1898" cy="3419856"/>
          </a:xfrm>
          <a:prstGeom prst="roundRect">
            <a:avLst>
              <a:gd name="adj" fmla="val 247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3882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5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計分（金框）＋連帶 3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1898" cy="3419856"/>
          </a:xfrm>
          <a:prstGeom prst="roundRect">
            <a:avLst>
              <a:gd name="adj" fmla="val 247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3882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5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M6×4＋M6×5 兩組計分 = +0.55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15 / 20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7737" cy="4837176"/>
          </a:xfrm>
          <a:prstGeom prst="roundRect">
            <a:avLst>
              <a:gd name="adj" fmla="val 175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9721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1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39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Scatter，全盤最多 5 顆，故只有 3／4／5 三檔。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一般押注第一次消除時全盤倍數和還是 0 → 以 ×1 計分（Extra Bet 開場即有底板，不適用）；倍數從第二段才開始發揮。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10 倍押注，開場就在盤面隨機 3 格放上 ×5~×50 倍數底板，第一次消除就乘上去。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0340" cy="3511296"/>
          </a:xfrm>
          <a:prstGeom prst="roundRect">
            <a:avLst>
              <a:gd name="adj" fmla="val 241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2324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3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3 個底板 ×50、×20、×5 → 全盤和 75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0340" cy="3511296"/>
          </a:xfrm>
          <a:prstGeom prst="roundRect">
            <a:avLst>
              <a:gd name="adj" fmla="val 241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2324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3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M6×7 × 75 = +37.5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 3 個（100%）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×5 / ×6 / ×7 / ×8 / ×9 / ×10 / ×15 / ×20 / ×25 / ×30 / ×35 / ×40 / ×45 / ×50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⏳ 待定（14 檔，暫以緩降佔位）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2413" cy="4562856"/>
          </a:xfrm>
          <a:prstGeom prst="roundRect">
            <a:avLst>
              <a:gd name="adj" fmla="val 18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4397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359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20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符號種類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4~7 連同 Sugar Rush（連線數 -1）；8/9/10+ 自訂爆炸區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開場固定 3 個 ×5~×50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相較競品的調整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一句話：為了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手機畫面放得下、玩家看得清楚倍數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，盤面縮成 5×5，符號種類與連線門檻一起調整。</a:t>
            </a:r>
            <a:endParaRPr lang="en-US" sz="1500" dirty="0"/>
          </a:p>
        </p:txBody>
      </p:sp>
      <p:sp>
        <p:nvSpPr>
          <p:cNvPr id="6" name="StatCard"/>
          <p:cNvSpPr/>
          <p:nvPr/>
        </p:nvSpPr>
        <p:spPr>
          <a:xfrm>
            <a:off x="64008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 → 5×5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</a:t>
            </a:r>
            <a:endParaRPr lang="en-US" sz="1300" dirty="0"/>
          </a:p>
        </p:txBody>
      </p:sp>
      <p:sp>
        <p:nvSpPr>
          <p:cNvPr id="9" name="LightCard"/>
          <p:cNvSpPr/>
          <p:nvPr/>
        </p:nvSpPr>
        <p:spPr>
          <a:xfrm>
            <a:off x="64008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1440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盤面太大，手機畫面放不下「符號＋倍數框」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盤面太大，玩家較難鎖定期待的高倍數位置</a:t>
            </a:r>
            <a:endParaRPr lang="en-US" sz="1300" dirty="0"/>
          </a:p>
        </p:txBody>
      </p:sp>
      <p:sp>
        <p:nvSpPr>
          <p:cNvPr id="12" name="StatCard"/>
          <p:cNvSpPr/>
          <p:nvPr/>
        </p:nvSpPr>
        <p:spPr>
          <a:xfrm>
            <a:off x="434340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34340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7+1 → 6+1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符號種類（一般＋SC）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434340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1772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7 種 → 6 種，移除最低分符號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不變；配合 5×5 盤面一起調整</a:t>
            </a:r>
            <a:endParaRPr lang="en-US" sz="1300" dirty="0"/>
          </a:p>
        </p:txBody>
      </p:sp>
      <p:sp>
        <p:nvSpPr>
          <p:cNvPr id="18" name="StatCard"/>
          <p:cNvSpPr/>
          <p:nvPr/>
        </p:nvSpPr>
        <p:spPr>
          <a:xfrm>
            <a:off x="804672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04672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連 → 4 連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群集成立門檻</a:t>
            </a:r>
            <a:endParaRPr lang="en-US" sz="1300" dirty="0"/>
          </a:p>
        </p:txBody>
      </p:sp>
      <p:sp>
        <p:nvSpPr>
          <p:cNvPr id="21" name="LightCard"/>
          <p:cNvSpPr/>
          <p:nvPr/>
        </p:nvSpPr>
        <p:spPr>
          <a:xfrm>
            <a:off x="804672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2104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盤面變小，連帶下修成立群集的門檻
中獎頻率因此高於原本 7×7（待數學以正式權重確認）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300" dirty="0"/>
          </a:p>
        </p:txBody>
      </p:sp>
      <p:sp>
        <p:nvSpPr>
          <p:cNvPr id="24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賠率值沿用 Sugar Rush，4~7 連各檔連線數 -1，8／9／10+ 為自訂爆炸區，由數學依新盤面重新調整權重。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【數學】Extra Bet 底板權重（倍數值已定 14 檔；改版後每塊期望由 92 降為 8~22，10× 費用需重新評估）
【數學】Buy Feature 價格、最大贏分與目標 RTP
【PM】觸發的 FG 是否沿用 Extra Bet 底板
【PM】是否保留 Super Free（起始倍數強化版）
【美術】主題美術與符號正式名稱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2026-10-19T06:02:30Z</dcterms:created>
  <dcterms:modified xsi:type="dcterms:W3CDTF">2026-10-19T06:02:30Z</dcterms:modified>
</cp:coreProperties>
</file>