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a39ccf91-e0df-6d8b-ec69-9e01890551df}">
          <p14:sldIdLst>
            <p14:sldId id="256"/>
          </p14:sldIdLst>
        </p14:section>
        <p14:section name="01 遊戲概述" id="{139dbad0-3b78-7919-0994-83986ff3215e}">
          <p14:sldIdLst>
            <p14:sldId id="257"/>
          </p14:sldIdLst>
        </p14:section>
        <p14:section name="02 遊戲規格一覽" id="{f1f6441b-9e5d-cca6-98ae-e7a4c5b9bc93}">
          <p14:sldIdLst>
            <p14:sldId id="258"/>
          </p14:sldIdLst>
        </p14:section>
        <p14:section name="03 符號說明與賠付" id="{af4bf805-3603-1254-6bdf-36ad23f1370b}">
          <p14:sldIdLst>
            <p14:sldId id="259"/>
            <p14:sldId id="260"/>
          </p14:sldIdLst>
        </p14:section>
        <p14:section name="04 核心玩法" id="{17d7d9c7-2e9f-113f-d113-5e9536e7ea72}">
          <p14:sldIdLst>
            <p14:sldId id="261"/>
            <p14:sldId id="262"/>
            <p14:sldId id="263"/>
            <p14:sldId id="264"/>
          </p14:sldIdLst>
        </p14:section>
        <p14:section name="05 免費遊戲" id="{aef63291-e189-1690-77b3-e6e90121dbaa}">
          <p14:sldIdLst>
            <p14:sldId id="265"/>
          </p14:sldIdLst>
        </p14:section>
        <p14:section name="06 遊戲流程圖" id="{b6f29ee7-0a38-7e79-2ef4-39527544adf5}">
          <p14:sldIdLst>
            <p14:sldId id="266"/>
          </p14:sldIdLst>
        </p14:section>
        <p14:section name="07 特殊押注" id="{9783a7dd-a837-9f47-5fcf-6736f2c5efee}">
          <p14:sldIdLst>
            <p14:sldId id="267"/>
            <p14:sldId id="268"/>
          </p14:sldIdLst>
        </p14:section>
        <p14:section name="08 與競品差異對照" id="{3e162c74-a2d3-6fca-deb1-8b1ce9118082}">
          <p14:sldIdLst>
            <p14:sldId id="269"/>
          </p14:sldIdLst>
        </p14:section>
        <p14:section name="Q&amp;A" id="{602d3f9c-db07-522f-7a49-c590ebd339ea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C:\Users\rhinshen\AppData\Local\Temp\claude\c--Users-rhinshen-Mine----------\01b2ad50-d879-4095-9426-5c3ba6ea1a55\scratchpad\deck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7168" y="640080"/>
            <a:ext cx="1737360" cy="1737360"/>
          </a:xfrm>
          <a:prstGeom prst="rect">
            <a:avLst/>
          </a:prstGeom>
        </p:spPr>
      </p:pic>
      <p:sp>
        <p:nvSpPr>
          <p:cNvPr id="3" name="CoverTitle"/>
          <p:cNvSpPr txBox="1"/>
          <p:nvPr/>
        </p:nvSpPr>
        <p:spPr>
          <a:xfrm>
            <a:off x="0" y="2468880"/>
            <a:ext cx="12191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CANDY RUSH 2</a:t>
            </a:r>
            <a:endParaRPr lang="en-US" sz="5600" dirty="0"/>
          </a:p>
        </p:txBody>
      </p:sp>
      <p:sp>
        <p:nvSpPr>
          <p:cNvPr id="4" name="Text 1"/>
          <p:cNvSpPr txBox="1"/>
          <p:nvPr/>
        </p:nvSpPr>
        <p:spPr>
          <a:xfrm>
            <a:off x="0" y="3456432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急 速 糖 果 2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0" y="4005072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A72F"/>
                </a:solidFill>
              </a:rPr>
              <a:t>✦   ✦   ✦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082900" y="4572000"/>
            <a:ext cx="1874520" cy="402336"/>
          </a:xfrm>
          <a:prstGeom prst="roundRect">
            <a:avLst>
              <a:gd name="adj" fmla="val 50000"/>
            </a:avLst>
          </a:prstGeom>
          <a:solidFill>
            <a:srgbClr val="A3215E"/>
          </a:solidFill>
          <a:ln w="6350">
            <a:solidFill>
              <a:srgbClr val="A321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082900" y="457200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5×5 群集消除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158588" y="4572000"/>
            <a:ext cx="1874520" cy="402336"/>
          </a:xfrm>
          <a:prstGeom prst="roundRect">
            <a:avLst>
              <a:gd name="adj" fmla="val 50000"/>
            </a:avLst>
          </a:prstGeom>
          <a:solidFill>
            <a:srgbClr val="A3215E"/>
          </a:solidFill>
          <a:ln w="6350">
            <a:solidFill>
              <a:srgbClr val="A3215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158588" y="457200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全盤倍數加總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234276" y="4572000"/>
            <a:ext cx="1874520" cy="402336"/>
          </a:xfrm>
          <a:prstGeom prst="roundRect">
            <a:avLst>
              <a:gd name="adj" fmla="val 50000"/>
            </a:avLst>
          </a:prstGeom>
          <a:solidFill>
            <a:srgbClr val="A3215E"/>
          </a:solidFill>
          <a:ln w="6350">
            <a:solidFill>
              <a:srgbClr val="A3215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234276" y="457200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同符號連帶消除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0" y="5897880"/>
            <a:ext cx="121916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E9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遊戲提案說明  ·  遊戲代號 TC2-DRAFT  ·  規則基底 H022 糖果轟炸 1000  ·  JumboRD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遊戲概述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糖果</a:t>
            </a:r>
            <a:pPr indent="0" marL="0">
              <a:buNone/>
            </a:pPr>
            <a:r>
              <a:rPr lang="en-US" sz="18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 · </a:t>
            </a:r>
            <a:pPr indent="0" marL="0">
              <a:buNone/>
            </a:pPr>
            <a:r>
              <a:rPr lang="en-US" sz="18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5×5 群集消除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每次消除讓底板</a:t>
            </a:r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 +1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，任何位置中獎都乘上</a:t>
            </a:r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全盤倍數加總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；同符號</a:t>
            </a:r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連帶消除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讓連消更深。</a:t>
            </a:r>
            <a:endParaRPr lang="en-US" sz="1400" dirty="0"/>
          </a:p>
        </p:txBody>
      </p:sp>
      <p:sp>
        <p:nvSpPr>
          <p:cNvPr id="7" name="StatCard"/>
          <p:cNvSpPr/>
          <p:nvPr/>
        </p:nvSpPr>
        <p:spPr>
          <a:xfrm>
            <a:off x="640080" y="315468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329732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5×5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867912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盤面 25 格</a:t>
            </a:r>
            <a:endParaRPr lang="en-US" sz="1300" dirty="0"/>
          </a:p>
        </p:txBody>
      </p:sp>
      <p:sp>
        <p:nvSpPr>
          <p:cNvPr id="10" name="StatCard"/>
          <p:cNvSpPr/>
          <p:nvPr/>
        </p:nvSpPr>
        <p:spPr>
          <a:xfrm>
            <a:off x="2880360" y="315468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880360" y="329732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Σ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2880360" y="3867912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全盤倍數加總</a:t>
            </a:r>
            <a:endParaRPr lang="en-US" sz="1300" dirty="0"/>
          </a:p>
        </p:txBody>
      </p:sp>
      <p:sp>
        <p:nvSpPr>
          <p:cNvPr id="13" name="StatCard"/>
          <p:cNvSpPr/>
          <p:nvPr/>
        </p:nvSpPr>
        <p:spPr>
          <a:xfrm>
            <a:off x="5120640" y="315468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120640" y="329732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3867912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每消倍數成長</a:t>
            </a:r>
            <a:endParaRPr lang="en-US" sz="1300" dirty="0"/>
          </a:p>
        </p:txBody>
      </p:sp>
      <p:sp>
        <p:nvSpPr>
          <p:cNvPr id="16" name="LightCard"/>
          <p:cNvSpPr/>
          <p:nvPr/>
        </p:nvSpPr>
        <p:spPr>
          <a:xfrm>
            <a:off x="640080" y="4709160"/>
            <a:ext cx="6492240" cy="1051560"/>
          </a:xfrm>
          <a:prstGeom prst="roundRect">
            <a:avLst>
              <a:gd name="adj" fmla="val 695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pic>
        <p:nvPicPr>
          <p:cNvPr id="17" name="Image 0" descr="C:\Users\rhinshen\AppData\Local\Temp\claude\c--Users-rhinshen-Mine----------\01b2ad50-d879-4095-9426-5c3ba6ea1a55\scratchpad\deck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846320"/>
            <a:ext cx="777240" cy="77724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874520" y="470916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位置倍數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黏在格位、只增不減，連消越長、</a:t>
            </a:r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越滾越大。</a:t>
            </a:r>
            <a:endParaRPr lang="en-US" sz="1400" dirty="0"/>
          </a:p>
        </p:txBody>
      </p:sp>
      <p:sp>
        <p:nvSpPr>
          <p:cNvPr id="19" name="ShotFrame"/>
          <p:cNvSpPr/>
          <p:nvPr/>
        </p:nvSpPr>
        <p:spPr>
          <a:xfrm>
            <a:off x="7388352" y="1261872"/>
            <a:ext cx="4329415" cy="5020056"/>
          </a:xfrm>
          <a:prstGeom prst="roundRect">
            <a:avLst>
              <a:gd name="adj" fmla="val 1690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0" name="DemoShot" descr="C:\Users\rhinshen\AppData\Local\Temp\claude\c--Users-rhinshen-Mine----------\01b2ad50-d879-4095-9426-5c3ba6ea1a55\scratchpad\deck\shots\nb_fi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201399" cy="489204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7086600" y="6327648"/>
            <a:ext cx="49329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畫面：一般押注七段連消後的倍數分布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 SPEC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遊戲規格一覽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5" name="StatCard"/>
          <p:cNvSpPr/>
          <p:nvPr/>
        </p:nvSpPr>
        <p:spPr>
          <a:xfrm>
            <a:off x="640080" y="15087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65140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21992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群集中獎</a:t>
            </a:r>
            <a:endParaRPr lang="en-US" sz="1300" dirty="0"/>
          </a:p>
        </p:txBody>
      </p:sp>
      <p:sp>
        <p:nvSpPr>
          <p:cNvPr id="8" name="StatCard"/>
          <p:cNvSpPr/>
          <p:nvPr/>
        </p:nvSpPr>
        <p:spPr>
          <a:xfrm>
            <a:off x="3419856" y="15087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19856" y="165140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× 5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419856" y="2221992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盤面 25 格</a:t>
            </a:r>
            <a:endParaRPr lang="en-US" sz="1300" dirty="0"/>
          </a:p>
        </p:txBody>
      </p:sp>
      <p:sp>
        <p:nvSpPr>
          <p:cNvPr id="11" name="StatCard"/>
          <p:cNvSpPr/>
          <p:nvPr/>
        </p:nvSpPr>
        <p:spPr>
          <a:xfrm>
            <a:off x="6199632" y="15087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199632" y="165140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10~15 *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199632" y="2221992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免費遊戲局數</a:t>
            </a:r>
            <a:endParaRPr lang="en-US" sz="1300" dirty="0"/>
          </a:p>
        </p:txBody>
      </p:sp>
      <p:sp>
        <p:nvSpPr>
          <p:cNvPr id="14" name="StatCard"/>
          <p:cNvSpPr/>
          <p:nvPr/>
        </p:nvSpPr>
        <p:spPr>
          <a:xfrm>
            <a:off x="8979408" y="15087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979408" y="165140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8979408" y="2221992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押注模式</a:t>
            </a:r>
            <a:endParaRPr lang="en-US" sz="1300" dirty="0"/>
          </a:p>
        </p:txBody>
      </p:sp>
      <p:graphicFrame>
        <p:nvGraphicFramePr>
          <p:cNvPr id="4" name="Spec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017520"/>
          <a:ext cx="10899648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840480"/>
                <a:gridCol w="1463040"/>
                <a:gridCol w="4133088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規格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規格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遊戲類型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Video Slot · Cluster Pay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盤面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 × 5（25 格）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中獎條件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上下左右相連 4 個以上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連消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Cascade 掉落補牌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符號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一般符號 7 種 · Scatter 1 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特色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位置倍數 · 同符號連帶消除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免費遊戲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3~5 Scatter → 10~15 局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押注模式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Normal · Extra Bet 10× · Buy Feature 100×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最大贏分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待數學訂定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RTP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待數學訂定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Footnote"/>
          <p:cNvSpPr txBox="1"/>
          <p:nvPr/>
        </p:nvSpPr>
        <p:spPr>
          <a:xfrm>
            <a:off x="640080" y="63276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依 game_rule.md v0.3（規則基底 H022 糖果轟炸 1000，賠率採 Sugar Rush）；* 為待確認數值。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SYMBOLS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符號說明與賠付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5" name="LightCard"/>
          <p:cNvSpPr/>
          <p:nvPr/>
        </p:nvSpPr>
        <p:spPr>
          <a:xfrm>
            <a:off x="640080" y="1554480"/>
            <a:ext cx="5212080" cy="2743200"/>
          </a:xfrm>
          <a:prstGeom prst="roundRect">
            <a:avLst>
              <a:gd name="adj" fmla="val 266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一般符號（7）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224028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B1528"/>
          </a:solidFill>
          <a:ln w="25400">
            <a:solidFill>
              <a:srgbClr val="E06C7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2402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65376" y="224028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B1528"/>
          </a:solidFill>
          <a:ln w="25400">
            <a:solidFill>
              <a:srgbClr val="D99A4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65376" y="22402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816352" y="224028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B1528"/>
          </a:solidFill>
          <a:ln w="25400">
            <a:solidFill>
              <a:srgbClr val="38A8C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16352" y="22402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767328" y="224028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B1528"/>
          </a:solidFill>
          <a:ln w="25400">
            <a:solidFill>
              <a:srgbClr val="A879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67328" y="22402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64024" y="224028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高分 ×4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3227832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B1528"/>
          </a:solidFill>
          <a:ln w="25400">
            <a:solidFill>
              <a:srgbClr val="78C88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322783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865376" y="3227832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B1528"/>
          </a:solidFill>
          <a:ln w="25400">
            <a:solidFill>
              <a:srgbClr val="265C8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865376" y="322783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816352" y="3227832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B1528"/>
          </a:solidFill>
          <a:ln w="25400">
            <a:solidFill>
              <a:srgbClr val="9696A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816352" y="322783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764024" y="3227832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低分 ×3</a:t>
            </a:r>
            <a:endParaRPr lang="en-US" sz="1300" dirty="0"/>
          </a:p>
        </p:txBody>
      </p:sp>
      <p:sp>
        <p:nvSpPr>
          <p:cNvPr id="23" name="LightCard"/>
          <p:cNvSpPr/>
          <p:nvPr/>
        </p:nvSpPr>
        <p:spPr>
          <a:xfrm>
            <a:off x="640080" y="448056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45902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特殊符號（1）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14400" y="5010912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E08A1E"/>
          </a:solidFill>
          <a:ln w="25400">
            <a:solidFill>
              <a:srgbClr val="FFC4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" y="501091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C1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874520" y="50109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Scatter 散佈符號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1874520" y="535838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個以上觸發 </a:t>
            </a:r>
            <a:pPr indent="0" marL="0">
              <a:buNone/>
            </a:pPr>
            <a:r>
              <a:rPr lang="en-US" sz="125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免費遊戲</a:t>
            </a:r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；同一輪最多 1 顆，不參與消除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172200" y="15087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一般符號賠付（bet = 1，依相連數量）</a:t>
            </a:r>
            <a:endParaRPr lang="en-US" sz="1400" dirty="0"/>
          </a:p>
        </p:txBody>
      </p:sp>
      <p:graphicFrame>
        <p:nvGraphicFramePr>
          <p:cNvPr id="5" name="Pay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938528"/>
          <a:ext cx="539496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868680"/>
                <a:gridCol w="868680"/>
                <a:gridCol w="868680"/>
                <a:gridCol w="868680"/>
                <a:gridCol w="868680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符號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11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14+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M1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M2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M3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1.25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M4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0.4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0.3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0.25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1.25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Q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0.2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0.4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Footnote"/>
          <p:cNvSpPr txBox="1"/>
          <p:nvPr/>
        </p:nvSpPr>
        <p:spPr>
          <a:xfrm>
            <a:off x="640080" y="63276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實際獎金 = 群集賠率 × Bet × 全盤倍數和（0 視為 1）　·　賠率採 Sugar Rush（各檔連線數 -1），完整 4~14+ 見 game_rule.md §4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 REQUIREMENT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符號與美術需求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高分 + 3 低分 + 1 特殊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· 美術風格參考待定（糖果主題，正式符號待美術）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574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一般符號（7）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E06C7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高分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21408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D99A4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21408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938528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938528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高分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02736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38A8C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02736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419856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419856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高分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84064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A879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84064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901184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901184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高分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65392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78C88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65392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382512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sym_A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382512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低分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046720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265C8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46720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863840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sym_K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863840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低分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528048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9696A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528048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9345168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sym_Q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345168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低分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431596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特殊符號與演出標記（4）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40080" y="47091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E08A1E"/>
          </a:solidFill>
          <a:ln w="25400">
            <a:solidFill>
              <a:srgbClr val="FFC46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" y="4709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C1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1645920" y="4709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Scatter · sym_C1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337560" y="47091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0B1528"/>
          </a:solidFill>
          <a:ln w="25400">
            <a:solidFill>
              <a:srgbClr val="265C89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337560" y="4709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31082" y="5280660"/>
            <a:ext cx="538582" cy="260604"/>
          </a:xfrm>
          <a:prstGeom prst="roundRect">
            <a:avLst>
              <a:gd name="adj" fmla="val 17544"/>
            </a:avLst>
          </a:prstGeom>
          <a:solidFill>
            <a:srgbClr val="FFB347"/>
          </a:solidFill>
          <a:ln w="6350">
            <a:solidFill>
              <a:srgbClr val="FFB34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631082" y="5280660"/>
            <a:ext cx="53858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x3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4343400" y="4709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位置倍數徽章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035040" y="47091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0B1528"/>
          </a:solidFill>
          <a:ln w="25400">
            <a:solidFill>
              <a:srgbClr val="38A8C9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035040" y="4709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M3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328562" y="5280660"/>
            <a:ext cx="538582" cy="260604"/>
          </a:xfrm>
          <a:prstGeom prst="roundRect">
            <a:avLst>
              <a:gd name="adj" fmla="val 17544"/>
            </a:avLst>
          </a:prstGeom>
          <a:solidFill>
            <a:srgbClr val="C13CF0"/>
          </a:solidFill>
          <a:ln w="6350">
            <a:solidFill>
              <a:srgbClr val="C13CF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328562" y="5280660"/>
            <a:ext cx="53858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x250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7040880" y="4709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Extra Bet 底板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8732520" y="47091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0B1528"/>
          </a:solidFill>
          <a:ln w="25400">
            <a:solidFill>
              <a:srgbClr val="9FE8F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732520" y="4709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9738360" y="4709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連帶消除光效</a:t>
            </a:r>
            <a:endParaRPr lang="en-US" sz="1150" dirty="0"/>
          </a:p>
        </p:txBody>
      </p:sp>
      <p:sp>
        <p:nvSpPr>
          <p:cNvPr id="52" name="Footnote"/>
          <p:cNvSpPr txBox="1"/>
          <p:nvPr/>
        </p:nvSpPr>
        <p:spPr>
          <a:xfrm>
            <a:off x="640080" y="59893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＊ 目前 demo 以代號＋色框呈現（佔位）。另需：場景 / Loading / 大廳 Icon、全盤倍數和收集演出、總贏分演出。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GAMEPLAY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核心玩法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LightCard"/>
          <p:cNvSpPr/>
          <p:nvPr/>
        </p:nvSpPr>
        <p:spPr>
          <a:xfrm>
            <a:off x="640080" y="1572768"/>
            <a:ext cx="6492240" cy="950976"/>
          </a:xfrm>
          <a:prstGeom prst="roundRect">
            <a:avLst>
              <a:gd name="adj" fmla="val 7692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76479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764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168249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群集中獎 Cluster Pay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207568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上下左右相連 4 個以上同符號</a:t>
            </a:r>
            <a:endParaRPr lang="en-US" sz="1300" dirty="0"/>
          </a:p>
        </p:txBody>
      </p:sp>
      <p:sp>
        <p:nvSpPr>
          <p:cNvPr id="10" name="LightCard"/>
          <p:cNvSpPr/>
          <p:nvPr/>
        </p:nvSpPr>
        <p:spPr>
          <a:xfrm>
            <a:off x="640080" y="2670048"/>
            <a:ext cx="6492240" cy="950976"/>
          </a:xfrm>
          <a:prstGeom prst="roundRect">
            <a:avLst>
              <a:gd name="adj" fmla="val 7692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86207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862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277977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Cascade 掉落補牌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317296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消除 → 上方落下 → 新符號補入 → 重判</a:t>
            </a:r>
            <a:endParaRPr lang="en-US" sz="1300" dirty="0"/>
          </a:p>
        </p:txBody>
      </p:sp>
      <p:sp>
        <p:nvSpPr>
          <p:cNvPr id="15" name="LightCard"/>
          <p:cNvSpPr/>
          <p:nvPr/>
        </p:nvSpPr>
        <p:spPr>
          <a:xfrm>
            <a:off x="640080" y="3767328"/>
            <a:ext cx="6492240" cy="950976"/>
          </a:xfrm>
          <a:prstGeom prst="roundRect">
            <a:avLst>
              <a:gd name="adj" fmla="val 7692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95935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3959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387705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位置倍數 · 全盤加總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427024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每消 +1 · 得分 × 全盤倍數和</a:t>
            </a:r>
            <a:endParaRPr lang="en-US" sz="1300" dirty="0"/>
          </a:p>
        </p:txBody>
      </p:sp>
      <p:sp>
        <p:nvSpPr>
          <p:cNvPr id="20" name="LightCard"/>
          <p:cNvSpPr/>
          <p:nvPr/>
        </p:nvSpPr>
        <p:spPr>
          <a:xfrm>
            <a:off x="640080" y="4864608"/>
            <a:ext cx="6492240" cy="950976"/>
          </a:xfrm>
          <a:prstGeom prst="roundRect">
            <a:avLst>
              <a:gd name="adj" fmla="val 7692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505663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8680" y="5056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691640" y="497433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同符號連帶消除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691640" y="536752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中獎時全盤同符號一起消（只算相連那組）</a:t>
            </a:r>
            <a:endParaRPr lang="en-US" sz="1300" dirty="0"/>
          </a:p>
        </p:txBody>
      </p:sp>
      <p:sp>
        <p:nvSpPr>
          <p:cNvPr id="25" name="ShotFrame"/>
          <p:cNvSpPr/>
          <p:nvPr/>
        </p:nvSpPr>
        <p:spPr>
          <a:xfrm>
            <a:off x="7525512" y="1261872"/>
            <a:ext cx="4290150" cy="4974336"/>
          </a:xfrm>
          <a:prstGeom prst="roundRect">
            <a:avLst>
              <a:gd name="adj" fmla="val 1705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6" name="DemoShot" descr="C:\Users\rhinshen\AppData\Local\Temp\claude\c--Users-rhinshen-Mine----------\01b2ad50-d879-4095-9426-5c3ba6ea1a55\scratchpad\deck\shots\nb_c1_w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25880"/>
            <a:ext cx="4162134" cy="4846320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7223760" y="6281928"/>
            <a:ext cx="48936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亮起＝本段消除：Q×4、K×4 計分＋連帶 2 格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GAMEPLAY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位置倍數畫面示意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ShotFrame"/>
          <p:cNvSpPr/>
          <p:nvPr/>
        </p:nvSpPr>
        <p:spPr>
          <a:xfrm>
            <a:off x="640080" y="1536192"/>
            <a:ext cx="4569900" cy="4334256"/>
          </a:xfrm>
          <a:prstGeom prst="roundRect">
            <a:avLst>
              <a:gd name="adj" fmla="val 1688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DemoShot" descr="C:\Users\rhinshen\AppData\Local\Temp\claude\c--Users-rhinshen-Mine----------\01b2ad50-d879-4095-9426-5c3ba6ea1a55\scratchpad\deck\shots\mult_m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600200"/>
            <a:ext cx="4441884" cy="42062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349240" y="1463040"/>
            <a:ext cx="62938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一句話：消除過的格子掛上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倍數徽章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，盤面下方即時顯示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「全盤倍數和」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500" dirty="0"/>
          </a:p>
        </p:txBody>
      </p:sp>
      <p:sp>
        <p:nvSpPr>
          <p:cNvPr id="8" name="LightCard"/>
          <p:cNvSpPr/>
          <p:nvPr/>
        </p:nvSpPr>
        <p:spPr>
          <a:xfrm>
            <a:off x="5349240" y="2148840"/>
            <a:ext cx="6293815" cy="1170432"/>
          </a:xfrm>
          <a:prstGeom prst="roundRect">
            <a:avLst>
              <a:gd name="adj" fmla="val 6250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550408" y="245059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550408" y="24505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309360" y="2276856"/>
            <a:ext cx="5150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倍數徽章貼在格位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2660904"/>
            <a:ext cx="5150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格子每以群集成員消除一次 +1，徽章固定在格子右下角；符號掉落時徽章不跟著走。</a:t>
            </a:r>
            <a:endParaRPr lang="en-US" sz="1250" dirty="0"/>
          </a:p>
        </p:txBody>
      </p:sp>
      <p:sp>
        <p:nvSpPr>
          <p:cNvPr id="13" name="LightCard"/>
          <p:cNvSpPr/>
          <p:nvPr/>
        </p:nvSpPr>
        <p:spPr>
          <a:xfrm>
            <a:off x="5349240" y="3474720"/>
            <a:ext cx="6293815" cy="1170432"/>
          </a:xfrm>
          <a:prstGeom prst="roundRect">
            <a:avLst>
              <a:gd name="adj" fmla="val 6250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550408" y="377647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550408" y="3776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309360" y="3602736"/>
            <a:ext cx="5150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全盤倍數和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309360" y="3986784"/>
            <a:ext cx="5150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取代原本盤面下方的提示橫幅，顯示所有徽章加總（本例 1,272），千分位加逗號；每段得分都乘這個數。</a:t>
            </a:r>
            <a:endParaRPr lang="en-US" sz="1250" dirty="0"/>
          </a:p>
        </p:txBody>
      </p:sp>
      <p:sp>
        <p:nvSpPr>
          <p:cNvPr id="18" name="LightCard"/>
          <p:cNvSpPr/>
          <p:nvPr/>
        </p:nvSpPr>
        <p:spPr>
          <a:xfrm>
            <a:off x="5349240" y="4800600"/>
            <a:ext cx="6293815" cy="1170432"/>
          </a:xfrm>
          <a:prstGeom prst="roundRect">
            <a:avLst>
              <a:gd name="adj" fmla="val 6250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550408" y="510235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550408" y="5102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6309360" y="4928616"/>
            <a:ext cx="5150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徽章分級＋自動加寬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309360" y="5312664"/>
            <a:ext cx="5150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1~2 金、3~9 橘、10~99 桃紅、100+ 紫。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3、4 位數時徽章往左加寬、字級縮一級，不超出格子。</a:t>
            </a:r>
            <a:endParaRPr lang="en-US" sz="1250" dirty="0"/>
          </a:p>
        </p:txBody>
      </p:sp>
      <p:sp>
        <p:nvSpPr>
          <p:cNvPr id="23" name="Footnote"/>
          <p:cNvSpPr txBox="1"/>
          <p:nvPr/>
        </p:nvSpPr>
        <p:spPr>
          <a:xfrm>
            <a:off x="640080" y="63276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畫面取自糖果轟炸 1000 實機截圖（裁成 5×5），倍數徽章與全盤倍數和為疊加示意（x250、x1000 為 Extra Bet 底板）；正式美術待定。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GAMEPLAY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底板與倍數：全盤加總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每格消除一次倍數 +1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，任何位置中獎都乘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「全盤倍數加總」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，連消越長滾越大。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310128" cy="4114800"/>
          </a:xfrm>
          <a:prstGeom prst="roundRect">
            <a:avLst>
              <a:gd name="adj" fmla="val 2210"/>
            </a:avLst>
          </a:prstGeom>
          <a:solidFill>
            <a:srgbClr val="FFF4F8"/>
          </a:solidFill>
          <a:ln w="15875">
            <a:solidFill>
              <a:srgbClr val="E3A72F"/>
            </a:solidFill>
            <a:prstDash val="solid"/>
          </a:ln>
        </p:spPr>
      </p:sp>
      <p:pic>
        <p:nvPicPr>
          <p:cNvPr id="7" name="Image 0" descr="C:\Users\rhinshen\AppData\Local\Temp\claude\c--Users-rhinshen-Mine----------\01b2ad50-d879-4095-9426-5c3ba6ea1a55\scratchpad\deck\shots\nb_c1_w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5345" y="2194560"/>
            <a:ext cx="2159598" cy="2514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4828032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第一次消除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21208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底板還沒有倍數 → ×1 計分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5504688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Q×4＋K×4 = +0.45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023360" y="4023360"/>
            <a:ext cx="338328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4434840" y="2011680"/>
            <a:ext cx="3310128" cy="4114800"/>
          </a:xfrm>
          <a:prstGeom prst="roundRect">
            <a:avLst>
              <a:gd name="adj" fmla="val 2210"/>
            </a:avLst>
          </a:prstGeom>
          <a:solidFill>
            <a:srgbClr val="FFF4F8"/>
          </a:solidFill>
          <a:ln w="15875">
            <a:solidFill>
              <a:srgbClr val="E3A72F"/>
            </a:solidFill>
            <a:prstDash val="solid"/>
          </a:ln>
        </p:spPr>
      </p:sp>
      <p:pic>
        <p:nvPicPr>
          <p:cNvPr id="13" name="Image 1" descr="C:\Users\rhinshen\AppData\Local\Temp\claude\c--Users-rhinshen-Mine----------\01b2ad50-d879-4095-9426-5c3ba6ea1a55\scratchpad\deck\shots\nb_c1_d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105" y="2194560"/>
            <a:ext cx="2159598" cy="2514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34840" y="4828032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消除後 +1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521208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 8 格倍數 +1、黏在格位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4526280" y="5504688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全盤重新加總 = 8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7818120" y="4023360"/>
            <a:ext cx="338328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8229600" y="2011680"/>
            <a:ext cx="3310128" cy="4114800"/>
          </a:xfrm>
          <a:prstGeom prst="roundRect">
            <a:avLst>
              <a:gd name="adj" fmla="val 2210"/>
            </a:avLst>
          </a:prstGeom>
          <a:solidFill>
            <a:srgbClr val="FFF4F8"/>
          </a:solidFill>
          <a:ln w="15875">
            <a:solidFill>
              <a:srgbClr val="E3A72F"/>
            </a:solidFill>
            <a:prstDash val="solid"/>
          </a:ln>
        </p:spPr>
      </p:sp>
      <p:pic>
        <p:nvPicPr>
          <p:cNvPr id="19" name="Image 2" descr="C:\Users\rhinshen\AppData\Local\Temp\claude\c--Users-rhinshen-Mine----------\01b2ad50-d879-4095-9426-5c3ba6ea1a55\scratchpad\deck\shots\nb_c3_w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4865" y="2194560"/>
            <a:ext cx="2159598" cy="25146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229600" y="4828032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第 3 消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8321040" y="521208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乘上累積的全盤倍數和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8321040" y="5504688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×15 → M4×4 = +6.00</a:t>
            </a:r>
            <a:endParaRPr lang="en-US" sz="1250" dirty="0"/>
          </a:p>
        </p:txBody>
      </p:sp>
      <p:sp>
        <p:nvSpPr>
          <p:cNvPr id="23" name="Footnote"/>
          <p:cNvSpPr txBox="1"/>
          <p:nvPr/>
        </p:nvSpPr>
        <p:spPr>
          <a:xfrm>
            <a:off x="640080" y="62910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倍數只增不減；BG 每局歸零、FG 整場保留。連帶消除的格子不加倍數。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GAMEPLAY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同符號連帶消除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 顆相連成立時，盤面上所有同符號一起消掉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，但只以 N 顆相連的那組計分。</a:t>
            </a:r>
            <a:endParaRPr lang="en-US" sz="1500" dirty="0"/>
          </a:p>
        </p:txBody>
      </p:sp>
      <p:sp>
        <p:nvSpPr>
          <p:cNvPr id="6" name="LightCard"/>
          <p:cNvSpPr/>
          <p:nvPr/>
        </p:nvSpPr>
        <p:spPr>
          <a:xfrm>
            <a:off x="640080" y="2103120"/>
            <a:ext cx="4800600" cy="1097280"/>
          </a:xfrm>
          <a:prstGeom prst="roundRect">
            <a:avLst>
              <a:gd name="adj" fmla="val 666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368296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23682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23113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計分只算相連那組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6060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右上 K、下方 Q 連帶消除，只以 Q×4、K×4 計分</a:t>
            </a:r>
            <a:endParaRPr lang="en-US" sz="1250" dirty="0"/>
          </a:p>
        </p:txBody>
      </p:sp>
      <p:sp>
        <p:nvSpPr>
          <p:cNvPr id="11" name="LightCard"/>
          <p:cNvSpPr/>
          <p:nvPr/>
        </p:nvSpPr>
        <p:spPr>
          <a:xfrm>
            <a:off x="640080" y="3364992"/>
            <a:ext cx="4800600" cy="1097280"/>
          </a:xfrm>
          <a:prstGeom prst="roundRect">
            <a:avLst>
              <a:gd name="adj" fmla="val 666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3630168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3630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49300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同符號多組各自計分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386791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Q×5 與 Q×4 同時成立 → 兩組都算分</a:t>
            </a:r>
            <a:endParaRPr lang="en-US" sz="1250" dirty="0"/>
          </a:p>
        </p:txBody>
      </p:sp>
      <p:sp>
        <p:nvSpPr>
          <p:cNvPr id="16" name="LightCard"/>
          <p:cNvSpPr/>
          <p:nvPr/>
        </p:nvSpPr>
        <p:spPr>
          <a:xfrm>
            <a:off x="640080" y="4626864"/>
            <a:ext cx="4800600" cy="1097280"/>
          </a:xfrm>
          <a:prstGeom prst="roundRect">
            <a:avLst>
              <a:gd name="adj" fmla="val 666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892040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" y="4892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47548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連帶格不計分、不加倍數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600200" y="5129784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只參與消除與掉落；倍數只加在相連的格子</a:t>
            </a:r>
            <a:endParaRPr lang="en-US" sz="1250" dirty="0"/>
          </a:p>
        </p:txBody>
      </p:sp>
      <p:sp>
        <p:nvSpPr>
          <p:cNvPr id="21" name="ShotFrame"/>
          <p:cNvSpPr/>
          <p:nvPr/>
        </p:nvSpPr>
        <p:spPr>
          <a:xfrm>
            <a:off x="5742432" y="2039112"/>
            <a:ext cx="2955126" cy="3419856"/>
          </a:xfrm>
          <a:prstGeom prst="roundRect">
            <a:avLst>
              <a:gd name="adj" fmla="val 2475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2" name="DemoShot" descr="C:\Users\rhinshen\AppData\Local\Temp\claude\c--Users-rhinshen-Mine----------\01b2ad50-d879-4095-9426-5c3ba6ea1a55\scratchpad\deck\shots\nb_c1_w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03120"/>
            <a:ext cx="2827110" cy="329184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5440680" y="5504688"/>
            <a:ext cx="35586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Q×4、K×4 計分＋連帶 2 格</a:t>
            </a:r>
            <a:endParaRPr lang="en-US" sz="1150" dirty="0"/>
          </a:p>
        </p:txBody>
      </p:sp>
      <p:sp>
        <p:nvSpPr>
          <p:cNvPr id="24" name="ShotFrame"/>
          <p:cNvSpPr/>
          <p:nvPr/>
        </p:nvSpPr>
        <p:spPr>
          <a:xfrm>
            <a:off x="8787384" y="2039112"/>
            <a:ext cx="2955126" cy="3419856"/>
          </a:xfrm>
          <a:prstGeom prst="roundRect">
            <a:avLst>
              <a:gd name="adj" fmla="val 2475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5" name="DemoShot" descr="C:\Users\rhinshen\AppData\Local\Temp\claude\c--Users-rhinshen-Mine----------\01b2ad50-d879-4095-9426-5c3ba6ea1a55\scratchpad\deck\shots\two_clust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1392" y="2103120"/>
            <a:ext cx="2827110" cy="329184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8485632" y="5504688"/>
            <a:ext cx="35586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Q×5＋Q×4 兩組計分 ×4 = +1.80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GAME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免費遊戲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6675120" cy="1325880"/>
          </a:xfrm>
          <a:prstGeom prst="roundRect">
            <a:avLst>
              <a:gd name="adj" fmla="val 6897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166420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底板倍數累積不重置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6217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FG 開始時全盤歸零，之後位置倍數整場保留、跨局持續累加，全盤倍數和越滾越大，是大獎的主要來源。</a:t>
            </a:r>
            <a:endParaRPr lang="en-US" sz="1350" dirty="0"/>
          </a:p>
        </p:txBody>
      </p:sp>
      <p:sp>
        <p:nvSpPr>
          <p:cNvPr id="8" name="LightCard"/>
          <p:cNvSpPr/>
          <p:nvPr/>
        </p:nvSpPr>
        <p:spPr>
          <a:xfrm>
            <a:off x="640080" y="310896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32369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觸發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62102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4 / 5 Scatter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9319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10 / 12 / 15 局 *</a:t>
            </a:r>
            <a:endParaRPr lang="en-US" sz="1250" dirty="0"/>
          </a:p>
        </p:txBody>
      </p:sp>
      <p:sp>
        <p:nvSpPr>
          <p:cNvPr id="12" name="LightCard"/>
          <p:cNvSpPr/>
          <p:nvPr/>
        </p:nvSpPr>
        <p:spPr>
          <a:xfrm>
            <a:off x="4023360" y="310896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51960" y="32369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加局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251960" y="362102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FG 內再出現 3+ Scatter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251960" y="39319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依同表追加局數，總局數上限 50 *</a:t>
            </a:r>
            <a:endParaRPr lang="en-US" sz="1250" dirty="0"/>
          </a:p>
        </p:txBody>
      </p:sp>
      <p:sp>
        <p:nvSpPr>
          <p:cNvPr id="16" name="LightCard"/>
          <p:cNvSpPr/>
          <p:nvPr/>
        </p:nvSpPr>
        <p:spPr>
          <a:xfrm>
            <a:off x="640080" y="4572000"/>
            <a:ext cx="6675120" cy="1280160"/>
          </a:xfrm>
          <a:prstGeom prst="roundRect">
            <a:avLst>
              <a:gd name="adj" fmla="val 5714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700016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其餘規則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102352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群集、連帶消除、掉落與計分方式與 BG 相同；FG 使用專用輪帶與掉落權重。</a:t>
            </a:r>
            <a:endParaRPr lang="en-US" sz="1250" dirty="0"/>
          </a:p>
        </p:txBody>
      </p:sp>
      <p:sp>
        <p:nvSpPr>
          <p:cNvPr id="19" name="ShotFrame"/>
          <p:cNvSpPr/>
          <p:nvPr/>
        </p:nvSpPr>
        <p:spPr>
          <a:xfrm>
            <a:off x="7571232" y="1399032"/>
            <a:ext cx="4172353" cy="4837176"/>
          </a:xfrm>
          <a:prstGeom prst="roundRect">
            <a:avLst>
              <a:gd name="adj" fmla="val 1753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0" name="DemoShot" descr="C:\Users\rhinshen\AppData\Local\Temp\claude\c--Users-rhinshen-Mine----------\01b2ad50-d879-4095-9426-5c3ba6ea1a55\scratchpad\deck\shots\fg_spin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463040"/>
            <a:ext cx="4044337" cy="470916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269480" y="6281928"/>
            <a:ext cx="477585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FG 第 4 局：全盤倍數和累積到 34</a:t>
            </a:r>
            <a:endParaRPr lang="en-US" sz="1150" dirty="0"/>
          </a:p>
        </p:txBody>
      </p:sp>
      <p:sp>
        <p:nvSpPr>
          <p:cNvPr id="22" name="Footnote"/>
          <p:cNvSpPr txBox="1"/>
          <p:nvPr/>
        </p:nvSpPr>
        <p:spPr>
          <a:xfrm>
            <a:off x="640080" y="635508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* 為待確認數值；5×5 每軸最多 1 顆 Scatter，原 6／7 顆檔位不會出現，觸發表待確認。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 FLOW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遊戲流程圖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一句話：每段消除都是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「先計分、後 +1」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，而且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只有相連那組的格子加倍數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DF0D0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682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判定群集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706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相連 4+？沒有 → 本局結算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633472" y="2766060"/>
            <a:ext cx="219456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8036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DFF2E1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80360" y="23682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計分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953512" y="27706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賠率 × Bet × 全盤倍數和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73752" y="2766060"/>
            <a:ext cx="219456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2064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DCE8F7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20640" y="23682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消除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193792" y="27706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群集格 ＋ 全盤同符號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14032" y="2766060"/>
            <a:ext cx="219456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6092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ADCE8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60920" y="23682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倍數 +1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434072" y="27706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只加群集格，連帶格不加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354312" y="2766060"/>
            <a:ext cx="219456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60120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E6E0F5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01200" y="23682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掉落補牌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674352" y="27706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符號落下，倍數留在原格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584180" y="3291840"/>
            <a:ext cx="0" cy="320040"/>
          </a:xfrm>
          <a:prstGeom prst="line">
            <a:avLst/>
          </a:prstGeom>
          <a:noFill/>
          <a:ln w="15875">
            <a:solidFill>
              <a:srgbClr val="D81B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23060" y="3611880"/>
            <a:ext cx="8961120" cy="0"/>
          </a:xfrm>
          <a:prstGeom prst="line">
            <a:avLst/>
          </a:prstGeom>
          <a:noFill/>
          <a:ln w="15875">
            <a:solidFill>
              <a:srgbClr val="D81B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23060" y="3291840"/>
            <a:ext cx="0" cy="320040"/>
          </a:xfrm>
          <a:prstGeom prst="line">
            <a:avLst/>
          </a:prstGeom>
          <a:noFill/>
          <a:ln w="15875">
            <a:solidFill>
              <a:srgbClr val="D81B60"/>
            </a:solidFill>
            <a:prstDash val="solid"/>
            <a:headEnd type="triangle"/>
          </a:ln>
        </p:spPr>
      </p:sp>
      <p:sp>
        <p:nvSpPr>
          <p:cNvPr id="28" name="Text 26"/>
          <p:cNvSpPr txBox="1"/>
          <p:nvPr/>
        </p:nvSpPr>
        <p:spPr>
          <a:xfrm>
            <a:off x="4640580" y="36576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有新群集 → 回到 ① 再判定</a:t>
            </a:r>
            <a:endParaRPr lang="en-US" sz="1200" dirty="0"/>
          </a:p>
        </p:txBody>
      </p:sp>
      <p:sp>
        <p:nvSpPr>
          <p:cNvPr id="29" name="LightCard"/>
          <p:cNvSpPr/>
          <p:nvPr/>
        </p:nvSpPr>
        <p:spPr>
          <a:xfrm>
            <a:off x="640080" y="4206240"/>
            <a:ext cx="3493008" cy="1600200"/>
          </a:xfrm>
          <a:prstGeom prst="roundRect">
            <a:avLst>
              <a:gd name="adj" fmla="val 4571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1248" y="4389120"/>
            <a:ext cx="457200" cy="457200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41248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1417320" y="4425696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先計分、後 +1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68680" y="4956048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第一次消除時全盤倍數和還是 0 → 以 ×1 計分；倍數從第二段才開始發揮。</a:t>
            </a:r>
            <a:endParaRPr lang="en-US" sz="1250" dirty="0"/>
          </a:p>
        </p:txBody>
      </p:sp>
      <p:sp>
        <p:nvSpPr>
          <p:cNvPr id="34" name="LightCard"/>
          <p:cNvSpPr/>
          <p:nvPr/>
        </p:nvSpPr>
        <p:spPr>
          <a:xfrm>
            <a:off x="4343400" y="4206240"/>
            <a:ext cx="3493008" cy="1600200"/>
          </a:xfrm>
          <a:prstGeom prst="roundRect">
            <a:avLst>
              <a:gd name="adj" fmla="val 4571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44568" y="4389120"/>
            <a:ext cx="457200" cy="457200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44568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5120640" y="4425696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連帶格不加倍數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0" y="4956048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同符號連帶消除的格子只參與消除與掉落，不計分、不 +1。</a:t>
            </a:r>
            <a:endParaRPr lang="en-US" sz="1250" dirty="0"/>
          </a:p>
        </p:txBody>
      </p:sp>
      <p:sp>
        <p:nvSpPr>
          <p:cNvPr id="39" name="LightCard"/>
          <p:cNvSpPr/>
          <p:nvPr/>
        </p:nvSpPr>
        <p:spPr>
          <a:xfrm>
            <a:off x="8046720" y="4206240"/>
            <a:ext cx="3493008" cy="1600200"/>
          </a:xfrm>
          <a:prstGeom prst="roundRect">
            <a:avLst>
              <a:gd name="adj" fmla="val 4571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47888" y="4389120"/>
            <a:ext cx="457200" cy="457200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247888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8823960" y="4425696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倍數黏在格位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8275320" y="4956048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符號掉落後倍數留在原位置，新落下的符號直接吃到該格倍數。</a:t>
            </a:r>
            <a:endParaRPr lang="en-US" sz="1250" dirty="0"/>
          </a:p>
        </p:txBody>
      </p:sp>
      <p:sp>
        <p:nvSpPr>
          <p:cNvPr id="44" name="Footnote"/>
          <p:cNvSpPr txBox="1"/>
          <p:nvPr/>
        </p:nvSpPr>
        <p:spPr>
          <a:xfrm>
            <a:off x="640080" y="63276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整局連消結束後，最終盤面 Scatter ≥ 3 觸發免費遊戲；FG 流程相同，只是倍數跨局保留。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SPECIAL BET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特殊押注：Extra Bet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一句話：花 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倍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押注，開場就在盤面隨機 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1~3 格放上 ×20~×1000 倍數底板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，第一次消除就乘上去。</a:t>
            </a:r>
            <a:endParaRPr lang="en-US" sz="1500" dirty="0"/>
          </a:p>
        </p:txBody>
      </p:sp>
      <p:sp>
        <p:nvSpPr>
          <p:cNvPr id="6" name="ShotFrame"/>
          <p:cNvSpPr/>
          <p:nvPr/>
        </p:nvSpPr>
        <p:spPr>
          <a:xfrm>
            <a:off x="640080" y="2039112"/>
            <a:ext cx="3033656" cy="3511296"/>
          </a:xfrm>
          <a:prstGeom prst="roundRect">
            <a:avLst>
              <a:gd name="adj" fmla="val 2411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DemoShot" descr="C:\Users\rhinshen\AppData\Local\Temp\claude\c--Users-rhinshen-Mine----------\01b2ad50-d879-4095-9426-5c3ba6ea1a55\scratchpad\deck\shots\eb_init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2103120"/>
            <a:ext cx="2905640" cy="33832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38328" y="5596128"/>
            <a:ext cx="3637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開場底板 ×250、×20、×20 → 全盤和 290</a:t>
            </a:r>
            <a:endParaRPr lang="en-US" sz="1150" dirty="0"/>
          </a:p>
        </p:txBody>
      </p:sp>
      <p:sp>
        <p:nvSpPr>
          <p:cNvPr id="9" name="ShotFrame"/>
          <p:cNvSpPr/>
          <p:nvPr/>
        </p:nvSpPr>
        <p:spPr>
          <a:xfrm>
            <a:off x="3822192" y="2039112"/>
            <a:ext cx="3033656" cy="3511296"/>
          </a:xfrm>
          <a:prstGeom prst="roundRect">
            <a:avLst>
              <a:gd name="adj" fmla="val 2411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0" name="DemoShot" descr="C:\Users\rhinshen\AppData\Local\Temp\claude\c--Users-rhinshen-Mine----------\01b2ad50-d879-4095-9426-5c3ba6ea1a55\scratchpad\deck\shots\eb_c1_w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2103120"/>
            <a:ext cx="2905640" cy="33832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20440" y="5596128"/>
            <a:ext cx="3637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第一次消除 A×5＋M2×5 × 290 = +406</a:t>
            </a:r>
            <a:endParaRPr lang="en-US" sz="1150" dirty="0"/>
          </a:p>
        </p:txBody>
      </p:sp>
      <p:graphicFrame>
        <p:nvGraphicFramePr>
          <p:cNvPr id="13" name="ExtraBet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2103120"/>
          <a:ext cx="4544568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310128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設定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費用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Bet × 10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底板個數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/ 2 / 3 個，各 1/3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底板倍數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×20 / ×50 / ×100 / ×250 / ×500 / ×1000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倍數權重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50 / 25 / 12 / 7 / 4 / 2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生效時機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計入起始全盤和 → 第一次消除即生效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作用範圍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只限該次 BG Spin；觸發的 FG 從 0 開始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</a:tbl>
          </a:graphicData>
        </a:graphic>
      </p:graphicFrame>
      <p:sp>
        <p:nvSpPr>
          <p:cNvPr id="13" name="Footnote"/>
          <p:cNvSpPr txBox="1"/>
          <p:nvPr/>
        </p:nvSpPr>
        <p:spPr>
          <a:xfrm>
            <a:off x="640080" y="62910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底板格之後以群集成員消除時照常 +1（例：20 → 21）；派彩仍以原始押注計算；* 為待確認數值。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SPECIAL BET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特殊押注：Buy Feature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一句話：花 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100 倍*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押注直接進入 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局免費遊戲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，倍數同樣整場累積。</a:t>
            </a:r>
            <a:endParaRPr lang="en-US" sz="1500" dirty="0"/>
          </a:p>
        </p:txBody>
      </p:sp>
      <p:graphicFrame>
        <p:nvGraphicFramePr>
          <p:cNvPr id="14" name="BuyFeature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66751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51206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設定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費用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Bet × 100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進場方式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直接進入 FG（等同 3 顆 Scatter）*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局數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 局，FG 內可加局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FG 規則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與自然觸發相同，倍數整場保留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Super Free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起始倍數強化版是否保留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otFrame"/>
          <p:cNvSpPr/>
          <p:nvPr/>
        </p:nvSpPr>
        <p:spPr>
          <a:xfrm>
            <a:off x="7754112" y="1399032"/>
            <a:ext cx="3936761" cy="4562856"/>
          </a:xfrm>
          <a:prstGeom prst="roundRect">
            <a:avLst>
              <a:gd name="adj" fmla="val 1858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DemoShot" descr="C:\Users\rhinshen\AppData\Local\Temp\claude\c--Users-rhinshen-Mine----------\01b2ad50-d879-4095-9426-5c3ba6ea1a55\scratchpad\deck\shots\bf_fg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463040"/>
            <a:ext cx="3808745" cy="44348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452360" y="6007608"/>
            <a:ext cx="454026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Buy Feature 後 FG 第 2 局：全盤倍數和 49</a:t>
            </a:r>
            <a:endParaRPr lang="en-US" sz="1150" dirty="0"/>
          </a:p>
        </p:txBody>
      </p:sp>
      <p:sp>
        <p:nvSpPr>
          <p:cNvPr id="10" name="Footnote"/>
          <p:cNvSpPr txBox="1"/>
          <p:nvPr/>
        </p:nvSpPr>
        <p:spPr>
          <a:xfrm>
            <a:off x="640080" y="635508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* 為待確認數值；價格需依模擬定價。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VS. H022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與糖果轟炸 1000 差異對照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本作核心差異：把「群集內倍數翻倍」換成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「全盤倍數加總 ＋ 同符號連帶消除」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，盤面縮為 5×5。</a:t>
            </a:r>
            <a:endParaRPr lang="en-US" sz="1500" dirty="0"/>
          </a:p>
        </p:txBody>
      </p:sp>
      <p:graphicFrame>
        <p:nvGraphicFramePr>
          <p:cNvPr id="15" name="Compare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899648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206240"/>
                <a:gridCol w="4590288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糖果轟炸 1000（H022）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急速糖果 2（本作）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215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盤面 / 中獎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7×7 · 相連 5+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5×5 · 相連 4+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賠率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 Sugar Rush（5～15+）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數值相同，各檔連線數 -1（4～14+）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Mega 符號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有（轉換機制）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移除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位置倍數成長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2 次起翻倍（2 → 4 → … → 1024）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每消 +1（1 → 2 → 3 …）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計分乘數範圍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該群集內的位置倍數加總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全盤 25 格倍數加總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同符號消除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只消除群集本身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全盤同符號一併消除（只算相連組）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Extra Bet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開場 1~3 個 ×20~×1000 底板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FG 倍數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跨局保留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同左（底板倍數累積不重置）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</a:tbl>
          </a:graphicData>
        </a:graphic>
      </p:graphicFrame>
      <p:sp>
        <p:nvSpPr>
          <p:cNvPr id="7" name="Footnote"/>
          <p:cNvSpPr txBox="1"/>
          <p:nvPr/>
        </p:nvSpPr>
        <p:spPr>
          <a:xfrm>
            <a:off x="640080" y="62910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倍數不再只看群集內，任何位置的消除都吃到全盤累積，越連消越滾雪球。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rhinshen\AppData\Local\Temp\claude\c--Users-rhinshen-Mine----------\01b2ad50-d879-4095-9426-5c3ba6ea1a55\scratchpad\deck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960120" cy="9601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96596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CANDY RUSH 2 · 急速糖果 2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1965960" y="120700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game_rule.md v0.3 · JumboRD</a:t>
            </a:r>
            <a:endParaRPr lang="en-US" sz="1300" dirty="0"/>
          </a:p>
        </p:txBody>
      </p:sp>
      <p:sp>
        <p:nvSpPr>
          <p:cNvPr id="5" name="QA"/>
          <p:cNvSpPr txBox="1"/>
          <p:nvPr/>
        </p:nvSpPr>
        <p:spPr>
          <a:xfrm>
            <a:off x="7498080" y="219456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&amp; A</a:t>
            </a:r>
            <a:endParaRPr lang="en-US" sz="66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2402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待確認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743200"/>
            <a:ext cx="6766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【數學】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Extra Bet 底板權重（費用已定 10×，底板價值仍高於費用）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【數學】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Buy Feature 價格、最大贏分與目標 RTP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【PM】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5×5 的 Scatter 觸發表（6／7 顆檔位不會出現）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【PM】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觸發的 FG 是否沿用 Extra Bet 底板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【PM】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是否保留 Super Free（起始倍數強化版）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【美術】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主題美術與符號正式名稱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59893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數值仍待數學調校，最終以認證版本為準。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ndy Rush 2">
  <a:themeElements>
    <a:clrScheme name="Candy Rush 2">
      <a:dk1>
        <a:srgbClr val="3B1430"/>
      </a:dk1>
      <a:lt1>
        <a:srgbClr val="FFFFFF"/>
      </a:lt1>
      <a:dk2>
        <a:srgbClr val="3D0A2E"/>
      </a:dk2>
      <a:lt2>
        <a:srgbClr val="FFFDF7"/>
      </a:lt2>
      <a:accent1>
        <a:srgbClr val="5B1446"/>
      </a:accent1>
      <a:accent2>
        <a:srgbClr val="E3A72F"/>
      </a:accent2>
      <a:accent3>
        <a:srgbClr val="D81B60"/>
      </a:accent3>
      <a:accent4>
        <a:srgbClr val="A3215E"/>
      </a:accent4>
      <a:accent5>
        <a:srgbClr val="F4CE6E"/>
      </a:accent5>
      <a:accent6>
        <a:srgbClr val="8A6A7A"/>
      </a:accent6>
      <a:hlink>
        <a:srgbClr val="D81B60"/>
      </a:hlink>
      <a:folHlink>
        <a:srgbClr val="A3215E"/>
      </a:folHlink>
    </a:clrScheme>
    <a:fontScheme name="Candy Rush 2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CANDY RUSH 2 提案說明</dc:title>
  <dc:subject>PptxGenJS Presentation</dc:subject>
  <dc:creator>JumboRD</dc:creator>
  <cp:lastModifiedBy>JumboRD</cp:lastModifiedBy>
  <cp:revision>1</cp:revision>
  <dcterms:created xsi:type="dcterms:W3CDTF">2026-10-16T09:58:40Z</dcterms:created>
  <dcterms:modified xsi:type="dcterms:W3CDTF">2026-10-16T09:58:40Z</dcterms:modified>
</cp:coreProperties>
</file>