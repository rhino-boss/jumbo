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b484d0a4-f49b-8243-1a17-5778fee3e48c}">
          <p14:sldIdLst>
            <p14:sldId id="256"/>
          </p14:sldIdLst>
        </p14:section>
        <p14:section name="01 遊戲概述" id="{6e5207b9-a531-9dbf-bd55-71646706120a}">
          <p14:sldIdLst>
            <p14:sldId id="257"/>
          </p14:sldIdLst>
        </p14:section>
        <p14:section name="02 遊戲規格一覽" id="{a82b43e5-23a9-4044-8283-897fd39e118d}">
          <p14:sldIdLst>
            <p14:sldId id="258"/>
          </p14:sldIdLst>
        </p14:section>
        <p14:section name="03 符號說明與賠付" id="{4736e9d1-8fc1-beeb-16b1-3321a3759c52}">
          <p14:sldIdLst>
            <p14:sldId id="259"/>
            <p14:sldId id="260"/>
          </p14:sldIdLst>
        </p14:section>
        <p14:section name="04 核心玩法" id="{bf0853d4-9999-dbf1-1069-5fb9f3820f51}">
          <p14:sldIdLst>
            <p14:sldId id="261"/>
            <p14:sldId id="262"/>
            <p14:sldId id="263"/>
            <p14:sldId id="264"/>
          </p14:sldIdLst>
        </p14:section>
        <p14:section name="05 免費遊戲" id="{c9b600ec-8536-3a59-843d-2d9dab21c4c6}">
          <p14:sldIdLst>
            <p14:sldId id="265"/>
          </p14:sldIdLst>
        </p14:section>
        <p14:section name="06 遊戲流程圖" id="{c0c881ec-d525-7a26-d58b-fda3922b8664}">
          <p14:sldIdLst>
            <p14:sldId id="266"/>
          </p14:sldIdLst>
        </p14:section>
        <p14:section name="07 特殊押注" id="{d82eba47-897e-763f-7b7b-7973c3beecb0}">
          <p14:sldIdLst>
            <p14:sldId id="267"/>
            <p14:sldId id="268"/>
          </p14:sldIdLst>
        </p14:section>
        <p14:section name="08 與競品差異對照" id="{8dcd44a3-bcd8-b99c-4f89-fde70db6524f}">
          <p14:sldIdLst>
            <p14:sldId id="269"/>
            <p14:sldId id="270"/>
          </p14:sldIdLst>
        </p14:section>
        <p14:section name="Q&amp;A" id="{4803ff30-e019-4be0-991a-3cedd8f7aea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9788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E9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遊戲提案說明  ·  遊戲代號 TC2-DRAFT  ·  規則基底 H022 糖果轟炸 1000  ·  JumboRD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5×5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24619" cy="5020056"/>
          </a:xfrm>
          <a:prstGeom prst="roundRect">
            <a:avLst>
              <a:gd name="adj" fmla="val 1692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96603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281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畫面：一般押注六段連消後的倍數分布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× 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10~15 *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押注模式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463040"/>
                <a:gridCol w="413308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Video Slot · 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× 5（25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4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掉落補牌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6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 · 同符號連帶消除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3~5 Scatter → 10~15 局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押注模式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最大贏分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RTP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1000，賠率採 Sugar Rush）；*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一般符號（6）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47202A"/>
          </a:solidFill>
          <a:ln w="25400">
            <a:solidFill>
              <a:srgbClr val="9C56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302354"/>
          </a:solidFill>
          <a:ln w="25400">
            <a:solidFill>
              <a:srgbClr val="7C68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83C30"/>
          </a:solidFill>
          <a:ln w="25400">
            <a:solidFill>
              <a:srgbClr val="4F957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67328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C3459"/>
          </a:solidFill>
          <a:ln w="25400">
            <a:solidFill>
              <a:srgbClr val="5A85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7328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2402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 ×4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63B43"/>
          </a:solidFill>
          <a:ln w="25400">
            <a:solidFill>
              <a:srgbClr val="4A959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65376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46243E"/>
          </a:solidFill>
          <a:ln w="25400">
            <a:solidFill>
              <a:srgbClr val="A062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65376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764024" y="32278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 ×2</a:t>
            </a:r>
            <a:endParaRPr lang="en-US" sz="1300" dirty="0"/>
          </a:p>
        </p:txBody>
      </p:sp>
      <p:sp>
        <p:nvSpPr>
          <p:cNvPr id="21" name="LightCard"/>
          <p:cNvSpPr/>
          <p:nvPr/>
        </p:nvSpPr>
        <p:spPr>
          <a:xfrm>
            <a:off x="640080" y="4480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501091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E08A1E"/>
          </a:solidFill>
          <a:ln w="25400">
            <a:solidFill>
              <a:srgbClr val="FFC4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0109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874520" y="5010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散佈符號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874520" y="5358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；同一輪最多 1 顆，不參與消除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一般符號賠付（bet = 1，依相連數量）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868680"/>
                <a:gridCol w="868680"/>
                <a:gridCol w="868680"/>
                <a:gridCol w="8686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29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實際獎金 = 群集賠率 × Bet × 全盤倍數和（0 視為 1）　·　賠率採 Sugar Rush（各檔連線數 -1），完整 4~14+ 見 game_rule.md §4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高分 + 2 低分 + 1 特殊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一般符號（6）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7202A"/>
          </a:solidFill>
          <a:ln w="25400">
            <a:solidFill>
              <a:srgbClr val="9C56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302354"/>
          </a:solidFill>
          <a:ln w="25400">
            <a:solidFill>
              <a:srgbClr val="7C68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83C30"/>
          </a:solidFill>
          <a:ln w="25400">
            <a:solidFill>
              <a:srgbClr val="4F95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C3459"/>
          </a:solidFill>
          <a:ln w="25400">
            <a:solidFill>
              <a:srgbClr val="5A85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63B43"/>
          </a:solidFill>
          <a:ln w="25400">
            <a:solidFill>
              <a:srgbClr val="4A959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6243E"/>
          </a:solidFill>
          <a:ln w="25400">
            <a:solidFill>
              <a:srgbClr val="A062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E08A1E"/>
          </a:solidFill>
          <a:ln w="25400">
            <a:solidFill>
              <a:srgbClr val="FFC4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46243E"/>
          </a:solidFill>
          <a:ln w="25400">
            <a:solidFill>
              <a:srgbClr val="A0628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83C30"/>
          </a:solidFill>
          <a:ln w="25400">
            <a:solidFill>
              <a:srgbClr val="4F957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46243E"/>
          </a:solidFill>
          <a:ln w="25400">
            <a:solidFill>
              <a:srgbClr val="FFD84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計分群集金框</a:t>
            </a:r>
            <a:endParaRPr lang="en-US" sz="1150" dirty="0"/>
          </a:p>
        </p:txBody>
      </p:sp>
      <p:sp>
        <p:nvSpPr>
          <p:cNvPr id="48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4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285398" cy="4974336"/>
          </a:xfrm>
          <a:prstGeom prst="roundRect">
            <a:avLst>
              <a:gd name="adj" fmla="val 1707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157382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8889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金框＝計分群集 M6×5　未框亮起＝連帶消除 3 格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位置倍數畫面示意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otFrame"/>
          <p:cNvSpPr/>
          <p:nvPr/>
        </p:nvSpPr>
        <p:spPr>
          <a:xfrm>
            <a:off x="640080" y="1536192"/>
            <a:ext cx="4569900" cy="4334256"/>
          </a:xfrm>
          <a:prstGeom prst="roundRect">
            <a:avLst>
              <a:gd name="adj" fmla="val 168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emoShot" descr="C:\Users\rhinshen\AppData\Local\Temp\claude\c--Users-rhinshen-Mine----------\01b2ad50-d879-4095-9426-5c3ba6ea1a55\scratchpad\deck\shots\mult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00200"/>
            <a:ext cx="4441884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1463040"/>
            <a:ext cx="6293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一句話：消除過的格子掛上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，盤面下方即時顯示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「全盤倍數和」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8" name="LightCard"/>
          <p:cNvSpPr/>
          <p:nvPr/>
        </p:nvSpPr>
        <p:spPr>
          <a:xfrm>
            <a:off x="5349240" y="214884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50408" y="24505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5040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27685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倍數徽章貼在格位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66090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格子每以群集成員消除一次 +1，徽章固定在格子右下角；符號掉落時徽章不跟著走。</a:t>
            </a:r>
            <a:endParaRPr lang="en-US" sz="1250" dirty="0"/>
          </a:p>
        </p:txBody>
      </p:sp>
      <p:sp>
        <p:nvSpPr>
          <p:cNvPr id="13" name="LightCard"/>
          <p:cNvSpPr/>
          <p:nvPr/>
        </p:nvSpPr>
        <p:spPr>
          <a:xfrm>
            <a:off x="5349240" y="347472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50408" y="37764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50408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60273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98678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取代原本盤面下方的提示橫幅，顯示所有徽章加總（本例 1,272），千分位加逗號；每段得分都乘這個數。</a:t>
            </a:r>
            <a:endParaRPr lang="en-US" sz="1250" dirty="0"/>
          </a:p>
        </p:txBody>
      </p:sp>
      <p:sp>
        <p:nvSpPr>
          <p:cNvPr id="18" name="LightCard"/>
          <p:cNvSpPr/>
          <p:nvPr/>
        </p:nvSpPr>
        <p:spPr>
          <a:xfrm>
            <a:off x="5349240" y="480060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0408" y="5102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50408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92861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徽章分級＋自動加寬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31266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1~2 金、3~9 橘、10~99 桃紅、100+ 紫。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3、4 位數時徽章往左加寬、字級縮一級，不超出格子。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畫面取自糖果轟炸 1000 實機截圖（裁成 5×5），倍數徽章與全盤倍數和為疊加示意（x250、x1000 為 Extra Bet 底板）；正式美術待定。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578" y="2194560"/>
            <a:ext cx="2157132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M6×5 = +0.30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338" y="2194560"/>
            <a:ext cx="2157132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 5 格倍數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5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2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098" y="2194560"/>
            <a:ext cx="2157132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2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×5 → M4×5 = +2.50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 3 顆 M6 連帶消除，只以 M6×5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M6×4 與 M6×5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951898" cy="3419856"/>
          </a:xfrm>
          <a:prstGeom prst="roundRect">
            <a:avLst>
              <a:gd name="adj" fmla="val 247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823882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555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M6×5 計分（金框）＋連帶 3 格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951898" cy="3419856"/>
          </a:xfrm>
          <a:prstGeom prst="roundRect">
            <a:avLst>
              <a:gd name="adj" fmla="val 247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823882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555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M6×4＋M6×5 兩組計分 = +0.55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12 / 15 局 *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67737" cy="4837176"/>
          </a:xfrm>
          <a:prstGeom prst="roundRect">
            <a:avLst>
              <a:gd name="adj" fmla="val 175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39721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71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39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為待確認數值；5×5 每軸最多 1 顆 Scatter，原 6／7 顆檔位不會出現，觸發表待確認。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4+？沒有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第一次消除時全盤倍數和還是 0 → 以 ×1 計分；倍數從第二段才開始發揮。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格放上 ×20~×1000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3030340" cy="3511296"/>
          </a:xfrm>
          <a:prstGeom prst="roundRect">
            <a:avLst>
              <a:gd name="adj" fmla="val 241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902324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633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 3 個底板 ×250、×20、×20 → 全盤和 290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3030340" cy="3511296"/>
          </a:xfrm>
          <a:prstGeom prst="roundRect">
            <a:avLst>
              <a:gd name="adj" fmla="val 241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902324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633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M6×7 × 290 = +145</a:t>
            </a:r>
            <a:endParaRPr lang="en-US" sz="1150" dirty="0"/>
          </a:p>
        </p:txBody>
      </p:sp>
      <p:graphicFrame>
        <p:nvGraphicFramePr>
          <p:cNvPr id="13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固定 3 個（100%）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×20 / ×50 / ×100 / ×250 / ×500 / 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/ 25 / 12 / 7 / 4 / 2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4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 Free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起始倍數強化版是否保留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32413" cy="4562856"/>
          </a:xfrm>
          <a:prstGeom prst="roundRect">
            <a:avLst>
              <a:gd name="adj" fmla="val 18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DemoShot" descr="C:\Users\rhinshen\AppData\Local\Temp\claude\c--Users-rhinshen-Mine----------\01b2ad50-d879-4095-9426-5c3ba6ea1a55\scratchpad\deck\shots\bf_f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804397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359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20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，盤面縮為 5×5。</a:t>
            </a:r>
            <a:endParaRPr lang="en-US" sz="1500" dirty="0"/>
          </a:p>
        </p:txBody>
      </p:sp>
      <p:graphicFrame>
        <p:nvGraphicFramePr>
          <p:cNvPr id="15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5×5 · 相連 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符號種類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種 + Scatter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種 + Scatter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賠率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 Sugar Rush（5～15+）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數值相同，各檔連線數 -1（4～14+）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25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開場固定 3 個 ×20~×1000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相較競品的調整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一句話：為了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手機畫面放得下、玩家看得清楚倍數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，盤面縮成 5×5，符號種類與連線門檻一起調整。</a:t>
            </a:r>
            <a:endParaRPr lang="en-US" sz="1500" dirty="0"/>
          </a:p>
        </p:txBody>
      </p:sp>
      <p:sp>
        <p:nvSpPr>
          <p:cNvPr id="6" name="StatCard"/>
          <p:cNvSpPr/>
          <p:nvPr/>
        </p:nvSpPr>
        <p:spPr>
          <a:xfrm>
            <a:off x="64008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 → 5×5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</a:t>
            </a:r>
            <a:endParaRPr lang="en-US" sz="1300" dirty="0"/>
          </a:p>
        </p:txBody>
      </p:sp>
      <p:sp>
        <p:nvSpPr>
          <p:cNvPr id="9" name="LightCard"/>
          <p:cNvSpPr/>
          <p:nvPr/>
        </p:nvSpPr>
        <p:spPr>
          <a:xfrm>
            <a:off x="64008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盤面太大，手機畫面放不下「符號＋倍數框」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盤面太大，玩家較難鎖定期待的高倍數位置</a:t>
            </a:r>
            <a:endParaRPr lang="en-US" sz="1300" dirty="0"/>
          </a:p>
        </p:txBody>
      </p:sp>
      <p:sp>
        <p:nvSpPr>
          <p:cNvPr id="12" name="StatCard"/>
          <p:cNvSpPr/>
          <p:nvPr/>
        </p:nvSpPr>
        <p:spPr>
          <a:xfrm>
            <a:off x="434340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4340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7+1 → 6+1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符號種類（一般＋SC）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434340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 7 種 → 6 種，移除最低分符號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不變；配合 5×5 盤面一起調整</a:t>
            </a:r>
            <a:endParaRPr lang="en-US" sz="1300" dirty="0"/>
          </a:p>
        </p:txBody>
      </p:sp>
      <p:sp>
        <p:nvSpPr>
          <p:cNvPr id="18" name="StatCard"/>
          <p:cNvSpPr/>
          <p:nvPr/>
        </p:nvSpPr>
        <p:spPr>
          <a:xfrm>
            <a:off x="8046720" y="2103120"/>
            <a:ext cx="3493008" cy="1143000"/>
          </a:xfrm>
          <a:prstGeom prst="roundRect">
            <a:avLst>
              <a:gd name="adj" fmla="val 8000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46720" y="2240280"/>
            <a:ext cx="34930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連 → 4 連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788920"/>
            <a:ext cx="34930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群集成立門檻</a:t>
            </a:r>
            <a:endParaRPr lang="en-US" sz="1300" dirty="0"/>
          </a:p>
        </p:txBody>
      </p:sp>
      <p:sp>
        <p:nvSpPr>
          <p:cNvPr id="21" name="LightCard"/>
          <p:cNvSpPr/>
          <p:nvPr/>
        </p:nvSpPr>
        <p:spPr>
          <a:xfrm>
            <a:off x="8046720" y="3429000"/>
            <a:ext cx="3493008" cy="2057400"/>
          </a:xfrm>
          <a:prstGeom prst="roundRect">
            <a:avLst>
              <a:gd name="adj" fmla="val 3556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58444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調整原因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041648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盤面變小，連帶下修成立群集的門檻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讓消除難度與原本 7×7 的節奏相當</a:t>
            </a:r>
            <a:endParaRPr lang="en-US" sz="1300" dirty="0"/>
          </a:p>
        </p:txBody>
      </p:sp>
      <p:sp>
        <p:nvSpPr>
          <p:cNvPr id="24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賠率值沿用 Sugar Rush，各檔連線數 -1（4～14+），由數學依新盤面重新調整權重。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底板權重（費用 10×、固定 3 個，底板價值仍高於費用）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價格、最大贏分與目標 RTP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的 Scatter 觸發表（6／7 顆檔位不會出現）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是否保留 Super Free（起始倍數強化版）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【美術】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2026-10-19T03:29:42Z</dcterms:created>
  <dcterms:modified xsi:type="dcterms:W3CDTF">2026-10-19T03:29:42Z</dcterms:modified>
</cp:coreProperties>
</file>