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9aeb3689-2d45-e755-3810-65c21d059be0}">
          <p14:sldIdLst>
            <p14:sldId id="256"/>
          </p14:sldIdLst>
        </p14:section>
        <p14:section name="01 遊戲概述" id="{cbb7b8d9-2ef1-eb4b-85c5-5ac12392893f}">
          <p14:sldIdLst>
            <p14:sldId id="257"/>
          </p14:sldIdLst>
        </p14:section>
        <p14:section name="02 遊戲規格一覽" id="{34e03584-9ebb-829a-3280-ed7ea55d417b}">
          <p14:sldIdLst>
            <p14:sldId id="258"/>
          </p14:sldIdLst>
        </p14:section>
        <p14:section name="03 符號說明與賠付" id="{bb9a1f56-d475-608c-ab5b-0f53b6c322d3}">
          <p14:sldIdLst>
            <p14:sldId id="259"/>
            <p14:sldId id="260"/>
          </p14:sldIdLst>
        </p14:section>
        <p14:section name="04 核心玩法" id="{91c85857-d090-f8f9-f362-2178d1a60425}">
          <p14:sldIdLst>
            <p14:sldId id="261"/>
            <p14:sldId id="262"/>
            <p14:sldId id="263"/>
            <p14:sldId id="264"/>
          </p14:sldIdLst>
        </p14:section>
        <p14:section name="05 免費遊戲" id="{0c3d9793-effa-5757-dd3d-36f2cd913303}">
          <p14:sldIdLst>
            <p14:sldId id="265"/>
          </p14:sldIdLst>
        </p14:section>
        <p14:section name="06 遊戲流程圖" id="{af5e2c16-525a-eda9-670d-051c54d63239}">
          <p14:sldIdLst>
            <p14:sldId id="266"/>
          </p14:sldIdLst>
        </p14:section>
        <p14:section name="07 特殊押注" id="{0a79de5e-0820-1610-243f-bf9ef5d12272}">
          <p14:sldIdLst>
            <p14:sldId id="267"/>
            <p14:sldId id="268"/>
          </p14:sldIdLst>
        </p14:section>
        <p14:section name="08 與競品差異對照" id="{cb166f2c-ceee-36c1-591c-dbc865ed2b87}">
          <p14:sldIdLst>
            <p14:sldId id="269"/>
          </p14:sldIdLst>
        </p14:section>
        <p14:section name="Q&amp;A" id="{cc50d377-154c-f1b5-1a90-bbfeb0f97e7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 待定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9788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E9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遊戲提案說明  ·  遊戲代號 TC2-DRAFT  ·  規則基底 H022 糖果轟炸 1000  ·  JumboRD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中高波動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19823" cy="5020056"/>
          </a:xfrm>
          <a:prstGeom prst="roundRect">
            <a:avLst>
              <a:gd name="adj" fmla="val 169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91807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233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畫面：一般押注四段連消後的倍數分布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× 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10~30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押注模式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463040"/>
                <a:gridCol w="413308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Video Slot · 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× 7（49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5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掉落補牌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7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 · 同符號連帶消除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3~7 Scatter → 10~30 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押注模式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最大贏分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RTP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67328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7328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2402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 ×4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65376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65376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16352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64024" y="32278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 ×3</a:t>
            </a:r>
            <a:endParaRPr lang="en-US" sz="1300" dirty="0"/>
          </a:p>
        </p:txBody>
      </p:sp>
      <p:sp>
        <p:nvSpPr>
          <p:cNvPr id="23" name="LightCard"/>
          <p:cNvSpPr/>
          <p:nvPr/>
        </p:nvSpPr>
        <p:spPr>
          <a:xfrm>
            <a:off x="640080" y="4480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501091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0109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5010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散佈符號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358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；同一輪最多 1 顆，不參與消除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一般符號賠付（bet = 1，依相連數量）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868680"/>
                <a:gridCol w="868680"/>
                <a:gridCol w="868680"/>
                <a:gridCol w="8686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實際獎金 = 群集賠率 × Bet × 全盤倍數和（0 視為 1）　·　賠率暫沿用 H022，完整 5~15+ 賠率見 game_rule.md §4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高分 + 3 低分 + 1 特殊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2804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sym_Q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9FE8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連帶消除光效</a:t>
            </a:r>
            <a:endParaRPr lang="en-US" sz="1150" dirty="0"/>
          </a:p>
        </p:txBody>
      </p:sp>
      <p:sp>
        <p:nvSpPr>
          <p:cNvPr id="5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5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146691" cy="4974336"/>
          </a:xfrm>
          <a:prstGeom prst="roundRect">
            <a:avLst>
              <a:gd name="adj" fmla="val 176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018675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750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金光＝計分群集　藍光＝連帶消除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位置倍數畫面示意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otFrame"/>
          <p:cNvSpPr/>
          <p:nvPr/>
        </p:nvSpPr>
        <p:spPr>
          <a:xfrm>
            <a:off x="640080" y="1399032"/>
            <a:ext cx="4162611" cy="4745736"/>
          </a:xfrm>
          <a:prstGeom prst="roundRect">
            <a:avLst>
              <a:gd name="adj" fmla="val 1757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emoShot" descr="C:\Users\rhinshen\AppData\Local\Temp\claude\c--Users-rhinshen-Mine----------\01b2ad50-d879-4095-9426-5c3ba6ea1a55\scratchpad\deck\shots\mult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63040"/>
            <a:ext cx="4034595" cy="4617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1463040"/>
            <a:ext cx="6293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一句話：消除過的格子掛上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，盤面下方即時顯示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「全盤倍數和」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8" name="LightCard"/>
          <p:cNvSpPr/>
          <p:nvPr/>
        </p:nvSpPr>
        <p:spPr>
          <a:xfrm>
            <a:off x="5349240" y="214884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50408" y="24505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5040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27685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倍數徽章貼在格位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66090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格子每以群集成員消除一次 +1，徽章固定在格子右下角；符號掉落時徽章不跟著走。</a:t>
            </a:r>
            <a:endParaRPr lang="en-US" sz="1250" dirty="0"/>
          </a:p>
        </p:txBody>
      </p:sp>
      <p:sp>
        <p:nvSpPr>
          <p:cNvPr id="13" name="LightCard"/>
          <p:cNvSpPr/>
          <p:nvPr/>
        </p:nvSpPr>
        <p:spPr>
          <a:xfrm>
            <a:off x="5349240" y="347472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50408" y="37764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50408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60273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98678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取代原本盤面下方的提示橫幅，顯示所有徽章加總（本例 23），每段得分都乘這個數。</a:t>
            </a:r>
            <a:endParaRPr lang="en-US" sz="1250" dirty="0"/>
          </a:p>
        </p:txBody>
      </p:sp>
      <p:sp>
        <p:nvSpPr>
          <p:cNvPr id="18" name="LightCard"/>
          <p:cNvSpPr/>
          <p:nvPr/>
        </p:nvSpPr>
        <p:spPr>
          <a:xfrm>
            <a:off x="5349240" y="480060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0408" y="5102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50408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92861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徽章依倍數分級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31266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x1～x2 金、x3 橘、x4 以上桃紅，倍數越高越醒目。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畫面取自糖果轟炸 1000 實機截圖，倍數徽章與全盤倍數和為疊加示意；正式美術待定。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563" y="2194560"/>
            <a:ext cx="2085162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= +0.25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570" y="2194560"/>
            <a:ext cx="2154667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消掉的格子倍數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5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4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083" y="2194560"/>
            <a:ext cx="2085162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4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×15 → K×6 = +4.50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 7 顆 K 連帶消除，只以 K×5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與 Q×5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729666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計分（金）＋ 連帶 7 格（藍）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729666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＋ Q×5 兩組同時計分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/ 6 / 7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12 / 15 / 20 / 30 局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63120" cy="4837176"/>
          </a:xfrm>
          <a:prstGeom prst="roundRect">
            <a:avLst>
              <a:gd name="adj" fmla="val 1757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35104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6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34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5+？沒有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第一次消除時全盤倍數和還是 0 → 以 ×1 計分；倍數從第二段才開始發揮。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1~3 格放上 ×20~×1000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80549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開場底板 ×20、×20、×250 → 全盤和 290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80549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M4×6 × 290 = +145</a:t>
            </a:r>
            <a:endParaRPr lang="en-US" sz="1150" dirty="0"/>
          </a:p>
        </p:txBody>
      </p:sp>
      <p:graphicFrame>
        <p:nvGraphicFramePr>
          <p:cNvPr id="13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/ 2 / 3 個，各 1/3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×20 / ×50 / ×100 / ×250 / ×500 / 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/ 25 / 12 / 7 / 4 / 2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4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 Free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起始倍數強化版是否保留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23717" cy="4562856"/>
          </a:xfrm>
          <a:prstGeom prst="roundRect">
            <a:avLst>
              <a:gd name="adj" fmla="val 186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DemoShot" descr="C:\Users\rhinshen\AppData\Local\Temp\claude\c--Users-rhinshen-Mine----------\01b2ad50-d879-4095-9426-5c3ba6ea1a55\scratchpad\deck\shots\bf_f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795701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272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16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graphicFrame>
        <p:nvGraphicFramePr>
          <p:cNvPr id="15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49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 1~3 個 ×20~×1000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底板權重（費用已定 10×，底板價值仍高於費用）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價格、最大贏分與目標 RTP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是否保留 Super Free（起始倍數強化版）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【美術】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2026-10-13T06:20:44Z</dcterms:created>
  <dcterms:modified xsi:type="dcterms:W3CDTF">2026-10-13T06:20:44Z</dcterms:modified>
</cp:coreProperties>
</file>