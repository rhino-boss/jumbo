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0A2E"/>
                </a:solidFill>
                <a:latin typeface="Microsoft JhengHei"/>
              </a:defRPr>
            </a:pPr>
            <a:r>
              <a:rPr sz="1400" b="0" i="0" u="none" strike="noStrike">
                <a:solidFill>
                  <a:srgbClr val="3D0A2E"/>
                </a:solidFill>
                <a:latin typeface="Microsoft JhengHei"/>
              </a:rPr>
              <a:t>BF 贏錢率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BF 贏錢率</c:v>
                </c:pt>
              </c:strCache>
            </c:strRef>
          </c:tx>
          <c:spPr>
            <a:solidFill>
              <a:srgbClr val="B7A3AE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B1430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7A3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3215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Gates of Olympus 1000</c:v>
                  </c:pt>
                  <c:pt idx="1">
                    <c:v>Zeus 2500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27.67</c:v>
                </c:pt>
                <c:pt idx="1">
                  <c:v>30.77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3B1430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143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7800" y="685800"/>
            <a:ext cx="1673352" cy="1673352"/>
          </a:xfrm>
          <a:prstGeom prst="ellipse">
            <a:avLst/>
          </a:prstGeom>
          <a:solidFill>
            <a:srgbClr val="FDF3D8"/>
          </a:solidFill>
          <a:ln/>
        </p:spPr>
      </p:sp>
      <p:sp>
        <p:nvSpPr>
          <p:cNvPr id="3" name="Shape 1"/>
          <p:cNvSpPr/>
          <p:nvPr/>
        </p:nvSpPr>
        <p:spPr>
          <a:xfrm>
            <a:off x="5341468" y="769468"/>
            <a:ext cx="1506017" cy="1506017"/>
          </a:xfrm>
          <a:prstGeom prst="ellipse">
            <a:avLst/>
          </a:prstGeom>
          <a:solidFill>
            <a:srgbClr val="5B1446"/>
          </a:solidFill>
          <a:ln w="38100">
            <a:solidFill>
              <a:srgbClr val="E3A7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09605" y="1020470"/>
            <a:ext cx="769742" cy="1004011"/>
          </a:xfrm>
          <a:prstGeom prst="lightningBolt">
            <a:avLst/>
          </a:prstGeom>
          <a:solidFill>
            <a:srgbClr val="F4CE6E"/>
          </a:solidFill>
          <a:ln w="12700">
            <a:solidFill>
              <a:srgbClr val="E3A7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2606040"/>
            <a:ext cx="9445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ZEUS 2500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5204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宙 斯 2500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4023360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✦   ✦   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81528" y="45720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A321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81528" y="4572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倍數球最高 2500x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57216" y="45720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A321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57216" y="4572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C3 消除升級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32904" y="45720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A321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32904" y="4572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免費遊戲倍數累積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57784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C4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報告 · 101027 · 數學 7.4.0.0 · JumboRD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4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遊戲設計重點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725912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全盤消除＋倍數球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同符號全盤 8 個以上就中、消除掉落連消；倍數球最高 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2500x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，C3 每次消除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升一級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，免費遊戲倍數跨場累積。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160166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2500x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54526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倍數球上限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8920" y="30175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788920" y="3160166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1/8.4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754526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一般遊戲倍數球（轉）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30175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937760" y="3160166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30.77%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3754526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BF 贏錢率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6263640" cy="1051560"/>
          </a:xfrm>
          <a:prstGeom prst="roundRect">
            <a:avLst>
              <a:gd name="adj" fmla="val 695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663440"/>
            <a:ext cx="777240" cy="777240"/>
          </a:xfrm>
          <a:prstGeom prst="ellipse">
            <a:avLst/>
          </a:prstGeom>
          <a:solidFill>
            <a:srgbClr val="FDF3D8"/>
          </a:solidFill>
          <a:ln/>
        </p:spPr>
      </p:sp>
      <p:sp>
        <p:nvSpPr>
          <p:cNvPr id="18" name="Shape 16"/>
          <p:cNvSpPr/>
          <p:nvPr/>
        </p:nvSpPr>
        <p:spPr>
          <a:xfrm>
            <a:off x="907542" y="4702302"/>
            <a:ext cx="699516" cy="699516"/>
          </a:xfrm>
          <a:prstGeom prst="ellipse">
            <a:avLst/>
          </a:prstGeom>
          <a:solidFill>
            <a:srgbClr val="5B1446"/>
          </a:solidFill>
          <a:ln w="38100">
            <a:solidFill>
              <a:srgbClr val="E3A7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535" y="4818888"/>
            <a:ext cx="357530" cy="466344"/>
          </a:xfrm>
          <a:prstGeom prst="lightningBolt">
            <a:avLst/>
          </a:prstGeom>
          <a:solidFill>
            <a:srgbClr val="F4CE6E"/>
          </a:solidFill>
          <a:ln w="12700">
            <a:solidFill>
              <a:srgbClr val="E3A7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28800" y="4617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C3 升級球</a:t>
            </a:r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把連消和倍數綁在一起，連消越多倍數越大；</a:t>
            </a:r>
            <a:pPr indent="0" marL="0">
              <a:buNone/>
            </a:pPr>
            <a:r>
              <a:rPr lang="en-US" sz="13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有球的轉把倍數加進累積池、跨場保留。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69480" y="1572768"/>
            <a:ext cx="4279392" cy="2715768"/>
          </a:xfrm>
          <a:prstGeom prst="roundRect">
            <a:avLst>
              <a:gd name="adj" fmla="val 2020"/>
            </a:avLst>
          </a:prstGeom>
          <a:solidFill>
            <a:srgbClr val="0A1426"/>
          </a:solidFill>
          <a:ln w="44450">
            <a:solidFill>
              <a:srgbClr val="E3A72F"/>
            </a:solidFill>
            <a:prstDash val="solid"/>
          </a:ln>
        </p:spPr>
      </p:sp>
      <p:pic>
        <p:nvPicPr>
          <p:cNvPr id="22" name="Image 0" descr="C:\Users\rhinshen\AppData\Local\Temp\claude\c--Users-rhinshen-Mine----------\39ef4490-5781-4100-a28f-31c10c4cfacc\scratchpad\demo_ppt\media\demo_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632" y="1645920"/>
            <a:ext cx="4133088" cy="251460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269480" y="4389120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畫面：一般遊戲兩顆倍數球（×6、×5），全盤倍數 ×11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4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GATES OF OLYMPUS 1000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跟競品的差異與對應的數值調整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725912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核心差異：倍數球上限拉到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2500x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、多了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C3 升級球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，數值上同步提高大球能見度與連消強度。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087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2194560"/>
                <a:gridCol w="3685032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差異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Gates of Olympus 1000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Zeus 2500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對應的數值調整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倍數球上限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最高 1000x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最高 2500x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提高 2500x 的能見度，一般遊戲大獎上限足以讓 2500x 球得分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C3 升級球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每次中獎消除升一級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強化連消強度：連消越多倍數越大，更容易連消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倍數球的輪帶表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一張沒有 C2、一張每條輪帶各一個 C2（骰到這張、消得夠多就一定出現特色）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多一張表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新增一張連消更多的表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一般遊戲倍數球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 26.9 轉一次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 8.4 轉一次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提高倍數球出現率，讓玩家更常看到球</a:t>
                      </a:r>
                      <a:endParaRPr lang="en-US" sz="13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大球看得到、也打得中；連消和倍數綁在一起，越消越有期待。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4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跟競品不同的地方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725912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一句話：回應「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遊戲太平、高倍數太少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」，提高大獎頻率，同時用保底和回本率降低挫折。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35584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33558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1/26,364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11780"/>
            <a:ext cx="30815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≥1000x 週期（局）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335584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611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提高 1000x 以上大獎的出現頻率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069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客戶反應遊戲太平、高倍數太少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 3.1 萬局樣本未出現 1000x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335584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297680" y="2240280"/>
            <a:ext cx="33558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811780"/>
            <a:ext cx="30815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 ≥20x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474720"/>
            <a:ext cx="335584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611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每場免費遊戲都有保底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069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避免中免費遊戲卻空手、減少挫折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 ≥20x 只有 74%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2103120"/>
            <a:ext cx="335584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955280" y="2240280"/>
            <a:ext cx="33558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30.77%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2811780"/>
            <a:ext cx="30815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BF 贏錢率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55280" y="3474720"/>
            <a:ext cx="335584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0" y="3611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提高買 BF 回本的比例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069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 次有 1 次回本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 27.67%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4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 TEST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 Test：B 組主推、A 組對照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725912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兩組的免費遊戲與 Buy Feature 完全相同，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只差一般遊戲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，測試玩家對「更常看到球、更常出大獎」的接受度與留存。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330952" cy="3657600"/>
          </a:xfrm>
          <a:prstGeom prst="roundRect">
            <a:avLst>
              <a:gd name="adj" fmla="val 15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286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組（主推）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88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一般遊戲倍數球較多、大獎上限較高，尾端更深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703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1/8.4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434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倍數球（轉）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703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1/26,364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4434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≥1000x（局）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3703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16.18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4434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標準差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20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BC4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送驗與主推版本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5330952" cy="3657600"/>
          </a:xfrm>
          <a:prstGeom prst="roundRect">
            <a:avLst>
              <a:gd name="adj" fmla="val 150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2286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組（對照）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788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一般遊戲倍數球較少、大獎上限較低，玩起來較平穩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703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14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1/13.7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434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倍數球（轉）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3703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14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1/162,866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434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≥1000x（局）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738360" y="3703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14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13.19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738360" y="4434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標準差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5120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≥1000x 頻率約為 B 組的 1/6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4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FEEDBACK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製作過程的困難與反饋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725912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一句話：壓測與規範檢查抓出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 Bet 與大球得分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的問題，客戶反饋則讓主推版本調得更深。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3774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5B1446"/>
          </a:solidFill>
          <a:ln w="12700">
            <a:solidFill>
              <a:srgbClr val="E3A7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後端壓測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2026-10-12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2402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 Bet 的一般遊戲 RTP 嚴重偏低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697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倍率上限超過單把派彩天花板會被整把重骰 → 依天花板下修大 Bet 的倍率上限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7490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5B1446"/>
          </a:solidFill>
          <a:ln w="12700">
            <a:solidFill>
              <a:srgbClr val="E3A7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749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規範檢查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合理性檢查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36118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組 2500x 球在一般遊戲只會出現、不會得分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4069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主推與送驗都用 B 組，2500x 球在一般遊戲也能得分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1206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5B1446"/>
          </a:solidFill>
          <a:ln w="12700">
            <a:solidFill>
              <a:srgbClr val="E3A7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5120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2026-10-22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49834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遊戲太平、高倍數太少、留存差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5440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B 組調得更深：≥1000x 出現頻率約為 A 組 6 倍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4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數據佐證：玩法深淺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725912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一句話：標準差約為競品樣本的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，屬「深」——輸贏起伏大、大獎集中。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指標（NB，以押注計）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Gates of Olympus 1000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Zeus 2500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標準差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8.05（側錄樣本）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16.18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≥1000x 週期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樣本未出現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26,364 局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≥5000x 週期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892,857 局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≥10000x 週期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4,166,667 局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存活中位數（把）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6,485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2103120"/>
            <a:ext cx="3547872" cy="1417320"/>
          </a:xfrm>
          <a:prstGeom prst="roundRect">
            <a:avLst>
              <a:gd name="adj" fmla="val 645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01000" y="2273198"/>
            <a:ext cx="35478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16.18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981858"/>
            <a:ext cx="327355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標準差（競品樣本 8.05）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01000" y="3749040"/>
            <a:ext cx="3547872" cy="1417320"/>
          </a:xfrm>
          <a:prstGeom prst="roundRect">
            <a:avLst>
              <a:gd name="adj" fmla="val 645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01000" y="3919118"/>
            <a:ext cx="35478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6,485 把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4627778"/>
            <a:ext cx="327355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存活中位數（1000 元、每把 1 元）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競品為 3.1 萬局實機側錄，尾端大獎未取樣，標準差會被低估；本作為 Card-On 正式報表（NB 10⁸ 局）。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4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數據佐證：每天看得到幾次大獎推播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725912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一句話：每天有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上百次千倍推播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，每天都看得到 5000x 以上的大獎，對應「高倍數太少」的反饋。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355848" cy="1554480"/>
          </a:xfrm>
          <a:prstGeom prst="roundRect">
            <a:avLst>
              <a:gd name="adj" fmla="val 588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381098"/>
            <a:ext cx="3355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76～1,138 次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8338"/>
            <a:ext cx="3081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≥1000x／天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355848" cy="1554480"/>
          </a:xfrm>
          <a:prstGeom prst="roundRect">
            <a:avLst>
              <a:gd name="adj" fmla="val 588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297680" y="2381098"/>
            <a:ext cx="3355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2～34 次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3158338"/>
            <a:ext cx="3081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≥5000x／天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2194560"/>
            <a:ext cx="3355848" cy="1554480"/>
          </a:xfrm>
          <a:prstGeom prst="roundRect">
            <a:avLst>
              <a:gd name="adj" fmla="val 588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955280" y="2381098"/>
            <a:ext cx="3355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0.5～7 次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8338"/>
            <a:ext cx="3081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≥10000x／天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08792" cy="1463040"/>
          </a:xfrm>
          <a:prstGeom prst="roundRect">
            <a:avLst>
              <a:gd name="adj" fmla="val 500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2245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換算方式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64515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每天預期次數 ＝ 每天轉數 × 大獎機率（≥1000x 每 26,364 局、≥5000x 每 892,857 局、≥10000x 每 4,166,667 局一次）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每天轉數借用皮娜塔在前 6 名平台的數據：一天約 200 萬～3,000 萬轉（2026-10-22）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4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數據佐證：Buy Feature 回收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725912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一句話：買 BF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 次有 1 次回本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，贏錢率高於競品。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0312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377440"/>
          <a:ext cx="450799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64792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Gates of Olympus 1000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Zeus 2500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BF RTP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85.41%（樣本）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92.54%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BF 贏錢率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27.67%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30.77%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BF ≥1000x 週期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588 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贏錢率＝每次購買總贏分 &gt; 購買價的比例；競品 BF 為 253 次側錄樣本。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85800"/>
            <a:ext cx="1188720" cy="1188720"/>
          </a:xfrm>
          <a:prstGeom prst="ellipse">
            <a:avLst/>
          </a:prstGeom>
          <a:solidFill>
            <a:srgbClr val="FDF3D8"/>
          </a:solidFill>
          <a:ln/>
        </p:spPr>
      </p:sp>
      <p:sp>
        <p:nvSpPr>
          <p:cNvPr id="3" name="Shape 1"/>
          <p:cNvSpPr/>
          <p:nvPr/>
        </p:nvSpPr>
        <p:spPr>
          <a:xfrm>
            <a:off x="836676" y="745236"/>
            <a:ext cx="1069848" cy="1069848"/>
          </a:xfrm>
          <a:prstGeom prst="ellipse">
            <a:avLst/>
          </a:prstGeom>
          <a:solidFill>
            <a:srgbClr val="5B1446"/>
          </a:solidFill>
          <a:ln w="38100">
            <a:solidFill>
              <a:srgbClr val="E3A7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8194" y="923544"/>
            <a:ext cx="546811" cy="713232"/>
          </a:xfrm>
          <a:prstGeom prst="lightningBolt">
            <a:avLst/>
          </a:prstGeom>
          <a:solidFill>
            <a:srgbClr val="F4CE6E"/>
          </a:solidFill>
          <a:ln w="12700">
            <a:solidFill>
              <a:srgbClr val="E3A7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ZEUS 2500 · 宙斯 2500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報告 · 依 數值報告 7.4.0.0 · JumboRD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重點回顧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倍數球最高 2500x、C3 升級球：大球看得到也打得中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組主推：一般遊戲更常看到球，≥1000x 每天上百次推播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免費遊戲保底、BF 約 3 次有 1 次回本，降低挫折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3774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BC4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數據取自 Card-On 正式報表（7.4.0.0）；線上轉數為皮娜塔參考值。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Zeus 2500 Demo 報告</dc:title>
  <dc:subject>PptxGenJS Presentation</dc:subject>
  <dc:creator>PptxGenJS</dc:creator>
  <cp:lastModifiedBy>PptxGenJS</cp:lastModifiedBy>
  <cp:revision>1</cp:revision>
  <dcterms:created xsi:type="dcterms:W3CDTF">2026-10-27T07:37:59Z</dcterms:created>
  <dcterms:modified xsi:type="dcterms:W3CDTF">2026-10-27T07:37:59Z</dcterms:modified>
</cp:coreProperties>
</file>