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752dc0aa-8060-6337-d3a0-62c625ce8c90}">
          <p14:sldIdLst>
            <p14:sldId id="256"/>
          </p14:sldIdLst>
        </p14:section>
        <p14:section name="01 遊戲概述" id="{596ae9fd-a998-944d-4bb2-89e4710a63ad}">
          <p14:sldIdLst>
            <p14:sldId id="257"/>
          </p14:sldIdLst>
        </p14:section>
        <p14:section name="02 遊戲規格一覽" id="{e66278f0-983e-d273-0240-00a8b8259df6}">
          <p14:sldIdLst>
            <p14:sldId id="258"/>
          </p14:sldIdLst>
        </p14:section>
        <p14:section name="03 符號說明與賠付" id="{9aa863b8-5f9d-ec2a-8b82-16a2d1cfa7cc}">
          <p14:sldIdLst>
            <p14:sldId id="259"/>
            <p14:sldId id="260"/>
          </p14:sldIdLst>
        </p14:section>
        <p14:section name="04 核心玩法" id="{bc5b75fb-2c66-11eb-5116-6e71bc9e3e27}">
          <p14:sldIdLst>
            <p14:sldId id="261"/>
            <p14:sldId id="262"/>
            <p14:sldId id="263"/>
            <p14:sldId id="264"/>
          </p14:sldIdLst>
        </p14:section>
        <p14:section name="05 免費遊戲" id="{eab741ff-55aa-c840-9a8b-6dfdf93ca332}">
          <p14:sldIdLst>
            <p14:sldId id="265"/>
          </p14:sldIdLst>
        </p14:section>
        <p14:section name="06 遊戲流程圖" id="{58fa5b85-79e0-27a4-ae8f-4d6810b79110}">
          <p14:sldIdLst>
            <p14:sldId id="266"/>
          </p14:sldIdLst>
        </p14:section>
        <p14:section name="07 特殊押注" id="{fd64bebb-9704-62b7-bc85-d51629e4aa68}">
          <p14:sldIdLst>
            <p14:sldId id="267"/>
            <p14:sldId id="268"/>
          </p14:sldIdLst>
        </p14:section>
        <p14:section name="08 與競品差異對照" id="{1ddb805e-cb5f-6ee7-a826-53da41d01cc0}">
          <p14:sldIdLst>
            <p14:sldId id="269"/>
            <p14:sldId id="270"/>
          </p14:sldIdLst>
        </p14:section>
        <p14:section name="Q&amp;A" id="{6520f74d-f161-4351-e094-1108add72a6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9415" cy="5020056"/>
          </a:xfrm>
          <a:prstGeom prst="roundRect">
            <a:avLst>
              <a:gd name="adj" fmla="val 169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01399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3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畫面：一般押注六段連消後的倍數分布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10~20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押注選項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6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/ 4 / 5 Scatter → 10 / 15 / 20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81B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押注選項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087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7202A"/>
          </a:solidFill>
          <a:ln w="25400">
            <a:solidFill>
              <a:srgbClr val="9C56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55064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302354"/>
          </a:solidFill>
          <a:ln w="25400">
            <a:solidFill>
              <a:srgbClr val="7C68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55064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1448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41448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27832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C3459"/>
          </a:solidFill>
          <a:ln w="25400">
            <a:solidFill>
              <a:srgbClr val="5A85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27832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14216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63B43"/>
          </a:solidFill>
          <a:ln w="25400">
            <a:solidFill>
              <a:srgbClr val="4A959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14216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19" name="LightCard"/>
          <p:cNvSpPr/>
          <p:nvPr/>
        </p:nvSpPr>
        <p:spPr>
          <a:xfrm>
            <a:off x="5943600" y="1508760"/>
            <a:ext cx="5699455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19659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938528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Scatter：3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同一輪最多 1 顆、不參與消除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8803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一般符號賠付（× Bet，依相連數量）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73552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35024"/>
                <a:gridCol w="1335024"/>
                <a:gridCol w="1335024"/>
                <a:gridCol w="1335024"/>
                <a:gridCol w="1335024"/>
                <a:gridCol w="1335024"/>
                <a:gridCol w="1335024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 \ 相連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M6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26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4～7 連沿用 Sugar Rush（連線數 -1），8／9／10+ 為本作自訂爆炸區　·　實際獎金 = 群集賠率 × Bet × 全盤倍數和（0 視為 1）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6 種 + 特殊符號 1 種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7202A"/>
          </a:solidFill>
          <a:ln w="25400">
            <a:solidFill>
              <a:srgbClr val="9C56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302354"/>
          </a:solidFill>
          <a:ln w="25400">
            <a:solidFill>
              <a:srgbClr val="7C68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C3459"/>
          </a:solidFill>
          <a:ln w="25400">
            <a:solidFill>
              <a:srgbClr val="5A85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63B43"/>
          </a:solidFill>
          <a:ln w="25400">
            <a:solidFill>
              <a:srgbClr val="4A959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6243E"/>
          </a:solidFill>
          <a:ln w="25400">
            <a:solidFill>
              <a:srgbClr val="FFD8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計分群集金框</a:t>
            </a:r>
            <a:endParaRPr lang="en-US" sz="1150" dirty="0"/>
          </a:p>
        </p:txBody>
      </p:sp>
      <p:sp>
        <p:nvSpPr>
          <p:cNvPr id="4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90150" cy="4974336"/>
          </a:xfrm>
          <a:prstGeom prst="roundRect">
            <a:avLst>
              <a:gd name="adj" fmla="val 170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162134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93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金框＝計分群集 M6×5　未框亮起＝連帶消除 3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5×5），倍數徽章與全盤倍數和為疊加示意（x250、x1000 為 3、4 位數顯示示意）；正式美術待定。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45" y="2194560"/>
            <a:ext cx="2159598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= +0.30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05" y="2194560"/>
            <a:ext cx="2159598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5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2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865" y="2194560"/>
            <a:ext cx="2159598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2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×5 → M4×5 = +2.50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3 顆 M6 連帶消除，只以 M6×5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 與 M6×5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827110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計分（金框）＋連帶 3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827110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M6×4＋M6×5 兩組計分 = +0.55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15 / 20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72353" cy="4837176"/>
          </a:xfrm>
          <a:prstGeom prst="roundRect">
            <a:avLst>
              <a:gd name="adj" fmla="val 175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44337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5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39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Scatter，觸發表只到 5 顆。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格放上 ×5~×50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90564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3 個底板 ×15、×7、×6 → 全盤和 28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90564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M6×7 × 28 = +14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 3 個（100%）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×5～×10、×15～×50（共 14 檔）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待定（暫以緩降值）*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+1（例：15 → 16）；派彩仍以原始押注計算；*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6761" cy="4562856"/>
          </a:xfrm>
          <a:prstGeom prst="roundRect">
            <a:avLst>
              <a:gd name="adj" fmla="val 185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808745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402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20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符號種類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4～7 連沿用、8／9／10+ 自訂爆炸區（4～10+）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開場固定 3 個 ×5~×50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相較競品的調整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一句話：為了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手機畫面放得下、玩家看得清楚倍數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，盤面縮成 5×5，符號種類與連線門檻一起調整。</a:t>
            </a:r>
            <a:endParaRPr lang="en-US" sz="1500" dirty="0"/>
          </a:p>
        </p:txBody>
      </p:sp>
      <p:sp>
        <p:nvSpPr>
          <p:cNvPr id="6" name="StatCard"/>
          <p:cNvSpPr/>
          <p:nvPr/>
        </p:nvSpPr>
        <p:spPr>
          <a:xfrm>
            <a:off x="64008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 → 5×5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</a:t>
            </a:r>
            <a:endParaRPr lang="en-US" sz="1300" dirty="0"/>
          </a:p>
        </p:txBody>
      </p:sp>
      <p:sp>
        <p:nvSpPr>
          <p:cNvPr id="9" name="LightCard"/>
          <p:cNvSpPr/>
          <p:nvPr/>
        </p:nvSpPr>
        <p:spPr>
          <a:xfrm>
            <a:off x="64008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盤面太大，手機畫面放不下「符號＋倍數框」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盤面太大，玩家較難鎖定期待的高倍數位置</a:t>
            </a:r>
            <a:endParaRPr lang="en-US" sz="1300" dirty="0"/>
          </a:p>
        </p:txBody>
      </p:sp>
      <p:sp>
        <p:nvSpPr>
          <p:cNvPr id="12" name="StatCard"/>
          <p:cNvSpPr/>
          <p:nvPr/>
        </p:nvSpPr>
        <p:spPr>
          <a:xfrm>
            <a:off x="434340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4340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7+1 → 6+1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符號種類（一般＋SC）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434340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7 種 → 6 種，移除最低分符號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不變；配合 5×5 盤面一起調整</a:t>
            </a:r>
            <a:endParaRPr lang="en-US" sz="1300" dirty="0"/>
          </a:p>
        </p:txBody>
      </p:sp>
      <p:sp>
        <p:nvSpPr>
          <p:cNvPr id="18" name="StatCard"/>
          <p:cNvSpPr/>
          <p:nvPr/>
        </p:nvSpPr>
        <p:spPr>
          <a:xfrm>
            <a:off x="804672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連 → 4 連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群集成立門檻</a:t>
            </a:r>
            <a:endParaRPr lang="en-US" sz="1300" dirty="0"/>
          </a:p>
        </p:txBody>
      </p:sp>
      <p:sp>
        <p:nvSpPr>
          <p:cNvPr id="21" name="LightCard"/>
          <p:cNvSpPr/>
          <p:nvPr/>
        </p:nvSpPr>
        <p:spPr>
          <a:xfrm>
            <a:off x="804672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盤面變小，連帶下修成立群集的門檻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讓消除難度與原本 7×7 的節奏相當</a:t>
            </a:r>
            <a:endParaRPr lang="en-US" sz="1300" dirty="0"/>
          </a:p>
        </p:txBody>
      </p:sp>
      <p:sp>
        <p:nvSpPr>
          <p:cNvPr id="24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賠率 4～7 連沿用 Sugar Rush（連線數 -1），8／9／10+ 為本作自訂爆炸區；權重由數學依新盤面重調。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底板倍數權重（目前為暫定緩降值）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2026-10-20T01:46:52Z</dcterms:created>
  <dcterms:modified xsi:type="dcterms:W3CDTF">2026-10-20T01:46:52Z</dcterms:modified>
</cp:coreProperties>
</file>