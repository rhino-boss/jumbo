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1" r:id="rId3"/>
    <p:sldId id="273" r:id="rId4"/>
    <p:sldId id="263" r:id="rId5"/>
    <p:sldId id="264" r:id="rId6"/>
    <p:sldId id="265" r:id="rId7"/>
    <p:sldId id="272" r:id="rId8"/>
    <p:sldId id="257" r:id="rId9"/>
    <p:sldId id="258" r:id="rId10"/>
    <p:sldId id="259" r:id="rId11"/>
    <p:sldId id="260" r:id="rId12"/>
    <p:sldId id="261" r:id="rId13"/>
    <p:sldId id="262" r:id="rId14"/>
    <p:sldId id="266" r:id="rId15"/>
    <p:sldId id="267" r:id="rId16"/>
    <p:sldId id="268" r:id="rId17"/>
    <p:sldId id="269" r:id="rId18"/>
    <p:sldId id="270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7952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29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7199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9433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822960"/>
            <a:ext cx="3108960" cy="3108960"/>
          </a:xfrm>
          <a:prstGeom prst="diamond">
            <a:avLst/>
          </a:prstGeom>
          <a:solidFill>
            <a:srgbClr val="1E1830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2011680"/>
            <a:ext cx="2377440" cy="2377440"/>
          </a:xfrm>
          <a:prstGeom prst="diamond">
            <a:avLst/>
          </a:prstGeom>
          <a:solidFill>
            <a:srgbClr val="201A33"/>
          </a:solidFill>
          <a:ln/>
        </p:spPr>
      </p:sp>
      <p:sp>
        <p:nvSpPr>
          <p:cNvPr id="4" name="Shape 2"/>
          <p:cNvSpPr/>
          <p:nvPr/>
        </p:nvSpPr>
        <p:spPr>
          <a:xfrm>
            <a:off x="6309360" y="3749040"/>
            <a:ext cx="1554480" cy="1554480"/>
          </a:xfrm>
          <a:prstGeom prst="diamond">
            <a:avLst/>
          </a:prstGeom>
          <a:solidFill>
            <a:srgbClr val="241E38"/>
          </a:solidFill>
          <a:ln/>
        </p:spPr>
      </p:sp>
      <p:sp>
        <p:nvSpPr>
          <p:cNvPr id="5" name="Shape 3"/>
          <p:cNvSpPr/>
          <p:nvPr/>
        </p:nvSpPr>
        <p:spPr>
          <a:xfrm>
            <a:off x="7635240" y="1417320"/>
            <a:ext cx="256032" cy="256032"/>
          </a:xfrm>
          <a:prstGeom prst="diamond">
            <a:avLst/>
          </a:prstGeom>
          <a:solidFill>
            <a:srgbClr val="D9A441"/>
          </a:solidFill>
          <a:ln/>
        </p:spPr>
      </p:sp>
      <p:sp>
        <p:nvSpPr>
          <p:cNvPr id="6" name="Shape 4"/>
          <p:cNvSpPr/>
          <p:nvPr/>
        </p:nvSpPr>
        <p:spPr>
          <a:xfrm>
            <a:off x="6720840" y="3429000"/>
            <a:ext cx="164592" cy="164592"/>
          </a:xfrm>
          <a:prstGeom prst="diamond">
            <a:avLst/>
          </a:prstGeom>
          <a:solidFill>
            <a:srgbClr val="8A6A2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SLOT GAME RESCUE SYSTEM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老虎機救援系統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設計規格書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區段檢查點 × 複合規則判定 × 五級腳本救援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v2.0  ·  設計定案版  · 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>
            <a:extLst>
              <a:ext uri="{FF2B5EF4-FFF2-40B4-BE49-F238E27FC236}">
                <a16:creationId xmlns:a16="http://schemas.microsoft.com/office/drawing/2014/main" id="{6157F1F8-E924-4A2A-B363-288668FA0D5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0592" b="50000"/>
          <a:stretch/>
        </p:blipFill>
        <p:spPr>
          <a:xfrm>
            <a:off x="772676" y="1082040"/>
            <a:ext cx="7598647" cy="2979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804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救援等級 T0 ~ T4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檢查點當轉直接給出的結果;每級多種盤面變體 + 倍數區間內隨機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566928"/>
          </a:xfrm>
          <a:prstGeom prst="roundRect">
            <a:avLst>
              <a:gd name="adj" fmla="val 8065"/>
            </a:avLst>
          </a:prstGeom>
          <a:solidFill>
            <a:srgbClr val="241E33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72184"/>
            <a:ext cx="685800" cy="365760"/>
          </a:xfrm>
          <a:prstGeom prst="roundRect">
            <a:avLst>
              <a:gd name="adj" fmla="val 12500"/>
            </a:avLst>
          </a:prstGeom>
          <a:solidFill>
            <a:srgbClr val="A79DB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7218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13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37160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不介入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0" y="137160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自然演算,無任何干預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040880" y="13716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2651760"/>
            <a:ext cx="8138160" cy="566928"/>
          </a:xfrm>
          <a:prstGeom prst="roundRect">
            <a:avLst>
              <a:gd name="adj" fmla="val 8065"/>
            </a:avLst>
          </a:prstGeom>
          <a:solidFill>
            <a:srgbClr val="241E33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2752344"/>
            <a:ext cx="685800" cy="365760"/>
          </a:xfrm>
          <a:prstGeom prst="roundRect">
            <a:avLst>
              <a:gd name="adj" fmla="val 12500"/>
            </a:avLst>
          </a:prstGeom>
          <a:solidFill>
            <a:srgbClr val="4FB3A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75234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13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265176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3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</a:t>
            </a:r>
            <a:r>
              <a:rPr lang="en-US" sz="1300" b="1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獎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26080" y="265176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中獎盤面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040880" y="26517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~ 20x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3291840"/>
            <a:ext cx="8138160" cy="566928"/>
          </a:xfrm>
          <a:prstGeom prst="roundRect">
            <a:avLst>
              <a:gd name="adj" fmla="val 8065"/>
            </a:avLst>
          </a:prstGeom>
          <a:solidFill>
            <a:srgbClr val="241E33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3392424"/>
            <a:ext cx="685800" cy="365760"/>
          </a:xfrm>
          <a:prstGeom prst="roundRect">
            <a:avLst>
              <a:gd name="adj" fmla="val 12500"/>
            </a:avLst>
          </a:prstGeom>
          <a:solidFill>
            <a:srgbClr val="E0A03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39242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13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08760" y="329184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期待救援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926080" y="329184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 觸發盤面(內部純 RNG),或直接中獎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040880" y="329184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0A0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~ 40x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8065"/>
            </a:avLst>
          </a:prstGeom>
          <a:solidFill>
            <a:srgbClr val="241E33"/>
          </a:solidFill>
          <a:ln/>
        </p:spPr>
      </p:sp>
      <p:sp>
        <p:nvSpPr>
          <p:cNvPr id="29" name="Shape 27"/>
          <p:cNvSpPr/>
          <p:nvPr/>
        </p:nvSpPr>
        <p:spPr>
          <a:xfrm>
            <a:off x="640080" y="4032504"/>
            <a:ext cx="685800" cy="365760"/>
          </a:xfrm>
          <a:prstGeom prst="roundRect">
            <a:avLst>
              <a:gd name="adj" fmla="val 12500"/>
            </a:avLst>
          </a:prstGeom>
          <a:solidFill>
            <a:srgbClr val="E0606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03250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13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508760" y="393192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強救援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926080" y="393192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 觸發 + 內部保底下限,或直接大額中獎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040880" y="393192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060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 ~ 80x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02920" y="46634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成本以「押注倍數」計 · T3/T4 之 Feature 僅控制入場,內部結果不干預(T4 含結果保底下限)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9426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規則表:區段 A / B / C(200 – 500 轉)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三段同構,僅長期線與排除線收緊;由上而下首條命中即停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3072384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13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序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713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條件(粗體 = 隨區段變動的門檻)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13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 200–300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13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 300–400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13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 400–500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13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給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近50 ≥ 排除線(其餘條件不再看)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90%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85%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85%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近200 &lt; 長期線 且 近50 &lt; 25%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55%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50%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45%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606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近200 &lt; 長期線 且 近50 &lt; 35%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65%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55%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A0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近200 &lt; 長期線 且 近50 &lt; 40%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75%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70%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65%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FB3A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近50 &lt; 20%(體感安全網,恆定)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FB3A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近200 &lt; 長期線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80%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75%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70%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5BBE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其餘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5720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設計意圖:規則 4 專接「長期帳面還行但正在急速崩」的玩家(規則 1~3 的雙線都鎖不到他);規則 5 門檻刻意鬆,前期對輕度落後者大面積普發小獎,成本低、體感好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規則表:區段 D / E(500 轉以後)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換軌:近 500 成為主軸,距大贏作 T3 / T2 分水嶺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8138160" cy="3127248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13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序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B3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713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條件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B3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13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 500–700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B3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13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 700+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B3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13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給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B3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近50 ≥ 85%(排除條款)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近500 &lt; 長期線 且 近50 &lt; 25%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50%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45%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606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近500 &lt; 長期線 且 近50 &lt; 35% 且 距大贏 &gt; 500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55%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A0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近500 &lt; 長期線 且 近50 &lt; 35%(最近爽過 → 降級給)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55%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FB3A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近200 &lt; 中期線 且 近500 &lt; 長期線(中期急惡化補丁)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55% / 70%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50% / 65%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FB3A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近50 &lt; 20%(體感安全網,恆定)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FB3A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近500 &lt; 長期線 且 距大贏 &gt; 700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65%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5BBE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其餘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6177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 2 / 3 為一組:同樣雙窗條件,以「距大贏」切成兩級——很久沒爽才給 T3,最近爽過給 T2 即可。規則 4 補長窗鈍化的時間差:近 500 有一半是舊資料,玩家急速崩盤時近 200 先看到。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判定流程實例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652 轉玩家(區段 D)走完整規則表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291840" cy="3291840"/>
          </a:xfrm>
          <a:prstGeom prst="roundRect">
            <a:avLst>
              <a:gd name="adj" fmla="val 2222"/>
            </a:avLst>
          </a:prstGeom>
          <a:solidFill>
            <a:srgbClr val="241E3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玩家狀態(檢查點:第 652 轉)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 500 轉 RTP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225856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A0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58%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 50 轉 RTP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308152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60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28%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距上次 30x 大贏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390448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A0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520 轉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114800" y="1444752"/>
            <a:ext cx="384048" cy="384048"/>
          </a:xfrm>
          <a:prstGeom prst="ellipse">
            <a:avLst/>
          </a:prstGeom>
          <a:solidFill>
            <a:srgbClr val="17131F"/>
          </a:solidFill>
          <a:ln w="19050">
            <a:solidFill>
              <a:srgbClr val="A79D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93108" y="1865376"/>
            <a:ext cx="27432" cy="411480"/>
          </a:xfrm>
          <a:prstGeom prst="rect">
            <a:avLst/>
          </a:prstGeom>
          <a:solidFill>
            <a:srgbClr val="3A3150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13898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 0:排除條款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663440" y="166420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近50 = 28%,未達 85% → 不排除,往下比對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0" y="2295144"/>
            <a:ext cx="384048" cy="384048"/>
          </a:xfrm>
          <a:prstGeom prst="ellipse">
            <a:avLst/>
          </a:prstGeom>
          <a:solidFill>
            <a:srgbClr val="17131F"/>
          </a:solidFill>
          <a:ln w="19050">
            <a:solidFill>
              <a:srgbClr val="A79D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0" y="2295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93108" y="2715768"/>
            <a:ext cx="27432" cy="411480"/>
          </a:xfrm>
          <a:prstGeom prst="rect">
            <a:avLst/>
          </a:prstGeom>
          <a:solidFill>
            <a:srgbClr val="3A3150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2240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 1:T4 條款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663440" y="25146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近500 &lt; 50%?58% 不符 → 下一條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0" y="3145536"/>
            <a:ext cx="384048" cy="384048"/>
          </a:xfrm>
          <a:prstGeom prst="ellipse">
            <a:avLst/>
          </a:prstGeom>
          <a:solidFill>
            <a:srgbClr val="17131F"/>
          </a:solidFill>
          <a:ln w="19050">
            <a:solidFill>
              <a:srgbClr val="E0A0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0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A0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93108" y="3566160"/>
            <a:ext cx="27432" cy="411480"/>
          </a:xfrm>
          <a:prstGeom prst="rect">
            <a:avLst/>
          </a:prstGeom>
          <a:solidFill>
            <a:srgbClr val="3A3150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30906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A0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 2:命中!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663440" y="336499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近500 &lt; 60% ✓ 且 近50 &lt; 35% ✓ 且 距大贏 &gt; 500 ✓ → 給 T3,停止比對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114800" y="3995928"/>
            <a:ext cx="384048" cy="384048"/>
          </a:xfrm>
          <a:prstGeom prst="ellipse">
            <a:avLst/>
          </a:prstGeom>
          <a:solidFill>
            <a:srgbClr val="17131F"/>
          </a:solidFill>
          <a:ln w="19050">
            <a:solidFill>
              <a:srgbClr val="5BBE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0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BE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63440" y="39410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BE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執行與收尾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663440" y="421538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652 轉當轉給出 Feature 觸發盤面(內部純 RNG);本區段結束,區段 E 重新 roll 檢查點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1146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設計目標與哲學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系統只做一件事:接住體感很差的玩家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241E33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17131F"/>
          </a:solidFill>
          <a:ln w="19050">
            <a:solidFill>
              <a:srgbClr val="D9A4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只救體感差的玩家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035808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系統唯一目標是降低「連黑玩家」的流失。玩家贏太多不回收、不干預,避免商譽風險。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41732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241E33"/>
          </a:solidFill>
          <a:ln/>
        </p:spPr>
      </p:sp>
      <p:sp>
        <p:nvSpPr>
          <p:cNvPr id="10" name="Shape 8"/>
          <p:cNvSpPr/>
          <p:nvPr/>
        </p:nvSpPr>
        <p:spPr>
          <a:xfrm>
            <a:off x="3520440" y="1691640"/>
            <a:ext cx="502920" cy="502920"/>
          </a:xfrm>
          <a:prstGeom prst="ellipse">
            <a:avLst/>
          </a:prstGeom>
          <a:solidFill>
            <a:srgbClr val="17131F"/>
          </a:solidFill>
          <a:ln w="19050">
            <a:solidFill>
              <a:srgbClr val="4FB3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▲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20440" y="23774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慘就救,不設個人上限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20440" y="3035808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不對單一玩家設救援總量上限。運氣持續極差的玩家,每個窗口都可能再次獲救。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241E33"/>
          </a:solidFill>
          <a:ln/>
        </p:spPr>
      </p:sp>
      <p:sp>
        <p:nvSpPr>
          <p:cNvPr id="15" name="Shape 13"/>
          <p:cNvSpPr/>
          <p:nvPr/>
        </p:nvSpPr>
        <p:spPr>
          <a:xfrm>
            <a:off x="6309360" y="1691640"/>
            <a:ext cx="502920" cy="502920"/>
          </a:xfrm>
          <a:prstGeom prst="ellipse">
            <a:avLst/>
          </a:prstGeom>
          <a:solidFill>
            <a:srgbClr val="17131F"/>
          </a:solidFill>
          <a:ln w="19050">
            <a:solidFill>
              <a:srgbClr val="E0A0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0A0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9360" y="23774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整體 RTP 靠參數守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09360" y="3035808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以上線前模擬定參數、上線後監控 + 熱調參數,控制救援對全平台 RTP 的影響。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4805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一句話總結:</a:t>
            </a:r>
            <a:r>
              <a:rPr lang="en-US" sz="1300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每個區段隨機挑一轉檢查,玩家過得越慘,當轉給越大的獎;過得不慘,什麼都不做。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系統架構總覽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區段 → 隨機檢查點 → 規則表 → 當轉腳本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572768" cy="1371600"/>
          </a:xfrm>
          <a:prstGeom prst="roundRect">
            <a:avLst>
              <a:gd name="adj" fmla="val 4000"/>
            </a:avLst>
          </a:prstGeom>
          <a:solidFill>
            <a:srgbClr val="241E33"/>
          </a:solidFill>
          <a:ln w="9525">
            <a:solidFill>
              <a:srgbClr val="3A31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572768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 區段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12648" y="1938528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五個轉數區段,每段即一個窗口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034540" y="19659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›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185416" y="1463040"/>
            <a:ext cx="1572768" cy="1371600"/>
          </a:xfrm>
          <a:prstGeom prst="roundRect">
            <a:avLst>
              <a:gd name="adj" fmla="val 4000"/>
            </a:avLst>
          </a:prstGeom>
          <a:solidFill>
            <a:srgbClr val="241E33"/>
          </a:solidFill>
          <a:ln w="9525">
            <a:solidFill>
              <a:srgbClr val="3A31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95144" y="1572768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 隨機檢查點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295144" y="1938528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區段開始時隨機 roll 一轉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17036" y="19659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›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867912" y="1463040"/>
            <a:ext cx="1572768" cy="1371600"/>
          </a:xfrm>
          <a:prstGeom prst="roundRect">
            <a:avLst>
              <a:gd name="adj" fmla="val 4000"/>
            </a:avLst>
          </a:prstGeom>
          <a:solidFill>
            <a:srgbClr val="241E33"/>
          </a:solidFill>
          <a:ln w="9525">
            <a:solidFill>
              <a:srgbClr val="3A31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7640" y="1572768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 規則表判定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977640" y="1938528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由上而下逐條比對複合條件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99532" y="19659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›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550408" y="1463040"/>
            <a:ext cx="1572768" cy="1371600"/>
          </a:xfrm>
          <a:prstGeom prst="roundRect">
            <a:avLst>
              <a:gd name="adj" fmla="val 4000"/>
            </a:avLst>
          </a:prstGeom>
          <a:solidFill>
            <a:srgbClr val="241E33"/>
          </a:solidFill>
          <a:ln w="9525">
            <a:solidFill>
              <a:srgbClr val="3A31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0136" y="1572768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 首條命中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660136" y="1938528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命中即決定 T0~T4,停止比對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82028" y="19659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›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232904" y="1463040"/>
            <a:ext cx="1572768" cy="1371600"/>
          </a:xfrm>
          <a:prstGeom prst="roundRect">
            <a:avLst>
              <a:gd name="adj" fmla="val 4000"/>
            </a:avLst>
          </a:prstGeom>
          <a:solidFill>
            <a:srgbClr val="241E33"/>
          </a:solidFill>
          <a:ln w="9525">
            <a:solidFill>
              <a:srgbClr val="3A31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42632" y="1572768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BE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 腳本當轉作用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342632" y="1938528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該轉直接給出對應獎項盤面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200400"/>
            <a:ext cx="3977640" cy="1325880"/>
          </a:xfrm>
          <a:prstGeom prst="roundRect">
            <a:avLst>
              <a:gd name="adj" fmla="val 4138"/>
            </a:avLst>
          </a:prstGeom>
          <a:solidFill>
            <a:srgbClr val="2C2540"/>
          </a:solidFill>
          <a:ln w="12700">
            <a:solidFill>
              <a:srgbClr val="5BBE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3467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BE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符合救援資格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367588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Tier 執行腳本,獎項於檢查點當轉直接給出。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檢查點位置隨機,玩家無法辨識這是救援。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3200400"/>
            <a:ext cx="3977640" cy="1325880"/>
          </a:xfrm>
          <a:prstGeom prst="roundRect">
            <a:avLst>
              <a:gd name="adj" fmla="val 4138"/>
            </a:avLst>
          </a:prstGeom>
          <a:solidFill>
            <a:srgbClr val="2C2540"/>
          </a:solidFill>
          <a:ln w="12700">
            <a:solidFill>
              <a:srgbClr val="3A31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3467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不符合資格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367588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本區段作廢,不重 roll、不補救。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等下一個區段重新開始。(接受盲區)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玩家生命週期:五個判定區段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區段即窗口;前期段短檢查密、後期段長檢查疏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978408" cy="777240"/>
          </a:xfrm>
          <a:prstGeom prst="roundRect">
            <a:avLst>
              <a:gd name="adj" fmla="val 5882"/>
            </a:avLst>
          </a:prstGeom>
          <a:solidFill>
            <a:srgbClr val="241E33"/>
          </a:solidFill>
          <a:ln w="9525">
            <a:solidFill>
              <a:srgbClr val="4A44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50876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新手保護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76072" y="1801368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0–200 轉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21208" y="2331720"/>
            <a:ext cx="941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既有機制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本系統不介入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54480" y="1417320"/>
            <a:ext cx="1298448" cy="777240"/>
          </a:xfrm>
          <a:prstGeom prst="roundRect">
            <a:avLst>
              <a:gd name="adj" fmla="val 5882"/>
            </a:avLst>
          </a:prstGeom>
          <a:solidFill>
            <a:srgbClr val="2C2540"/>
          </a:solidFill>
          <a:ln w="15875">
            <a:solidFill>
              <a:srgbClr val="D9A4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27632" y="150876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區段 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627632" y="180136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200–300 轉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572768" y="233172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最脆弱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救援最積極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26080" y="1417320"/>
            <a:ext cx="1298448" cy="777240"/>
          </a:xfrm>
          <a:prstGeom prst="roundRect">
            <a:avLst>
              <a:gd name="adj" fmla="val 5882"/>
            </a:avLst>
          </a:prstGeom>
          <a:solidFill>
            <a:srgbClr val="2C2540"/>
          </a:solidFill>
          <a:ln w="15875">
            <a:solidFill>
              <a:srgbClr val="D9A4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9232" y="150876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區段 B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99232" y="180136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300–400 轉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944368" y="233172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門檻收 5%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97680" y="1417320"/>
            <a:ext cx="1298448" cy="777240"/>
          </a:xfrm>
          <a:prstGeom prst="roundRect">
            <a:avLst>
              <a:gd name="adj" fmla="val 5882"/>
            </a:avLst>
          </a:prstGeom>
          <a:solidFill>
            <a:srgbClr val="2C2540"/>
          </a:solidFill>
          <a:ln w="15875">
            <a:solidFill>
              <a:srgbClr val="D9A4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70832" y="150876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區段 C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70832" y="180136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400–500 轉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315968" y="233172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再收 5%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69280" y="1417320"/>
            <a:ext cx="1389888" cy="777240"/>
          </a:xfrm>
          <a:prstGeom prst="roundRect">
            <a:avLst>
              <a:gd name="adj" fmla="val 5882"/>
            </a:avLst>
          </a:prstGeom>
          <a:solidFill>
            <a:srgbClr val="2C2540"/>
          </a:solidFill>
          <a:ln w="15875">
            <a:solidFill>
              <a:srgbClr val="4FB3A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42432" y="150876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區段 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742432" y="1801368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500–700 轉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87568" y="2331720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換軌:近500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登場為主軸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32320" y="1417320"/>
            <a:ext cx="1344168" cy="777240"/>
          </a:xfrm>
          <a:prstGeom prst="roundRect">
            <a:avLst>
              <a:gd name="adj" fmla="val 5882"/>
            </a:avLst>
          </a:prstGeom>
          <a:solidFill>
            <a:srgbClr val="2C2540"/>
          </a:solidFill>
          <a:ln w="15875">
            <a:solidFill>
              <a:srgbClr val="4FB3A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05472" y="1508760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區段 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205472" y="1801368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700 + 轉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150608" y="2331720"/>
            <a:ext cx="1307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最嚴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貼近真實 RNG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3200400"/>
            <a:ext cx="2606040" cy="1463040"/>
          </a:xfrm>
          <a:prstGeom prst="roundRect">
            <a:avLst>
              <a:gd name="adj" fmla="val 3750"/>
            </a:avLst>
          </a:prstGeom>
          <a:solidFill>
            <a:srgbClr val="241E33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33375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→ C:同構收緊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85800" y="36576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三段規則結構完全相同,長期線每段收 5%;前期大方鋪節奏,對輕度落後者普發小獎。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91840" y="3200400"/>
            <a:ext cx="2606040" cy="1463040"/>
          </a:xfrm>
          <a:prstGeom prst="roundRect">
            <a:avLst>
              <a:gd name="adj" fmla="val 3750"/>
            </a:avLst>
          </a:prstGeom>
          <a:solidFill>
            <a:srgbClr val="241E33"/>
          </a:solidFill>
          <a:ln/>
        </p:spPr>
      </p:sp>
      <p:sp>
        <p:nvSpPr>
          <p:cNvPr id="32" name="Text 30"/>
          <p:cNvSpPr/>
          <p:nvPr/>
        </p:nvSpPr>
        <p:spPr>
          <a:xfrm>
            <a:off x="3474720" y="33375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D:換軌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474720" y="36576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 500 長窗與「距大贏」首次登場。大 Tier 的主判定從近 200 換成近 500,近 200 降為中期輔助。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80760" y="3200400"/>
            <a:ext cx="2606040" cy="1463040"/>
          </a:xfrm>
          <a:prstGeom prst="roundRect">
            <a:avLst>
              <a:gd name="adj" fmla="val 3750"/>
            </a:avLst>
          </a:prstGeom>
          <a:solidFill>
            <a:srgbClr val="241E33"/>
          </a:solidFill>
          <a:ln/>
        </p:spPr>
      </p:sp>
      <p:sp>
        <p:nvSpPr>
          <p:cNvPr id="35" name="Text 33"/>
          <p:cNvSpPr/>
          <p:nvPr/>
        </p:nvSpPr>
        <p:spPr>
          <a:xfrm>
            <a:off x="6263640" y="33375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E:最終形態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263640" y="36576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 D 同構、門檻再收 5%,700 轉後不再細分。介入門檻全系統最嚴,只救真正的長期受害者。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判定素材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四項通用統計,規則可任意複合組合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241E3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996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060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 ①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 50 轉 RTP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383280" y="1536192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7131F"/>
          </a:solidFill>
          <a:ln w="12700">
            <a:solidFill>
              <a:srgbClr val="E060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53619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060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全區段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體感線。承擔兩個固定角色:排除條款(短期已回升 → 不救)與體感安全網(當下崩潰 → 至少止血)。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37160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241E33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4996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 ②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173736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 200 轉 RTP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589520" y="1536192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7131F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153619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全區段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37760" y="21031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中期線。區段 A~C 的長期主判定;D 段起降為輔助,負責接長窗來不及反映的急速惡化。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06324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241E3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19125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 ③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342900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 500 轉 RTP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383280" y="3227832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7131F"/>
          </a:solidFill>
          <a:ln w="12700">
            <a:solidFill>
              <a:srgbClr val="4FB3A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322783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 段起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1520" y="37947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長期主軸。判定「他是不是長期受害者」的最終依據,大 Tier 的第一條件。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306324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241E33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319125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0A0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 ④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342900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距上次大贏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589520" y="3227832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7131F"/>
          </a:solidFill>
          <a:ln w="12700">
            <a:solidFill>
              <a:srgbClr val="E0A0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0" y="322783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0A0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 段起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37760" y="37947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距上次單轉贏分 ≥ 30× 押注的轉數。不獨立成條,作為 T3 / T2 的升降分水嶺:很久沒爽才升級。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4864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素材收斂為三窗 + 一計數器,伺服器僅維護四條滾動統計;所有規則由這四項複合而成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判定方式:規則表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每區段一張規則表;由上而下逐條比對,首條命中即執行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241E3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規則格式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IF </a:t>
            </a:r>
            <a:r>
              <a:rPr lang="en-US" sz="1200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近500 &lt; 60% </a:t>
            </a:r>
            <a:r>
              <a:rPr lang="en-US" sz="120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AND </a:t>
            </a:r>
            <a:r>
              <a:rPr lang="en-US" sz="1200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近50 &lt; 35% </a:t>
            </a:r>
            <a:r>
              <a:rPr lang="en-US" sz="120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AND </a:t>
            </a:r>
            <a:r>
              <a:rPr lang="en-US" sz="1200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距大贏 &gt; 500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E0A0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THEN </a:t>
            </a:r>
            <a:r>
              <a:rPr lang="en-US" sz="12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給 T3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01752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241E3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154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為什麼用規則表而非矩陣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10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條件可任意複合(三窗 + 距大贏同時鎖)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10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加特例 = 插一條規則,不必重畫整張表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10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五段同構,同一套規則引擎吃不同參數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09160" y="14173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每張表的三個固定角色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828800"/>
            <a:ext cx="3931920" cy="868680"/>
          </a:xfrm>
          <a:prstGeom prst="roundRect">
            <a:avLst>
              <a:gd name="adj" fmla="val 6316"/>
            </a:avLst>
          </a:prstGeom>
          <a:solidFill>
            <a:srgbClr val="241E33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9202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BE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排除條款(永遠第一條)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37760" y="21945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近50 ≥ 85~90% → 強制 T0。短期已在回升就不畫蛇添足,其餘條件不再看。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2788920"/>
            <a:ext cx="3931920" cy="868680"/>
          </a:xfrm>
          <a:prstGeom prst="roundRect">
            <a:avLst>
              <a:gd name="adj" fmla="val 6316"/>
            </a:avLst>
          </a:prstGeom>
          <a:solidFill>
            <a:srgbClr val="241E33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288036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階梯條款(主體)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31546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長期線 × 短期線雙重鎖定的 T4→T3→T2→T1 階梯,確保大 Tier 只給雙重受害者。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3749040"/>
            <a:ext cx="3931920" cy="868680"/>
          </a:xfrm>
          <a:prstGeom prst="roundRect">
            <a:avLst>
              <a:gd name="adj" fmla="val 6316"/>
            </a:avLst>
          </a:prstGeom>
          <a:solidFill>
            <a:srgbClr val="241E33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8404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60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體感安全網(恆定)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37760" y="41148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近50 &lt; 20% → T2。不隨區段收緊——當下黑穿地板在哪個資歷都一樣痛,一律止血。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救援等級 T0 ~ T4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檢查點當轉直接給出的結果;每級多種盤面變體 + 倍數區間內隨機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566928"/>
          </a:xfrm>
          <a:prstGeom prst="roundRect">
            <a:avLst>
              <a:gd name="adj" fmla="val 8065"/>
            </a:avLst>
          </a:prstGeom>
          <a:solidFill>
            <a:srgbClr val="241E33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72184"/>
            <a:ext cx="685800" cy="365760"/>
          </a:xfrm>
          <a:prstGeom prst="roundRect">
            <a:avLst>
              <a:gd name="adj" fmla="val 12500"/>
            </a:avLst>
          </a:prstGeom>
          <a:solidFill>
            <a:srgbClr val="A79DB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7218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13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37160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不介入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0" y="137160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自然演算,無任何干預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040880" y="13716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011680"/>
            <a:ext cx="8138160" cy="566928"/>
          </a:xfrm>
          <a:prstGeom prst="roundRect">
            <a:avLst>
              <a:gd name="adj" fmla="val 8065"/>
            </a:avLst>
          </a:prstGeom>
          <a:solidFill>
            <a:srgbClr val="241E33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2112264"/>
            <a:ext cx="685800" cy="365760"/>
          </a:xfrm>
          <a:prstGeom prst="roundRect">
            <a:avLst>
              <a:gd name="adj" fmla="val 12500"/>
            </a:avLst>
          </a:prstGeom>
          <a:solidFill>
            <a:srgbClr val="5BBE8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1226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13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201168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小獎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26080" y="201168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小獎盤面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040880" y="201168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BBE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~ 5x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2651760"/>
            <a:ext cx="8138160" cy="566928"/>
          </a:xfrm>
          <a:prstGeom prst="roundRect">
            <a:avLst>
              <a:gd name="adj" fmla="val 8065"/>
            </a:avLst>
          </a:prstGeom>
          <a:solidFill>
            <a:srgbClr val="241E33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2752344"/>
            <a:ext cx="685800" cy="365760"/>
          </a:xfrm>
          <a:prstGeom prst="roundRect">
            <a:avLst>
              <a:gd name="adj" fmla="val 12500"/>
            </a:avLst>
          </a:prstGeom>
          <a:solidFill>
            <a:srgbClr val="4FB3A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75234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13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265176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中獎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26080" y="265176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中獎盤面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040880" y="26517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~ 20x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3291840"/>
            <a:ext cx="8138160" cy="566928"/>
          </a:xfrm>
          <a:prstGeom prst="roundRect">
            <a:avLst>
              <a:gd name="adj" fmla="val 8065"/>
            </a:avLst>
          </a:prstGeom>
          <a:solidFill>
            <a:srgbClr val="241E33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3392424"/>
            <a:ext cx="685800" cy="365760"/>
          </a:xfrm>
          <a:prstGeom prst="roundRect">
            <a:avLst>
              <a:gd name="adj" fmla="val 12500"/>
            </a:avLst>
          </a:prstGeom>
          <a:solidFill>
            <a:srgbClr val="E0A03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39242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13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08760" y="329184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期待救援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926080" y="329184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 觸發盤面(內部純 RNG),或直接中獎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040880" y="329184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0A0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~ 40x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8065"/>
            </a:avLst>
          </a:prstGeom>
          <a:solidFill>
            <a:srgbClr val="241E33"/>
          </a:solidFill>
          <a:ln/>
        </p:spPr>
      </p:sp>
      <p:sp>
        <p:nvSpPr>
          <p:cNvPr id="29" name="Shape 27"/>
          <p:cNvSpPr/>
          <p:nvPr/>
        </p:nvSpPr>
        <p:spPr>
          <a:xfrm>
            <a:off x="640080" y="4032504"/>
            <a:ext cx="685800" cy="365760"/>
          </a:xfrm>
          <a:prstGeom prst="roundRect">
            <a:avLst>
              <a:gd name="adj" fmla="val 12500"/>
            </a:avLst>
          </a:prstGeom>
          <a:solidFill>
            <a:srgbClr val="E0606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03250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13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508760" y="393192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強救援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926080" y="393192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 觸發 + 內部保底下限,或直接大額中獎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040880" y="393192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060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 ~ 80x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02920" y="46634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成本以「押注倍數」計 · T3/T4 之 Feature 僅控制入場,內部結果不干預(T4 含結果保底下限)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防套利機制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沒有個人救援上限,防套利是必要的對稱防線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1463040"/>
          </a:xfrm>
          <a:prstGeom prst="roundRect">
            <a:avLst>
              <a:gd name="adj" fmla="val 5000"/>
            </a:avLst>
          </a:prstGeom>
          <a:solidFill>
            <a:srgbClr val="241E33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18488"/>
            <a:ext cx="1005840" cy="329184"/>
          </a:xfrm>
          <a:prstGeom prst="roundRect">
            <a:avLst>
              <a:gd name="adj" fmla="val 13889"/>
            </a:avLst>
          </a:prstGeom>
          <a:solidFill>
            <a:srgbClr val="E0606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184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13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既有機制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965960" y="1600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押注異常 → 取消救援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965960" y="20116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檢查點判定成立時,若玩家當下押注遠大於其近期平均押注,直接取消本次救援。防止「小注養慘況、大注收割」。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3017520"/>
            <a:ext cx="8138160" cy="1463040"/>
          </a:xfrm>
          <a:prstGeom prst="roundRect">
            <a:avLst>
              <a:gd name="adj" fmla="val 5000"/>
            </a:avLst>
          </a:prstGeom>
          <a:solidFill>
            <a:srgbClr val="241E33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218688"/>
            <a:ext cx="1005840" cy="329184"/>
          </a:xfrm>
          <a:prstGeom prst="roundRect">
            <a:avLst>
              <a:gd name="adj" fmla="val 13889"/>
            </a:avLst>
          </a:prstGeom>
          <a:solidFill>
            <a:srgbClr val="D9A44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186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13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新增規則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965960" y="3200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救援倍數以平均押注計價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965960" y="36118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救援腳本的獎項倍數基準採「近期加權平均押注」而非當下押注。即使套利者僥倖通過檢查,拿到的也是以小注計算的獎,無利可圖。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46177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兩層防護互補:前者擋「通過判定的瞬間」,後者讓「僥倖通過」也失去套利價值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RTP 控制策略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不設玩家上限 → 模擬與監控是唯一的煞車系統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241E3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設計立場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◆"/>
            </a:pPr>
            <a:r>
              <a:rPr lang="en-US" sz="1150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不設單一玩家救援總量上限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◆"/>
            </a:pPr>
            <a:r>
              <a:rPr lang="en-US" sz="1150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大額救援後不強制冷卻,慘就繼續救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◆"/>
            </a:pPr>
            <a:r>
              <a:rPr lang="en-US" sz="1150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救援成本 = 觸發頻率 × 單次給多少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◆"/>
            </a:pPr>
            <a:r>
              <a:rPr lang="en-US" sz="1150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整體 RTP 影響完全由參數決定,參數必須後台可熱調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241E33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成本超標時的調參順序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3776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BBE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394960" y="2011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先收緊門檻(頻率)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94960" y="2286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 D 級線 80% → 75%;只影響邊緣玩家,最慘的照救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A0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94960" y="28529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再降 Tier 對應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94960" y="31272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同樣慘度給低一級(T3 → T2)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60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394960" y="369417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最後才砍腳本倍數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94960" y="396849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最不建議:會削弱救援體感效果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上線前驗證:蒙地卡羅模擬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萬名虛擬玩家 × 3000~5000 轉,完整套用全套規則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241E33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17320"/>
            <a:ext cx="0" cy="0"/>
          </a:xfrm>
          <a:prstGeom prst="rect">
            <a:avLst/>
          </a:prstGeom>
          <a:solidFill>
            <a:srgbClr val="241E33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673352"/>
            <a:ext cx="201168" cy="201168"/>
          </a:xfrm>
          <a:prstGeom prst="diamond">
            <a:avLst/>
          </a:prstGeom>
          <a:solidFill>
            <a:srgbClr val="D9A441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58191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整體 RTP 增量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9659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原生 96% 加救援後變多少?增量即救援成本,是參數調校的核心目標值。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241E33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1417320"/>
            <a:ext cx="0" cy="0"/>
          </a:xfrm>
          <a:prstGeom prst="rect">
            <a:avLst/>
          </a:prstGeom>
          <a:solidFill>
            <a:srgbClr val="241E33"/>
          </a:solidFill>
          <a:ln/>
        </p:spPr>
      </p:sp>
      <p:sp>
        <p:nvSpPr>
          <p:cNvPr id="11" name="Shape 9"/>
          <p:cNvSpPr/>
          <p:nvPr/>
        </p:nvSpPr>
        <p:spPr>
          <a:xfrm>
            <a:off x="4937760" y="1673352"/>
            <a:ext cx="201168" cy="201168"/>
          </a:xfrm>
          <a:prstGeom prst="diamond">
            <a:avLst/>
          </a:prstGeom>
          <a:solidFill>
            <a:srgbClr val="4FB3AC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0" y="158191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成本分布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19659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T1~T4 各貢獻多少?通常 T3/T4 佔大頭,超標先調它們的觸發門檻。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01752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241E33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3017520"/>
            <a:ext cx="0" cy="0"/>
          </a:xfrm>
          <a:prstGeom prst="rect">
            <a:avLst/>
          </a:prstGeom>
          <a:solidFill>
            <a:srgbClr val="241E33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273552"/>
            <a:ext cx="201168" cy="201168"/>
          </a:xfrm>
          <a:prstGeom prst="diamond">
            <a:avLst/>
          </a:prstGeom>
          <a:solidFill>
            <a:srgbClr val="E06060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18211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60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極端玩家檢查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5661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被救最多的前 1% 玩家 RTP 被墊到多少?若有人破 130%,代表規則有漏洞。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241E33"/>
          </a:solidFill>
          <a:ln/>
        </p:spPr>
      </p:sp>
      <p:sp>
        <p:nvSpPr>
          <p:cNvPr id="20" name="Shape 18"/>
          <p:cNvSpPr/>
          <p:nvPr/>
        </p:nvSpPr>
        <p:spPr>
          <a:xfrm>
            <a:off x="4709160" y="3017520"/>
            <a:ext cx="0" cy="0"/>
          </a:xfrm>
          <a:prstGeom prst="rect">
            <a:avLst/>
          </a:prstGeom>
          <a:solidFill>
            <a:srgbClr val="241E33"/>
          </a:solidFill>
          <a:ln/>
        </p:spPr>
      </p:sp>
      <p:sp>
        <p:nvSpPr>
          <p:cNvPr id="21" name="Shape 19"/>
          <p:cNvSpPr/>
          <p:nvPr/>
        </p:nvSpPr>
        <p:spPr>
          <a:xfrm>
            <a:off x="4937760" y="3273552"/>
            <a:ext cx="201168" cy="201168"/>
          </a:xfrm>
          <a:prstGeom prst="diamond">
            <a:avLst/>
          </a:prstGeom>
          <a:solidFill>
            <a:srgbClr val="E0A030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0" y="318211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A0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救援覆蓋率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03520" y="35661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多少 % 玩家至少被救過一次?&lt;10% 形同虛設,&gt;60% 門檻太鬆。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6177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模擬底層須使用遊戲真實賠付分布;所有門檻與倍數以模擬結果為準進行迭代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上線後監控儀表板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無個人上限的前提下,這些數字必須每日盯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8138160" cy="251460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13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監控指標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13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警戒線(範例)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13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動作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全平台實際 RTP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超過設計值 +2% 連續 3 天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檢討參數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救援成本佔比(救援送出 ÷ 總下注)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超過模擬值 × 1.5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立刻查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單一玩家救援總額 Top 10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人工檢視異常模式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套利調查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押注異常取消救援次數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突然暴增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有人在試探系統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069080"/>
            <a:ext cx="8138160" cy="685800"/>
          </a:xfrm>
          <a:prstGeom prst="roundRect">
            <a:avLst>
              <a:gd name="adj" fmla="val 8000"/>
            </a:avLst>
          </a:prstGeom>
          <a:solidFill>
            <a:srgbClr val="2C2540"/>
          </a:solidFill>
          <a:ln w="9525">
            <a:solidFill>
              <a:srgbClr val="8A6A2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416966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熱調參數為必要條件:</a:t>
            </a:r>
            <a:r>
              <a:rPr lang="en-US" sz="1150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所有門檻、Tier 倍數、窗口大小均為後台設定值,不寫死在程式;超標當天即可收緊,無需改版。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640080"/>
            <a:ext cx="2377440" cy="2377440"/>
          </a:xfrm>
          <a:prstGeom prst="diamond">
            <a:avLst/>
          </a:prstGeom>
          <a:solidFill>
            <a:srgbClr val="1E1830"/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3566160"/>
            <a:ext cx="1737360" cy="1737360"/>
          </a:xfrm>
          <a:prstGeom prst="diamond">
            <a:avLst/>
          </a:prstGeom>
          <a:solidFill>
            <a:srgbClr val="201A33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下一步待辦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設計已定案,進入驗證與實作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7863840" cy="749808"/>
          </a:xfrm>
          <a:prstGeom prst="roundRect">
            <a:avLst>
              <a:gd name="adj" fmla="val 6098"/>
            </a:avLst>
          </a:prstGeom>
          <a:solidFill>
            <a:srgbClr val="241E33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14538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蒙地卡羅模擬腳本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63040" y="17556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取得遊戲賠付分布 → 撰寫模擬 → 驗證五區段規則的 RTP 增量與 T2 多通道觸發密度,迭代門檻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040880" y="137160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數值 / 企劃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212848"/>
            <a:ext cx="7863840" cy="749808"/>
          </a:xfrm>
          <a:prstGeom prst="roundRect">
            <a:avLst>
              <a:gd name="adj" fmla="val 6098"/>
            </a:avLst>
          </a:prstGeom>
          <a:solidFill>
            <a:srgbClr val="241E33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212848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229514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腳本庫製作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63040" y="259689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 Tier 製作 3~5 種盤面變體(不同連線組合達成同一倍數區間),倍數區間內隨機取值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040880" y="2212848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遊戲數值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054096"/>
            <a:ext cx="7863840" cy="749808"/>
          </a:xfrm>
          <a:prstGeom prst="roundRect">
            <a:avLst>
              <a:gd name="adj" fmla="val 6098"/>
            </a:avLst>
          </a:prstGeom>
          <a:solidFill>
            <a:srgbClr val="241E33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054096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63040" y="3136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系統實作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63040" y="343814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區段 / 檢查點 roll / 三窗滾動計算 / 規則表引擎 / 防套利判定,全參數接後台熱調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040880" y="3054096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伺服器工程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895344"/>
            <a:ext cx="7863840" cy="749808"/>
          </a:xfrm>
          <a:prstGeom prst="roundRect">
            <a:avLst>
              <a:gd name="adj" fmla="val 6098"/>
            </a:avLst>
          </a:prstGeom>
          <a:solidFill>
            <a:srgbClr val="241E33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895344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463040" y="3977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監控儀表板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63040" y="427939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四項核心指標日報 + 警戒線告警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040880" y="3895344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 / 運營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1311</Words>
  <Application>Microsoft Office PowerPoint</Application>
  <PresentationFormat>如螢幕大小 (16:9)</PresentationFormat>
  <Paragraphs>367</Paragraphs>
  <Slides>18</Slides>
  <Notes>18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2" baseType="lpstr"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宏羲 沈</cp:lastModifiedBy>
  <cp:revision>2</cp:revision>
  <dcterms:created xsi:type="dcterms:W3CDTF">2026-07-20T01:36:49Z</dcterms:created>
  <dcterms:modified xsi:type="dcterms:W3CDTF">2026-07-20T06:02:31Z</dcterms:modified>
</cp:coreProperties>
</file>